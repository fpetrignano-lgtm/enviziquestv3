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Immagine 7"/>
          <p:cNvPicPr>
            <a:picLocks noChangeAspect="1"/>
          </p:cNvPicPr>
          <p:nvPr/>
        </p:nvPicPr>
        <p:blipFill>
          <a:blip r:embed="rId3"/>
          <a:srcRect t="27" b="27"/>
          <a:stretch>
            <a:fillRect/>
          </a:stretch>
        </p:blipFill>
        <p:spPr>
          <a:xfrm>
            <a:off x="0" y="0"/>
            <a:ext cx="12192000" cy="6858000"/>
          </a:xfrm>
          <a:prstGeom prst="rect">
            <a:avLst/>
          </a:prstGeom>
        </p:spPr>
      </p:pic>
      <p:sp>
        <p:nvSpPr>
          <p:cNvPr id="2" name="Rettangolo 1">
            <a:extLst>
              <a:ext uri="{FF2B5EF4-FFF2-40B4-BE49-F238E27FC236}">
                <a16:creationId xmlns:a16="http://schemas.microsoft.com/office/drawing/2014/main" id="{19993149-29D6-4782-9C3A-0622FCBA43C0}"/>
              </a:ext>
            </a:extLst>
          </p:cNvPr>
          <p:cNvSpPr>
            <a:spLocks noGrp="1"/>
          </p:cNvSpPr>
          <p:nvPr/>
        </p:nvSpPr>
        <p:spPr>
          <a:xfrm>
            <a:off x="0" y="0"/>
            <a:ext cx="5715000" cy="6858000"/>
          </a:xfrm>
          <a:prstGeom prst="rect">
            <a:avLst/>
          </a:prstGeom>
          <a:ln w="0">
            <a:noFill/>
            <a:prstDash val="solid"/>
          </a:ln>
        </p:spPr>
        <p:txBody>
          <a:bodyPr/>
          <a:lstStyle/>
          <a:p>
            <a:endParaRPr/>
          </a:p>
        </p:txBody>
      </p:sp>
      <p:sp>
        <p:nvSpPr>
          <p:cNvPr id="3" name="Rettangolo 2">
            <a:extLst>
              <a:ext uri="{FF2B5EF4-FFF2-40B4-BE49-F238E27FC236}">
                <a16:creationId xmlns:a16="http://schemas.microsoft.com/office/drawing/2014/main" id="{3E665B95-5890-4338-8DC7-90C339223A09}"/>
              </a:ext>
            </a:extLst>
          </p:cNvPr>
          <p:cNvSpPr>
            <a:spLocks noGrp="1"/>
          </p:cNvSpPr>
          <p:nvPr/>
        </p:nvSpPr>
        <p:spPr>
          <a:xfrm>
            <a:off x="609600" y="819150"/>
            <a:ext cx="3810000" cy="495300"/>
          </a:xfrm>
          <a:prstGeom prst="rect">
            <a:avLst/>
          </a:prstGeom>
          <a:noFill/>
          <a:ln w="0">
            <a:noFill/>
            <a:prstDash val="solid"/>
          </a:ln>
        </p:spPr>
        <p:txBody>
          <a:bodyPr/>
          <a:lstStyle/>
          <a:p>
            <a:pPr algn="l">
              <a:buNone/>
              <a:defRPr sz="1725" b="1">
                <a:solidFill>
                  <a:srgbClr val="073E31"/>
                </a:solidFill>
              </a:defRPr>
            </a:pPr>
            <a:r>
              <a:rPr sz="1725" b="1">
                <a:solidFill>
                  <a:srgbClr val="073E31"/>
                </a:solidFill>
              </a:rPr>
              <a:t>IBM Envizi</a:t>
            </a:r>
          </a:p>
        </p:txBody>
      </p:sp>
      <p:sp>
        <p:nvSpPr>
          <p:cNvPr id="4" name="Rettangolo 3">
            <a:extLst>
              <a:ext uri="{FF2B5EF4-FFF2-40B4-BE49-F238E27FC236}">
                <a16:creationId xmlns:a16="http://schemas.microsoft.com/office/drawing/2014/main" id="{B613CB21-2529-427E-BEB1-2A5223B8338B}"/>
              </a:ext>
            </a:extLst>
          </p:cNvPr>
          <p:cNvSpPr>
            <a:spLocks noGrp="1"/>
          </p:cNvSpPr>
          <p:nvPr/>
        </p:nvSpPr>
        <p:spPr>
          <a:xfrm>
            <a:off x="609600" y="1619250"/>
            <a:ext cx="4857750" cy="1190625"/>
          </a:xfrm>
          <a:prstGeom prst="rect">
            <a:avLst/>
          </a:prstGeom>
          <a:noFill/>
          <a:ln w="0">
            <a:noFill/>
            <a:prstDash val="solid"/>
          </a:ln>
        </p:spPr>
        <p:txBody>
          <a:bodyPr/>
          <a:lstStyle/>
          <a:p>
            <a:r>
              <a:rPr sz="3675" b="0">
                <a:solidFill>
                  <a:srgbClr val="073E31"/>
                </a:solidFill>
              </a:rPr>
              <a:t>Il percorso ESG di Erica</a:t>
            </a:r>
          </a:p>
        </p:txBody>
      </p:sp>
      <p:sp>
        <p:nvSpPr>
          <p:cNvPr id="5" name="Rettangolo 4">
            <a:extLst>
              <a:ext uri="{FF2B5EF4-FFF2-40B4-BE49-F238E27FC236}">
                <a16:creationId xmlns:a16="http://schemas.microsoft.com/office/drawing/2014/main" id="{2A22BE27-97B7-4C29-A515-046F06AB08BE}"/>
              </a:ext>
            </a:extLst>
          </p:cNvPr>
          <p:cNvSpPr>
            <a:spLocks noGrp="1"/>
          </p:cNvSpPr>
          <p:nvPr/>
        </p:nvSpPr>
        <p:spPr>
          <a:xfrm>
            <a:off x="609600" y="3143250"/>
            <a:ext cx="4333875" cy="857250"/>
          </a:xfrm>
          <a:prstGeom prst="rect">
            <a:avLst/>
          </a:prstGeom>
          <a:noFill/>
          <a:ln w="0">
            <a:noFill/>
            <a:prstDash val="solid"/>
          </a:ln>
        </p:spPr>
        <p:txBody>
          <a:bodyPr/>
          <a:lstStyle/>
          <a:p>
            <a:r>
              <a:rPr sz="1500" b="0">
                <a:solidFill>
                  <a:srgbClr val="173F35"/>
                </a:solidFill>
              </a:rPr>
              <a:t>Sintesi workshop Envizi Quest</a:t>
            </a:r>
          </a:p>
          <a:p>
            <a:r>
              <a:rPr sz="1500" b="0">
                <a:solidFill>
                  <a:srgbClr val="173F35"/>
                </a:solidFill>
              </a:rPr>
              <a:t>04 settembre 2026</a:t>
            </a:r>
          </a:p>
          <a:p>
            <a:r>
              <a:rPr sz="1500" b="0">
                <a:solidFill>
                  <a:srgbClr val="173F35"/>
                </a:solidFill>
              </a:rPr>
              <a:t>Felice Petrignano V</a:t>
            </a:r>
          </a:p>
          <a:p>
            <a:r>
              <a:rPr sz="1500" b="0">
                <a:solidFill>
                  <a:srgbClr val="173F35"/>
                </a:solidFill>
              </a:rPr>
              <a:t>ESG Consultant V</a:t>
            </a:r>
          </a:p>
          <a:p>
            <a:r>
              <a:rPr sz="1500" b="0">
                <a:solidFill>
                  <a:srgbClr val="173F35"/>
                </a:solidFill>
              </a:rPr>
              <a:t>Abc V</a:t>
            </a:r>
          </a:p>
        </p:txBody>
      </p:sp>
      <p:sp>
        <p:nvSpPr>
          <p:cNvPr id="6" name="Rettangolo 5">
            <a:extLst>
              <a:ext uri="{FF2B5EF4-FFF2-40B4-BE49-F238E27FC236}">
                <a16:creationId xmlns:a16="http://schemas.microsoft.com/office/drawing/2014/main" id="{1F8234F6-664C-4D61-BD7E-72784142C19B}"/>
              </a:ext>
            </a:extLst>
          </p:cNvPr>
          <p:cNvSpPr>
            <a:spLocks noGrp="1"/>
          </p:cNvSpPr>
          <p:nvPr/>
        </p:nvSpPr>
        <p:spPr>
          <a:xfrm>
            <a:off x="609600" y="5810250"/>
            <a:ext cx="2857500" cy="171450"/>
          </a:xfrm>
          <a:prstGeom prst="rect">
            <a:avLst/>
          </a:prstGeom>
          <a:noFill/>
          <a:ln w="0">
            <a:noFill/>
            <a:prstDash val="solid"/>
          </a:ln>
        </p:spPr>
        <p:txBody>
          <a:bodyPr/>
          <a:lstStyle/>
          <a:p>
            <a:pPr algn="l">
              <a:buNone/>
              <a:defRPr sz="975" b="0">
                <a:solidFill>
                  <a:srgbClr val="3A7165"/>
                </a:solidFill>
              </a:defRPr>
            </a:pPr>
            <a:r>
              <a:rPr sz="975" b="0">
                <a:solidFill>
                  <a:srgbClr val="3A7165"/>
                </a:solidFill>
              </a:rPr>
              <a:t>Incontro di lavoro · 2026</a:t>
            </a:r>
          </a:p>
        </p:txBody>
      </p:sp>
      <p:sp>
        <p:nvSpPr>
          <p:cNvPr id="99" name="logo_placeholder">
            <a:extLst>
              <a:ext uri="{FF2B5EF4-FFF2-40B4-BE49-F238E27FC236}">
                <a16:creationId xmlns:a16="http://schemas.microsoft.com/office/drawing/2014/main" id="{7FAE731F-87F5-4B9B-9EAC-A29FE305B944}"/>
              </a:ext>
            </a:extLst>
          </p:cNvPr>
          <p:cNvSpPr>
            <a:spLocks noGrp="1"/>
          </p:cNvSpPr>
          <p:nvPr/>
        </p:nvSpPr>
        <p:spPr>
          <a:xfrm>
            <a:off x="9652350" y="182880"/>
            <a:ext cx="1645920" cy="548640"/>
          </a:xfrm>
          <a:prstGeom prst="rect">
            <a:avLst/>
          </a:prstGeom>
          <a:noFill/>
        </p:spPr>
        <p:txBody>
          <a:bodyPr/>
          <a:lstStyle/>
          <a:p>
            <a:endParaRPr/>
          </a:p>
        </p:txBody>
      </p:sp>
      <p:pic>
        <p:nvPicPr>
          <p:cNvPr id="109" name="Immagine 9"/>
          <p:cNvPicPr>
            <a:picLocks noChangeAspect="1"/>
          </p:cNvPicPr>
          <p:nvPr/>
        </p:nvPicPr>
        <p:blipFill>
          <a:blip r:embed="rId4"/>
          <a:stretch>
            <a:fillRect/>
          </a:stretch>
        </p:blipFill>
        <p:spPr>
          <a:xfrm>
            <a:off x="9522342" y="545804"/>
            <a:ext cx="2211572" cy="737191"/>
          </a:xfrm>
          <a:prstGeom prst="rect">
            <a:avLst/>
          </a:prstGeom>
        </p:spPr>
      </p:pic>
    </p:spTree>
    <p:extLst>
      <p:ext uri="{BB962C8B-B14F-4D97-AF65-F5344CB8AC3E}">
        <p14:creationId xmlns:p14="http://schemas.microsoft.com/office/powerpoint/2010/main" val="149765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ttangolo 29">
            <a:extLst>
              <a:ext uri="{FF2B5EF4-FFF2-40B4-BE49-F238E27FC236}">
                <a16:creationId xmlns:a16="http://schemas.microsoft.com/office/drawing/2014/main" id="{7A9B8F0B-8CA0-4ECB-B4A8-3CF7A5AC96BC}"/>
              </a:ext>
            </a:extLst>
          </p:cNvPr>
          <p:cNvSpPr>
            <a:spLocks noGrp="1"/>
          </p:cNvSpPr>
          <p:nvPr/>
        </p:nvSpPr>
        <p:spPr>
          <a:xfrm>
            <a:off x="0" y="285750"/>
            <a:ext cx="12192000" cy="6858000"/>
          </a:xfrm>
          <a:prstGeom prst="rect">
            <a:avLst/>
          </a:prstGeom>
          <a:solidFill>
            <a:srgbClr val="FFFFFF"/>
          </a:solidFill>
          <a:ln w="0">
            <a:solidFill>
              <a:srgbClr val="FFFFFF"/>
            </a:solidFill>
          </a:ln>
        </p:spPr>
        <p:txBody>
          <a:bodyPr/>
          <a:lstStyle/>
          <a:p>
            <a:endParaRPr lang="it-IT"/>
          </a:p>
        </p:txBody>
      </p:sp>
      <p:sp>
        <p:nvSpPr>
          <p:cNvPr id="2" name="Rettangolo 1">
            <a:extLst>
              <a:ext uri="{FF2B5EF4-FFF2-40B4-BE49-F238E27FC236}">
                <a16:creationId xmlns:a16="http://schemas.microsoft.com/office/drawing/2014/main" id="{E0B46553-72F4-449C-8674-4864433E6871}"/>
              </a:ext>
            </a:extLst>
          </p:cNvPr>
          <p:cNvSpPr>
            <a:spLocks noGrp="1"/>
          </p:cNvSpPr>
          <p:nvPr/>
        </p:nvSpPr>
        <p:spPr>
          <a:xfrm>
            <a:off x="419100" y="285750"/>
            <a:ext cx="9334500" cy="476250"/>
          </a:xfrm>
          <a:prstGeom prst="rect">
            <a:avLst/>
          </a:prstGeom>
          <a:noFill/>
          <a:ln w="0">
            <a:noFill/>
          </a:ln>
        </p:spPr>
        <p:txBody>
          <a:bodyPr>
            <a:normAutofit/>
          </a:bodyPr>
          <a:lstStyle/>
          <a:p>
            <a:pPr algn="l">
              <a:defRPr sz="1875" b="1">
                <a:solidFill>
                  <a:srgbClr val="1D776B"/>
                </a:solidFill>
                <a:latin typeface="Calibri"/>
                <a:ea typeface="Calibri"/>
                <a:cs typeface="Calibri"/>
              </a:defRPr>
            </a:pPr>
            <a:r>
              <a:rPr sz="1875" b="1">
                <a:solidFill>
                  <a:srgbClr val="1D776B"/>
                </a:solidFill>
                <a:latin typeface="Calibri"/>
                <a:ea typeface="Calibri"/>
                <a:cs typeface="Calibri"/>
              </a:rPr>
              <a:t>Erica combina una presenza globale con una maturità ESG ancora iniziale</a:t>
            </a:r>
          </a:p>
        </p:txBody>
      </p:sp>
      <p:sp>
        <p:nvSpPr>
          <p:cNvPr id="3" name="Rettangolo 2">
            <a:extLst>
              <a:ext uri="{FF2B5EF4-FFF2-40B4-BE49-F238E27FC236}">
                <a16:creationId xmlns:a16="http://schemas.microsoft.com/office/drawing/2014/main" id="{B398A222-6680-4B7D-B59D-09A628563C01}"/>
              </a:ext>
            </a:extLst>
          </p:cNvPr>
          <p:cNvSpPr>
            <a:spLocks noGrp="1"/>
          </p:cNvSpPr>
          <p:nvPr/>
        </p:nvSpPr>
        <p:spPr>
          <a:xfrm>
            <a:off x="419100" y="714375"/>
            <a:ext cx="9810750" cy="333375"/>
          </a:xfrm>
          <a:prstGeom prst="rect">
            <a:avLst/>
          </a:prstGeom>
          <a:noFill/>
          <a:ln w="0">
            <a:noFill/>
          </a:ln>
        </p:spPr>
        <p:txBody>
          <a:bodyPr>
            <a:normAutofit/>
          </a:bodyPr>
          <a:lstStyle/>
          <a:p>
            <a:pPr algn="l">
              <a:defRPr sz="1200" b="0">
                <a:solidFill>
                  <a:srgbClr val="4D6D67"/>
                </a:solidFill>
                <a:latin typeface="Calibri"/>
                <a:ea typeface="Calibri"/>
                <a:cs typeface="Calibri"/>
              </a:defRPr>
            </a:pPr>
            <a:r>
              <a:rPr sz="1200" b="0">
                <a:solidFill>
                  <a:srgbClr val="4D6D67"/>
                </a:solidFill>
                <a:latin typeface="Calibri"/>
                <a:ea typeface="Calibri"/>
                <a:cs typeface="Calibri"/>
              </a:rPr>
              <a:t>Profilo aziendale e stato del reporting rilevati durante il workshop</a:t>
            </a:r>
          </a:p>
        </p:txBody>
      </p:sp>
      <p:pic>
        <p:nvPicPr>
          <p:cNvPr id="33" name="Immagine 32"/>
          <p:cNvPicPr>
            <a:picLocks noChangeAspect="1"/>
          </p:cNvPicPr>
          <p:nvPr/>
        </p:nvPicPr>
        <p:blipFill>
          <a:blip r:embed="rId3"/>
          <a:stretch/>
        </p:blipFill>
        <p:spPr>
          <a:xfrm>
            <a:off x="10191750" y="228600"/>
            <a:ext cx="1571625" cy="523875"/>
          </a:xfrm>
          <a:prstGeom prst="rect">
            <a:avLst/>
          </a:prstGeom>
        </p:spPr>
      </p:pic>
      <p:sp>
        <p:nvSpPr>
          <p:cNvPr id="5" name="Rettangolo con angoli arrotondati 4">
            <a:extLst>
              <a:ext uri="{FF2B5EF4-FFF2-40B4-BE49-F238E27FC236}">
                <a16:creationId xmlns:a16="http://schemas.microsoft.com/office/drawing/2014/main" id="{DA99990F-E7BE-4984-8CC0-9B4410B39620}"/>
              </a:ext>
            </a:extLst>
          </p:cNvPr>
          <p:cNvSpPr>
            <a:spLocks noGrp="1"/>
          </p:cNvSpPr>
          <p:nvPr/>
        </p:nvSpPr>
        <p:spPr>
          <a:xfrm>
            <a:off x="419100" y="1238250"/>
            <a:ext cx="24765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6" name="Rettangolo 5">
            <a:extLst>
              <a:ext uri="{FF2B5EF4-FFF2-40B4-BE49-F238E27FC236}">
                <a16:creationId xmlns:a16="http://schemas.microsoft.com/office/drawing/2014/main" id="{43C0ACA2-0EA4-4371-95F7-6214231B6554}"/>
              </a:ext>
            </a:extLst>
          </p:cNvPr>
          <p:cNvSpPr>
            <a:spLocks noGrp="1"/>
          </p:cNvSpPr>
          <p:nvPr/>
        </p:nvSpPr>
        <p:spPr>
          <a:xfrm>
            <a:off x="419100" y="1238250"/>
            <a:ext cx="76200" cy="1123950"/>
          </a:xfrm>
          <a:prstGeom prst="rect">
            <a:avLst/>
          </a:prstGeom>
          <a:solidFill>
            <a:srgbClr val="1D776B"/>
          </a:solidFill>
          <a:ln w="0">
            <a:solidFill>
              <a:srgbClr val="1D776B"/>
            </a:solidFill>
          </a:ln>
        </p:spPr>
        <p:txBody>
          <a:bodyPr/>
          <a:lstStyle/>
          <a:p>
            <a:endParaRPr lang="it-IT"/>
          </a:p>
        </p:txBody>
      </p:sp>
      <p:sp>
        <p:nvSpPr>
          <p:cNvPr id="7" name="Rettangolo 6">
            <a:extLst>
              <a:ext uri="{FF2B5EF4-FFF2-40B4-BE49-F238E27FC236}">
                <a16:creationId xmlns:a16="http://schemas.microsoft.com/office/drawing/2014/main" id="{81F65B7B-0899-4376-AF38-C1ABDB1775CF}"/>
              </a:ext>
            </a:extLst>
          </p:cNvPr>
          <p:cNvSpPr>
            <a:spLocks noGrp="1"/>
          </p:cNvSpPr>
          <p:nvPr/>
        </p:nvSpPr>
        <p:spPr>
          <a:xfrm>
            <a:off x="647700" y="1409700"/>
            <a:ext cx="20955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€100 mln</a:t>
            </a:r>
          </a:p>
        </p:txBody>
      </p:sp>
      <p:sp>
        <p:nvSpPr>
          <p:cNvPr id="8" name="Rettangolo 7">
            <a:extLst>
              <a:ext uri="{FF2B5EF4-FFF2-40B4-BE49-F238E27FC236}">
                <a16:creationId xmlns:a16="http://schemas.microsoft.com/office/drawing/2014/main" id="{85A196D7-0115-4A16-8B42-D555501C67CB}"/>
              </a:ext>
            </a:extLst>
          </p:cNvPr>
          <p:cNvSpPr>
            <a:spLocks noGrp="1"/>
          </p:cNvSpPr>
          <p:nvPr/>
        </p:nvSpPr>
        <p:spPr>
          <a:xfrm>
            <a:off x="647700" y="1905000"/>
            <a:ext cx="20955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Ricavi annui</a:t>
            </a:r>
          </a:p>
        </p:txBody>
      </p:sp>
      <p:sp>
        <p:nvSpPr>
          <p:cNvPr id="9" name="Rettangolo con angoli arrotondati 8">
            <a:extLst>
              <a:ext uri="{FF2B5EF4-FFF2-40B4-BE49-F238E27FC236}">
                <a16:creationId xmlns:a16="http://schemas.microsoft.com/office/drawing/2014/main" id="{D68EE5AB-B93E-401E-8849-8D07717000FE}"/>
              </a:ext>
            </a:extLst>
          </p:cNvPr>
          <p:cNvSpPr>
            <a:spLocks noGrp="1"/>
          </p:cNvSpPr>
          <p:nvPr/>
        </p:nvSpPr>
        <p:spPr>
          <a:xfrm>
            <a:off x="3086100" y="1238250"/>
            <a:ext cx="24765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10" name="Rettangolo 9">
            <a:extLst>
              <a:ext uri="{FF2B5EF4-FFF2-40B4-BE49-F238E27FC236}">
                <a16:creationId xmlns:a16="http://schemas.microsoft.com/office/drawing/2014/main" id="{31EF194D-C2B5-465E-8BF4-CC77B2396F70}"/>
              </a:ext>
            </a:extLst>
          </p:cNvPr>
          <p:cNvSpPr>
            <a:spLocks noGrp="1"/>
          </p:cNvSpPr>
          <p:nvPr/>
        </p:nvSpPr>
        <p:spPr>
          <a:xfrm>
            <a:off x="3086100" y="1238250"/>
            <a:ext cx="76200" cy="1123950"/>
          </a:xfrm>
          <a:prstGeom prst="rect">
            <a:avLst/>
          </a:prstGeom>
          <a:solidFill>
            <a:srgbClr val="87BDD1"/>
          </a:solidFill>
          <a:ln w="0">
            <a:solidFill>
              <a:srgbClr val="87BDD1"/>
            </a:solidFill>
          </a:ln>
        </p:spPr>
        <p:txBody>
          <a:bodyPr/>
          <a:lstStyle/>
          <a:p>
            <a:endParaRPr lang="it-IT"/>
          </a:p>
        </p:txBody>
      </p:sp>
      <p:sp>
        <p:nvSpPr>
          <p:cNvPr id="11" name="Rettangolo 10">
            <a:extLst>
              <a:ext uri="{FF2B5EF4-FFF2-40B4-BE49-F238E27FC236}">
                <a16:creationId xmlns:a16="http://schemas.microsoft.com/office/drawing/2014/main" id="{6332CF76-290D-4E3E-A07F-529DB8AD1308}"/>
              </a:ext>
            </a:extLst>
          </p:cNvPr>
          <p:cNvSpPr>
            <a:spLocks noGrp="1"/>
          </p:cNvSpPr>
          <p:nvPr/>
        </p:nvSpPr>
        <p:spPr>
          <a:xfrm>
            <a:off x="3314700" y="1409700"/>
            <a:ext cx="20955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500</a:t>
            </a:r>
          </a:p>
        </p:txBody>
      </p:sp>
      <p:sp>
        <p:nvSpPr>
          <p:cNvPr id="12" name="Rettangolo 11">
            <a:extLst>
              <a:ext uri="{FF2B5EF4-FFF2-40B4-BE49-F238E27FC236}">
                <a16:creationId xmlns:a16="http://schemas.microsoft.com/office/drawing/2014/main" id="{3F94FECD-11CD-4DB9-BE6C-BA7E420DB6D3}"/>
              </a:ext>
            </a:extLst>
          </p:cNvPr>
          <p:cNvSpPr>
            <a:spLocks noGrp="1"/>
          </p:cNvSpPr>
          <p:nvPr/>
        </p:nvSpPr>
        <p:spPr>
          <a:xfrm>
            <a:off x="3314700" y="1905000"/>
            <a:ext cx="20955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Dipendenti</a:t>
            </a:r>
          </a:p>
        </p:txBody>
      </p:sp>
      <p:sp>
        <p:nvSpPr>
          <p:cNvPr id="13" name="Rettangolo con angoli arrotondati 12">
            <a:extLst>
              <a:ext uri="{FF2B5EF4-FFF2-40B4-BE49-F238E27FC236}">
                <a16:creationId xmlns:a16="http://schemas.microsoft.com/office/drawing/2014/main" id="{FD39F923-B0E3-4E02-A775-7C45A1D1A563}"/>
              </a:ext>
            </a:extLst>
          </p:cNvPr>
          <p:cNvSpPr>
            <a:spLocks noGrp="1"/>
          </p:cNvSpPr>
          <p:nvPr/>
        </p:nvSpPr>
        <p:spPr>
          <a:xfrm>
            <a:off x="5753100" y="1238250"/>
            <a:ext cx="24765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14" name="Rettangolo 13">
            <a:extLst>
              <a:ext uri="{FF2B5EF4-FFF2-40B4-BE49-F238E27FC236}">
                <a16:creationId xmlns:a16="http://schemas.microsoft.com/office/drawing/2014/main" id="{BB1DFB0C-D405-4B52-AE85-62E798764BA1}"/>
              </a:ext>
            </a:extLst>
          </p:cNvPr>
          <p:cNvSpPr>
            <a:spLocks noGrp="1"/>
          </p:cNvSpPr>
          <p:nvPr/>
        </p:nvSpPr>
        <p:spPr>
          <a:xfrm>
            <a:off x="5753100" y="1238250"/>
            <a:ext cx="76200" cy="1123950"/>
          </a:xfrm>
          <a:prstGeom prst="rect">
            <a:avLst/>
          </a:prstGeom>
          <a:solidFill>
            <a:srgbClr val="8B6BB3"/>
          </a:solidFill>
          <a:ln w="0">
            <a:solidFill>
              <a:srgbClr val="8B6BB3"/>
            </a:solidFill>
          </a:ln>
        </p:spPr>
        <p:txBody>
          <a:bodyPr/>
          <a:lstStyle/>
          <a:p>
            <a:endParaRPr lang="it-IT"/>
          </a:p>
        </p:txBody>
      </p:sp>
      <p:sp>
        <p:nvSpPr>
          <p:cNvPr id="15" name="Rettangolo 14">
            <a:extLst>
              <a:ext uri="{FF2B5EF4-FFF2-40B4-BE49-F238E27FC236}">
                <a16:creationId xmlns:a16="http://schemas.microsoft.com/office/drawing/2014/main" id="{99E6EF19-1635-4CB5-B0BD-5CAEF302F4E2}"/>
              </a:ext>
            </a:extLst>
          </p:cNvPr>
          <p:cNvSpPr>
            <a:spLocks noGrp="1"/>
          </p:cNvSpPr>
          <p:nvPr/>
        </p:nvSpPr>
        <p:spPr>
          <a:xfrm>
            <a:off x="5981700" y="1409700"/>
            <a:ext cx="20955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54</a:t>
            </a:r>
          </a:p>
        </p:txBody>
      </p:sp>
      <p:sp>
        <p:nvSpPr>
          <p:cNvPr id="16" name="Rettangolo 15">
            <a:extLst>
              <a:ext uri="{FF2B5EF4-FFF2-40B4-BE49-F238E27FC236}">
                <a16:creationId xmlns:a16="http://schemas.microsoft.com/office/drawing/2014/main" id="{B6F44FA9-9351-468A-9021-0275E102DC1B}"/>
              </a:ext>
            </a:extLst>
          </p:cNvPr>
          <p:cNvSpPr>
            <a:spLocks noGrp="1"/>
          </p:cNvSpPr>
          <p:nvPr/>
        </p:nvSpPr>
        <p:spPr>
          <a:xfrm>
            <a:off x="5981700" y="1905000"/>
            <a:ext cx="20955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Sedi nel mondo</a:t>
            </a:r>
          </a:p>
        </p:txBody>
      </p:sp>
      <p:sp>
        <p:nvSpPr>
          <p:cNvPr id="17" name="Rettangolo con angoli arrotondati 16">
            <a:extLst>
              <a:ext uri="{FF2B5EF4-FFF2-40B4-BE49-F238E27FC236}">
                <a16:creationId xmlns:a16="http://schemas.microsoft.com/office/drawing/2014/main" id="{D994958C-F55B-44E2-87E7-DB5CD1CAE9FC}"/>
              </a:ext>
            </a:extLst>
          </p:cNvPr>
          <p:cNvSpPr>
            <a:spLocks noGrp="1"/>
          </p:cNvSpPr>
          <p:nvPr/>
        </p:nvSpPr>
        <p:spPr>
          <a:xfrm>
            <a:off x="8420100" y="1238250"/>
            <a:ext cx="30480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18" name="Rettangolo 17">
            <a:extLst>
              <a:ext uri="{FF2B5EF4-FFF2-40B4-BE49-F238E27FC236}">
                <a16:creationId xmlns:a16="http://schemas.microsoft.com/office/drawing/2014/main" id="{510671A6-470F-4458-B966-EC6A918B571A}"/>
              </a:ext>
            </a:extLst>
          </p:cNvPr>
          <p:cNvSpPr>
            <a:spLocks noGrp="1"/>
          </p:cNvSpPr>
          <p:nvPr/>
        </p:nvSpPr>
        <p:spPr>
          <a:xfrm>
            <a:off x="8420100" y="1238250"/>
            <a:ext cx="76200" cy="1123950"/>
          </a:xfrm>
          <a:prstGeom prst="rect">
            <a:avLst/>
          </a:prstGeom>
          <a:solidFill>
            <a:srgbClr val="D39A24"/>
          </a:solidFill>
          <a:ln w="0">
            <a:solidFill>
              <a:srgbClr val="D39A24"/>
            </a:solidFill>
          </a:ln>
        </p:spPr>
        <p:txBody>
          <a:bodyPr/>
          <a:lstStyle/>
          <a:p>
            <a:endParaRPr lang="it-IT"/>
          </a:p>
        </p:txBody>
      </p:sp>
      <p:sp>
        <p:nvSpPr>
          <p:cNvPr id="19" name="Rettangolo 18">
            <a:extLst>
              <a:ext uri="{FF2B5EF4-FFF2-40B4-BE49-F238E27FC236}">
                <a16:creationId xmlns:a16="http://schemas.microsoft.com/office/drawing/2014/main" id="{C9AE1D89-B61C-4B22-9422-A758890A79B2}"/>
              </a:ext>
            </a:extLst>
          </p:cNvPr>
          <p:cNvSpPr>
            <a:spLocks noGrp="1"/>
          </p:cNvSpPr>
          <p:nvPr/>
        </p:nvSpPr>
        <p:spPr>
          <a:xfrm>
            <a:off x="8648700" y="1409700"/>
            <a:ext cx="26670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8</a:t>
            </a:r>
          </a:p>
        </p:txBody>
      </p:sp>
      <p:sp>
        <p:nvSpPr>
          <p:cNvPr id="20" name="Rettangolo 19">
            <a:extLst>
              <a:ext uri="{FF2B5EF4-FFF2-40B4-BE49-F238E27FC236}">
                <a16:creationId xmlns:a16="http://schemas.microsoft.com/office/drawing/2014/main" id="{1416B656-7A4C-4E3C-AEEC-76EF4890227D}"/>
              </a:ext>
            </a:extLst>
          </p:cNvPr>
          <p:cNvSpPr>
            <a:spLocks noGrp="1"/>
          </p:cNvSpPr>
          <p:nvPr/>
        </p:nvSpPr>
        <p:spPr>
          <a:xfrm>
            <a:off x="8648700" y="1905000"/>
            <a:ext cx="26670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Aree geografiche analizzate</a:t>
            </a:r>
          </a:p>
        </p:txBody>
      </p:sp>
      <p:sp>
        <p:nvSpPr>
          <p:cNvPr id="21" name="Rettangolo con angoli arrotondati 20">
            <a:extLst>
              <a:ext uri="{FF2B5EF4-FFF2-40B4-BE49-F238E27FC236}">
                <a16:creationId xmlns:a16="http://schemas.microsoft.com/office/drawing/2014/main" id="{6A1894CC-CEE9-46DD-BE7B-890A1C0AF628}"/>
              </a:ext>
            </a:extLst>
          </p:cNvPr>
          <p:cNvSpPr>
            <a:spLocks noGrp="1"/>
          </p:cNvSpPr>
          <p:nvPr/>
        </p:nvSpPr>
        <p:spPr>
          <a:xfrm>
            <a:off x="419100" y="2686050"/>
            <a:ext cx="5219700" cy="3143250"/>
          </a:xfrm>
          <a:prstGeom prst="roundRect">
            <a:avLst>
              <a:gd name="adj" fmla="val 4848"/>
            </a:avLst>
          </a:prstGeom>
          <a:solidFill>
            <a:srgbClr val="DFF2EA"/>
          </a:solidFill>
          <a:ln w="9525">
            <a:solidFill>
              <a:srgbClr val="B9D7CC"/>
            </a:solidFill>
          </a:ln>
        </p:spPr>
        <p:txBody>
          <a:bodyPr/>
          <a:lstStyle/>
          <a:p>
            <a:endParaRPr lang="it-IT"/>
          </a:p>
        </p:txBody>
      </p:sp>
      <p:sp>
        <p:nvSpPr>
          <p:cNvPr id="22" name="Rettangolo 21">
            <a:extLst>
              <a:ext uri="{FF2B5EF4-FFF2-40B4-BE49-F238E27FC236}">
                <a16:creationId xmlns:a16="http://schemas.microsoft.com/office/drawing/2014/main" id="{C9720DBB-1B1D-4A7D-8E66-BC660559F08A}"/>
              </a:ext>
            </a:extLst>
          </p:cNvPr>
          <p:cNvSpPr>
            <a:spLocks noGrp="1"/>
          </p:cNvSpPr>
          <p:nvPr/>
        </p:nvSpPr>
        <p:spPr>
          <a:xfrm>
            <a:off x="685800" y="2952750"/>
            <a:ext cx="4572000" cy="323850"/>
          </a:xfrm>
          <a:prstGeom prst="rect">
            <a:avLst/>
          </a:prstGeom>
          <a:noFill/>
          <a:ln w="0">
            <a:noFill/>
          </a:ln>
        </p:spPr>
        <p:txBody>
          <a:bodyPr>
            <a:normAutofit/>
          </a:bodyPr>
          <a:lstStyle/>
          <a:p>
            <a:pPr algn="l">
              <a:defRPr sz="1350" b="1">
                <a:solidFill>
                  <a:srgbClr val="1D776B"/>
                </a:solidFill>
                <a:latin typeface="Calibri"/>
                <a:ea typeface="Calibri"/>
                <a:cs typeface="Calibri"/>
              </a:defRPr>
            </a:pPr>
            <a:r>
              <a:rPr sz="1350" b="1">
                <a:solidFill>
                  <a:srgbClr val="1D776B"/>
                </a:solidFill>
                <a:latin typeface="Calibri"/>
                <a:ea typeface="Calibri"/>
                <a:cs typeface="Calibri"/>
              </a:rPr>
              <a:t>Readiness dei dati</a:t>
            </a:r>
          </a:p>
        </p:txBody>
      </p:sp>
      <p:sp>
        <p:nvSpPr>
          <p:cNvPr id="23" name="Rettangolo 22">
            <a:extLst>
              <a:ext uri="{FF2B5EF4-FFF2-40B4-BE49-F238E27FC236}">
                <a16:creationId xmlns:a16="http://schemas.microsoft.com/office/drawing/2014/main" id="{31524F09-C277-4E75-9345-2C16243776C9}"/>
              </a:ext>
            </a:extLst>
          </p:cNvPr>
          <p:cNvSpPr>
            <a:spLocks noGrp="1"/>
          </p:cNvSpPr>
          <p:nvPr/>
        </p:nvSpPr>
        <p:spPr>
          <a:xfrm>
            <a:off x="685800" y="3381375"/>
            <a:ext cx="2286000" cy="571500"/>
          </a:xfrm>
          <a:prstGeom prst="rect">
            <a:avLst/>
          </a:prstGeom>
          <a:noFill/>
          <a:ln w="0">
            <a:noFill/>
          </a:ln>
        </p:spPr>
        <p:txBody>
          <a:bodyPr>
            <a:normAutofit/>
          </a:bodyPr>
          <a:lstStyle/>
          <a:p>
            <a:pPr algn="l">
              <a:defRPr sz="2850" b="1">
                <a:solidFill>
                  <a:srgbClr val="062D29"/>
                </a:solidFill>
                <a:latin typeface="Calibri"/>
                <a:ea typeface="Calibri"/>
                <a:cs typeface="Calibri"/>
              </a:defRPr>
            </a:pPr>
            <a:r>
              <a:rPr sz="2850" b="1">
                <a:solidFill>
                  <a:srgbClr val="062D29"/>
                </a:solidFill>
                <a:latin typeface="Calibri"/>
                <a:ea typeface="Calibri"/>
                <a:cs typeface="Calibri"/>
              </a:rPr>
              <a:t>BASSA</a:t>
            </a:r>
          </a:p>
        </p:txBody>
      </p:sp>
      <p:sp>
        <p:nvSpPr>
          <p:cNvPr id="24" name="Rettangolo 23">
            <a:extLst>
              <a:ext uri="{FF2B5EF4-FFF2-40B4-BE49-F238E27FC236}">
                <a16:creationId xmlns:a16="http://schemas.microsoft.com/office/drawing/2014/main" id="{215B73D2-78F3-44C4-A83B-7A633357ABB1}"/>
              </a:ext>
            </a:extLst>
          </p:cNvPr>
          <p:cNvSpPr>
            <a:spLocks noGrp="1"/>
          </p:cNvSpPr>
          <p:nvPr/>
        </p:nvSpPr>
        <p:spPr>
          <a:xfrm>
            <a:off x="685800" y="4114800"/>
            <a:ext cx="4476750" cy="1028700"/>
          </a:xfrm>
          <a:prstGeom prst="rect">
            <a:avLst/>
          </a:prstGeom>
          <a:noFill/>
          <a:ln w="0">
            <a:noFill/>
          </a:ln>
        </p:spPr>
        <p:txBody>
          <a:bodyPr>
            <a:normAutofit/>
          </a:bodyPr>
          <a:lstStyle/>
          <a:p>
            <a:pPr algn="l">
              <a:defRPr sz="1350" b="0">
                <a:solidFill>
                  <a:srgbClr val="062D29"/>
                </a:solidFill>
                <a:latin typeface="Calibri"/>
                <a:ea typeface="Calibri"/>
                <a:cs typeface="Calibri"/>
              </a:defRPr>
            </a:pPr>
            <a:r>
              <a:rPr sz="1350" b="0">
                <a:solidFill>
                  <a:srgbClr val="062D29"/>
                </a:solidFill>
                <a:latin typeface="Calibri"/>
                <a:ea typeface="Calibri"/>
                <a:cs typeface="Calibri"/>
              </a:rPr>
              <a:t>I dati sono pochi e frammentati. Erica cerca un sistema unico per raccoglierli, identificare i gap e organizzare le evidenze.</a:t>
            </a:r>
          </a:p>
        </p:txBody>
      </p:sp>
      <p:sp>
        <p:nvSpPr>
          <p:cNvPr id="25" name="Rettangolo con angoli arrotondati 24">
            <a:extLst>
              <a:ext uri="{FF2B5EF4-FFF2-40B4-BE49-F238E27FC236}">
                <a16:creationId xmlns:a16="http://schemas.microsoft.com/office/drawing/2014/main" id="{C4938FC7-59FC-4F8E-9E9E-6312044BE370}"/>
              </a:ext>
            </a:extLst>
          </p:cNvPr>
          <p:cNvSpPr>
            <a:spLocks noGrp="1"/>
          </p:cNvSpPr>
          <p:nvPr/>
        </p:nvSpPr>
        <p:spPr>
          <a:xfrm>
            <a:off x="5905500" y="2686050"/>
            <a:ext cx="5562600" cy="3143250"/>
          </a:xfrm>
          <a:prstGeom prst="roundRect">
            <a:avLst>
              <a:gd name="adj" fmla="val 4848"/>
            </a:avLst>
          </a:prstGeom>
          <a:solidFill>
            <a:srgbClr val="FFFFFF"/>
          </a:solidFill>
          <a:ln w="9525">
            <a:solidFill>
              <a:srgbClr val="C8DBD5"/>
            </a:solidFill>
          </a:ln>
        </p:spPr>
        <p:txBody>
          <a:bodyPr/>
          <a:lstStyle/>
          <a:p>
            <a:endParaRPr lang="it-IT"/>
          </a:p>
        </p:txBody>
      </p:sp>
      <p:sp>
        <p:nvSpPr>
          <p:cNvPr id="26" name="Rettangolo 25">
            <a:extLst>
              <a:ext uri="{FF2B5EF4-FFF2-40B4-BE49-F238E27FC236}">
                <a16:creationId xmlns:a16="http://schemas.microsoft.com/office/drawing/2014/main" id="{C9DB1B17-9DC5-49AD-8D9D-7BC4C38DE319}"/>
              </a:ext>
            </a:extLst>
          </p:cNvPr>
          <p:cNvSpPr>
            <a:spLocks noGrp="1"/>
          </p:cNvSpPr>
          <p:nvPr/>
        </p:nvSpPr>
        <p:spPr>
          <a:xfrm>
            <a:off x="6191250" y="2952750"/>
            <a:ext cx="4762500" cy="323850"/>
          </a:xfrm>
          <a:prstGeom prst="rect">
            <a:avLst/>
          </a:prstGeom>
          <a:noFill/>
          <a:ln w="0">
            <a:noFill/>
          </a:ln>
        </p:spPr>
        <p:txBody>
          <a:bodyPr>
            <a:normAutofit/>
          </a:bodyPr>
          <a:lstStyle/>
          <a:p>
            <a:pPr algn="l">
              <a:defRPr sz="1350" b="1">
                <a:solidFill>
                  <a:srgbClr val="1D776B"/>
                </a:solidFill>
                <a:latin typeface="Calibri"/>
                <a:ea typeface="Calibri"/>
                <a:cs typeface="Calibri"/>
              </a:defRPr>
            </a:pPr>
            <a:r>
              <a:rPr sz="1350" b="1">
                <a:solidFill>
                  <a:srgbClr val="1D776B"/>
                </a:solidFill>
                <a:latin typeface="Calibri"/>
                <a:ea typeface="Calibri"/>
                <a:cs typeface="Calibri"/>
              </a:rPr>
              <a:t>Posizionamento di reporting</a:t>
            </a:r>
          </a:p>
        </p:txBody>
      </p:sp>
      <p:sp>
        <p:nvSpPr>
          <p:cNvPr id="27" name="Rettangolo 26">
            <a:extLst>
              <a:ext uri="{FF2B5EF4-FFF2-40B4-BE49-F238E27FC236}">
                <a16:creationId xmlns:a16="http://schemas.microsoft.com/office/drawing/2014/main" id="{A3F7209B-E7FC-48E7-9519-BAA936B2EA08}"/>
              </a:ext>
            </a:extLst>
          </p:cNvPr>
          <p:cNvSpPr>
            <a:spLocks noGrp="1"/>
          </p:cNvSpPr>
          <p:nvPr/>
        </p:nvSpPr>
        <p:spPr>
          <a:xfrm>
            <a:off x="6191250" y="3457575"/>
            <a:ext cx="4667250" cy="476250"/>
          </a:xfrm>
          <a:prstGeom prst="rect">
            <a:avLst/>
          </a:prstGeom>
          <a:noFill/>
          <a:ln w="0">
            <a:noFill/>
          </a:ln>
        </p:spPr>
        <p:txBody>
          <a:bodyPr>
            <a:normAutofit/>
          </a:bodyPr>
          <a:lstStyle/>
          <a:p>
            <a:pPr algn="l">
              <a:defRPr sz="2025" b="1">
                <a:solidFill>
                  <a:srgbClr val="062D29"/>
                </a:solidFill>
                <a:latin typeface="Calibri"/>
                <a:ea typeface="Calibri"/>
                <a:cs typeface="Calibri"/>
              </a:defRPr>
            </a:pPr>
            <a:r>
              <a:rPr sz="2025" b="1">
                <a:solidFill>
                  <a:srgbClr val="062D29"/>
                </a:solidFill>
                <a:latin typeface="Calibri"/>
                <a:ea typeface="Calibri"/>
                <a:cs typeface="Calibri"/>
              </a:rPr>
              <a:t>Report volontario CSRD-aligned</a:t>
            </a:r>
          </a:p>
        </p:txBody>
      </p:sp>
      <p:sp>
        <p:nvSpPr>
          <p:cNvPr id="28" name="Rettangolo 27">
            <a:extLst>
              <a:ext uri="{FF2B5EF4-FFF2-40B4-BE49-F238E27FC236}">
                <a16:creationId xmlns:a16="http://schemas.microsoft.com/office/drawing/2014/main" id="{C666ECC1-689C-4D0F-8687-335D82A652D6}"/>
              </a:ext>
            </a:extLst>
          </p:cNvPr>
          <p:cNvSpPr>
            <a:spLocks noGrp="1"/>
          </p:cNvSpPr>
          <p:nvPr/>
        </p:nvSpPr>
        <p:spPr>
          <a:xfrm>
            <a:off x="6191250" y="4095750"/>
            <a:ext cx="4762500" cy="1047750"/>
          </a:xfrm>
          <a:prstGeom prst="rect">
            <a:avLst/>
          </a:prstGeom>
          <a:noFill/>
          <a:ln w="0">
            <a:noFill/>
          </a:ln>
        </p:spPr>
        <p:txBody>
          <a:bodyPr>
            <a:normAutofit/>
          </a:bodyPr>
          <a:lstStyle/>
          <a:p>
            <a:pPr algn="l">
              <a:defRPr sz="1350" b="0">
                <a:solidFill>
                  <a:srgbClr val="062D29"/>
                </a:solidFill>
                <a:latin typeface="Calibri"/>
                <a:ea typeface="Calibri"/>
                <a:cs typeface="Calibri"/>
              </a:defRPr>
            </a:pPr>
            <a:r>
              <a:rPr sz="1350" b="0">
                <a:solidFill>
                  <a:srgbClr val="062D29"/>
                </a:solidFill>
                <a:latin typeface="Calibri"/>
                <a:ea typeface="Calibri"/>
                <a:cs typeface="Calibri"/>
              </a:rPr>
              <a:t>Erica non rientra indicativamente nel perimetro CSRD 2026, ma vuole avvicinarsi gradualmente ai requisiti europei e rispondere alle richieste degli stakeholder.</a:t>
            </a:r>
          </a:p>
        </p:txBody>
      </p:sp>
      <p:sp>
        <p:nvSpPr>
          <p:cNvPr id="29" name="Rettangolo 28">
            <a:extLst>
              <a:ext uri="{FF2B5EF4-FFF2-40B4-BE49-F238E27FC236}">
                <a16:creationId xmlns:a16="http://schemas.microsoft.com/office/drawing/2014/main" id="{7675F249-00F6-46D9-BAFB-7B677D0132DD}"/>
              </a:ext>
            </a:extLst>
          </p:cNvPr>
          <p:cNvSpPr>
            <a:spLocks noGrp="1"/>
          </p:cNvSpPr>
          <p:nvPr/>
        </p:nvSpPr>
        <p:spPr>
          <a:xfrm>
            <a:off x="4810125" y="6534150"/>
            <a:ext cx="2571750" cy="209550"/>
          </a:xfrm>
          <a:prstGeom prst="rect">
            <a:avLst/>
          </a:prstGeom>
          <a:noFill/>
          <a:ln w="0">
            <a:noFill/>
          </a:ln>
        </p:spPr>
        <p:txBody>
          <a:bodyPr>
            <a:normAutofit fontScale="86111"/>
          </a:bodyPr>
          <a:lstStyle/>
          <a:p>
            <a:pPr algn="ctr">
              <a:defRPr sz="900" b="0">
                <a:solidFill>
                  <a:srgbClr val="496C66"/>
                </a:solidFill>
                <a:latin typeface="Calibri"/>
                <a:ea typeface="Calibri"/>
                <a:cs typeface="Calibri"/>
              </a:defRPr>
            </a:pPr>
            <a:r>
              <a:rPr sz="900" b="0">
                <a:solidFill>
                  <a:srgbClr val="496C66"/>
                </a:solidFill>
                <a:latin typeface="Calibri"/>
                <a:ea typeface="Calibri"/>
                <a:cs typeface="Calibri"/>
              </a:rPr>
              <a:t>IBM Envizi Quest</a:t>
            </a:r>
          </a:p>
        </p:txBody>
      </p:sp>
    </p:spTree>
    <p:extLst>
      <p:ext uri="{BB962C8B-B14F-4D97-AF65-F5344CB8AC3E}">
        <p14:creationId xmlns:p14="http://schemas.microsoft.com/office/powerpoint/2010/main" val="2132365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C59FA235-B852-4E25-8D65-DB0415B30221}"/>
              </a:ext>
            </a:extLst>
          </p:cNvPr>
          <p:cNvSpPr>
            <a:spLocks noGrp="1"/>
          </p:cNvSpPr>
          <p:nvPr/>
        </p:nvSpPr>
        <p:spPr>
          <a:xfrm>
            <a:off x="0" y="0"/>
            <a:ext cx="12192000" cy="6858000"/>
          </a:xfrm>
          <a:prstGeom prst="rect">
            <a:avLst/>
          </a:prstGeom>
          <a:solidFill>
            <a:srgbClr val="FFFFFF"/>
          </a:solidFill>
          <a:ln w="0">
            <a:solidFill>
              <a:srgbClr val="FFFFFF"/>
            </a:solidFill>
          </a:ln>
        </p:spPr>
        <p:txBody>
          <a:bodyPr/>
          <a:lstStyle/>
          <a:p>
            <a:endParaRPr lang="it-IT"/>
          </a:p>
        </p:txBody>
      </p:sp>
      <p:sp>
        <p:nvSpPr>
          <p:cNvPr id="2" name="Rettangolo 1">
            <a:extLst>
              <a:ext uri="{FF2B5EF4-FFF2-40B4-BE49-F238E27FC236}">
                <a16:creationId xmlns:a16="http://schemas.microsoft.com/office/drawing/2014/main" id="{71864DE6-C131-4260-A4DD-72E5BDC209FD}"/>
              </a:ext>
            </a:extLst>
          </p:cNvPr>
          <p:cNvSpPr>
            <a:spLocks noGrp="1"/>
          </p:cNvSpPr>
          <p:nvPr/>
        </p:nvSpPr>
        <p:spPr>
          <a:xfrm>
            <a:off x="419100" y="285750"/>
            <a:ext cx="9334500" cy="476250"/>
          </a:xfrm>
          <a:prstGeom prst="rect">
            <a:avLst/>
          </a:prstGeom>
          <a:noFill/>
          <a:ln w="0">
            <a:noFill/>
          </a:ln>
        </p:spPr>
        <p:txBody>
          <a:bodyPr>
            <a:normAutofit/>
          </a:bodyPr>
          <a:lstStyle/>
          <a:p>
            <a:pPr algn="l">
              <a:defRPr sz="1875" b="1">
                <a:solidFill>
                  <a:srgbClr val="1D776B"/>
                </a:solidFill>
                <a:latin typeface="Calibri"/>
                <a:ea typeface="Calibri"/>
                <a:cs typeface="Calibri"/>
              </a:defRPr>
            </a:pPr>
            <a:r>
              <a:rPr sz="1875" b="1">
                <a:solidFill>
                  <a:srgbClr val="1D776B"/>
                </a:solidFill>
                <a:latin typeface="Calibri"/>
                <a:ea typeface="Calibri"/>
                <a:cs typeface="Calibri"/>
              </a:rPr>
              <a:t>Valute e unità di misura aumentano la complessità del reporting globale</a:t>
            </a:r>
          </a:p>
        </p:txBody>
      </p:sp>
      <p:sp>
        <p:nvSpPr>
          <p:cNvPr id="3" name="Rettangolo 2">
            <a:extLst>
              <a:ext uri="{FF2B5EF4-FFF2-40B4-BE49-F238E27FC236}">
                <a16:creationId xmlns:a16="http://schemas.microsoft.com/office/drawing/2014/main" id="{4C22D707-162A-4C36-97D9-AB294257B18C}"/>
              </a:ext>
            </a:extLst>
          </p:cNvPr>
          <p:cNvSpPr>
            <a:spLocks noGrp="1"/>
          </p:cNvSpPr>
          <p:nvPr/>
        </p:nvSpPr>
        <p:spPr>
          <a:xfrm>
            <a:off x="419100" y="714375"/>
            <a:ext cx="9810750" cy="333375"/>
          </a:xfrm>
          <a:prstGeom prst="rect">
            <a:avLst/>
          </a:prstGeom>
          <a:noFill/>
          <a:ln w="0">
            <a:noFill/>
          </a:ln>
        </p:spPr>
        <p:txBody>
          <a:bodyPr>
            <a:normAutofit/>
          </a:bodyPr>
          <a:lstStyle/>
          <a:p>
            <a:pPr algn="l">
              <a:defRPr sz="1200" b="0">
                <a:solidFill>
                  <a:srgbClr val="4D6D67"/>
                </a:solidFill>
                <a:latin typeface="Calibri"/>
                <a:ea typeface="Calibri"/>
                <a:cs typeface="Calibri"/>
              </a:defRPr>
            </a:pPr>
            <a:r>
              <a:rPr sz="1200" b="0">
                <a:solidFill>
                  <a:srgbClr val="4D6D67"/>
                </a:solidFill>
                <a:latin typeface="Calibri"/>
                <a:ea typeface="Calibri"/>
                <a:cs typeface="Calibri"/>
              </a:rPr>
              <a:t>Evidenza raccolta sulle 54 sedi di Erica</a:t>
            </a:r>
          </a:p>
        </p:txBody>
      </p:sp>
      <p:pic>
        <p:nvPicPr>
          <p:cNvPr id="30" name="Immagine 29"/>
          <p:cNvPicPr>
            <a:picLocks noChangeAspect="1"/>
          </p:cNvPicPr>
          <p:nvPr/>
        </p:nvPicPr>
        <p:blipFill>
          <a:blip r:embed="rId3"/>
          <a:stretch/>
        </p:blipFill>
        <p:spPr>
          <a:xfrm>
            <a:off x="10191750" y="228600"/>
            <a:ext cx="1571625" cy="523875"/>
          </a:xfrm>
          <a:prstGeom prst="rect">
            <a:avLst/>
          </a:prstGeom>
        </p:spPr>
      </p:pic>
      <p:sp>
        <p:nvSpPr>
          <p:cNvPr id="5" name="Rettangolo con angoli arrotondati 4">
            <a:extLst>
              <a:ext uri="{FF2B5EF4-FFF2-40B4-BE49-F238E27FC236}">
                <a16:creationId xmlns:a16="http://schemas.microsoft.com/office/drawing/2014/main" id="{00EEEF91-3BA0-45DE-939E-F04AF3687D0A}"/>
              </a:ext>
            </a:extLst>
          </p:cNvPr>
          <p:cNvSpPr>
            <a:spLocks noGrp="1"/>
          </p:cNvSpPr>
          <p:nvPr/>
        </p:nvSpPr>
        <p:spPr>
          <a:xfrm>
            <a:off x="514350" y="1066800"/>
            <a:ext cx="238125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6" name="Rettangolo 5">
            <a:extLst>
              <a:ext uri="{FF2B5EF4-FFF2-40B4-BE49-F238E27FC236}">
                <a16:creationId xmlns:a16="http://schemas.microsoft.com/office/drawing/2014/main" id="{A24B2597-BBB4-4138-8F11-E31E47FF5F4A}"/>
              </a:ext>
            </a:extLst>
          </p:cNvPr>
          <p:cNvSpPr>
            <a:spLocks noGrp="1"/>
          </p:cNvSpPr>
          <p:nvPr/>
        </p:nvSpPr>
        <p:spPr>
          <a:xfrm>
            <a:off x="514350" y="1066800"/>
            <a:ext cx="76200" cy="1123950"/>
          </a:xfrm>
          <a:prstGeom prst="rect">
            <a:avLst/>
          </a:prstGeom>
          <a:solidFill>
            <a:srgbClr val="1D776B"/>
          </a:solidFill>
          <a:ln w="0">
            <a:solidFill>
              <a:srgbClr val="1D776B"/>
            </a:solidFill>
          </a:ln>
        </p:spPr>
        <p:txBody>
          <a:bodyPr/>
          <a:lstStyle/>
          <a:p>
            <a:endParaRPr lang="it-IT"/>
          </a:p>
        </p:txBody>
      </p:sp>
      <p:sp>
        <p:nvSpPr>
          <p:cNvPr id="7" name="Rettangolo 6">
            <a:extLst>
              <a:ext uri="{FF2B5EF4-FFF2-40B4-BE49-F238E27FC236}">
                <a16:creationId xmlns:a16="http://schemas.microsoft.com/office/drawing/2014/main" id="{6BD02F66-9A8C-4C73-8099-DAE632E537BA}"/>
              </a:ext>
            </a:extLst>
          </p:cNvPr>
          <p:cNvSpPr>
            <a:spLocks noGrp="1"/>
          </p:cNvSpPr>
          <p:nvPr/>
        </p:nvSpPr>
        <p:spPr>
          <a:xfrm>
            <a:off x="742950" y="1238250"/>
            <a:ext cx="200025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54</a:t>
            </a:r>
          </a:p>
        </p:txBody>
      </p:sp>
      <p:sp>
        <p:nvSpPr>
          <p:cNvPr id="8" name="Rettangolo 7">
            <a:extLst>
              <a:ext uri="{FF2B5EF4-FFF2-40B4-BE49-F238E27FC236}">
                <a16:creationId xmlns:a16="http://schemas.microsoft.com/office/drawing/2014/main" id="{EE5E8BB7-832E-439B-9994-EE4F75E63618}"/>
              </a:ext>
            </a:extLst>
          </p:cNvPr>
          <p:cNvSpPr>
            <a:spLocks noGrp="1"/>
          </p:cNvSpPr>
          <p:nvPr/>
        </p:nvSpPr>
        <p:spPr>
          <a:xfrm>
            <a:off x="742950" y="1733550"/>
            <a:ext cx="200025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Sedi complessive</a:t>
            </a:r>
          </a:p>
        </p:txBody>
      </p:sp>
      <p:sp>
        <p:nvSpPr>
          <p:cNvPr id="9" name="Rettangolo con angoli arrotondati 8">
            <a:extLst>
              <a:ext uri="{FF2B5EF4-FFF2-40B4-BE49-F238E27FC236}">
                <a16:creationId xmlns:a16="http://schemas.microsoft.com/office/drawing/2014/main" id="{91256771-04BF-4C6B-A9D3-831AD3ADEFA4}"/>
              </a:ext>
            </a:extLst>
          </p:cNvPr>
          <p:cNvSpPr>
            <a:spLocks noGrp="1"/>
          </p:cNvSpPr>
          <p:nvPr/>
        </p:nvSpPr>
        <p:spPr>
          <a:xfrm>
            <a:off x="3048000" y="1066800"/>
            <a:ext cx="20955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10" name="Rettangolo 9">
            <a:extLst>
              <a:ext uri="{FF2B5EF4-FFF2-40B4-BE49-F238E27FC236}">
                <a16:creationId xmlns:a16="http://schemas.microsoft.com/office/drawing/2014/main" id="{8B17F60C-5063-42FF-A8EF-431B03EB6E04}"/>
              </a:ext>
            </a:extLst>
          </p:cNvPr>
          <p:cNvSpPr>
            <a:spLocks noGrp="1"/>
          </p:cNvSpPr>
          <p:nvPr/>
        </p:nvSpPr>
        <p:spPr>
          <a:xfrm>
            <a:off x="3048000" y="1066800"/>
            <a:ext cx="76200" cy="1123950"/>
          </a:xfrm>
          <a:prstGeom prst="rect">
            <a:avLst/>
          </a:prstGeom>
          <a:solidFill>
            <a:srgbClr val="87BDD1"/>
          </a:solidFill>
          <a:ln w="0">
            <a:solidFill>
              <a:srgbClr val="87BDD1"/>
            </a:solidFill>
          </a:ln>
        </p:spPr>
        <p:txBody>
          <a:bodyPr/>
          <a:lstStyle/>
          <a:p>
            <a:endParaRPr lang="it-IT"/>
          </a:p>
        </p:txBody>
      </p:sp>
      <p:sp>
        <p:nvSpPr>
          <p:cNvPr id="11" name="Rettangolo 10">
            <a:extLst>
              <a:ext uri="{FF2B5EF4-FFF2-40B4-BE49-F238E27FC236}">
                <a16:creationId xmlns:a16="http://schemas.microsoft.com/office/drawing/2014/main" id="{DBF4A620-8E68-4D33-9772-6085AB9D0EC2}"/>
              </a:ext>
            </a:extLst>
          </p:cNvPr>
          <p:cNvSpPr>
            <a:spLocks noGrp="1"/>
          </p:cNvSpPr>
          <p:nvPr/>
        </p:nvSpPr>
        <p:spPr>
          <a:xfrm>
            <a:off x="3276600" y="1238250"/>
            <a:ext cx="17145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9</a:t>
            </a:r>
          </a:p>
        </p:txBody>
      </p:sp>
      <p:sp>
        <p:nvSpPr>
          <p:cNvPr id="12" name="Rettangolo 11">
            <a:extLst>
              <a:ext uri="{FF2B5EF4-FFF2-40B4-BE49-F238E27FC236}">
                <a16:creationId xmlns:a16="http://schemas.microsoft.com/office/drawing/2014/main" id="{8FF3356A-B6BD-43F8-A573-9DEEF92F882A}"/>
              </a:ext>
            </a:extLst>
          </p:cNvPr>
          <p:cNvSpPr>
            <a:spLocks noGrp="1"/>
          </p:cNvSpPr>
          <p:nvPr/>
        </p:nvSpPr>
        <p:spPr>
          <a:xfrm>
            <a:off x="3276600" y="1733550"/>
            <a:ext cx="17145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Uffici</a:t>
            </a:r>
          </a:p>
        </p:txBody>
      </p:sp>
      <p:sp>
        <p:nvSpPr>
          <p:cNvPr id="13" name="Rettangolo con angoli arrotondati 12">
            <a:extLst>
              <a:ext uri="{FF2B5EF4-FFF2-40B4-BE49-F238E27FC236}">
                <a16:creationId xmlns:a16="http://schemas.microsoft.com/office/drawing/2014/main" id="{1133B84C-A7B6-45C7-A042-F7938504950F}"/>
              </a:ext>
            </a:extLst>
          </p:cNvPr>
          <p:cNvSpPr>
            <a:spLocks noGrp="1"/>
          </p:cNvSpPr>
          <p:nvPr/>
        </p:nvSpPr>
        <p:spPr>
          <a:xfrm>
            <a:off x="5295900" y="1066800"/>
            <a:ext cx="20955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14" name="Rettangolo 13">
            <a:extLst>
              <a:ext uri="{FF2B5EF4-FFF2-40B4-BE49-F238E27FC236}">
                <a16:creationId xmlns:a16="http://schemas.microsoft.com/office/drawing/2014/main" id="{0D0D84F7-F602-483C-AA39-CC95D293F27C}"/>
              </a:ext>
            </a:extLst>
          </p:cNvPr>
          <p:cNvSpPr>
            <a:spLocks noGrp="1"/>
          </p:cNvSpPr>
          <p:nvPr/>
        </p:nvSpPr>
        <p:spPr>
          <a:xfrm>
            <a:off x="5295900" y="1066800"/>
            <a:ext cx="76200" cy="1123950"/>
          </a:xfrm>
          <a:prstGeom prst="rect">
            <a:avLst/>
          </a:prstGeom>
          <a:solidFill>
            <a:srgbClr val="42CBB2"/>
          </a:solidFill>
          <a:ln w="0">
            <a:solidFill>
              <a:srgbClr val="42CBB2"/>
            </a:solidFill>
          </a:ln>
        </p:spPr>
        <p:txBody>
          <a:bodyPr/>
          <a:lstStyle/>
          <a:p>
            <a:endParaRPr lang="it-IT"/>
          </a:p>
        </p:txBody>
      </p:sp>
      <p:sp>
        <p:nvSpPr>
          <p:cNvPr id="15" name="Rettangolo 14">
            <a:extLst>
              <a:ext uri="{FF2B5EF4-FFF2-40B4-BE49-F238E27FC236}">
                <a16:creationId xmlns:a16="http://schemas.microsoft.com/office/drawing/2014/main" id="{2C149092-87BA-4F1B-93DE-455CDFCB37D9}"/>
              </a:ext>
            </a:extLst>
          </p:cNvPr>
          <p:cNvSpPr>
            <a:spLocks noGrp="1"/>
          </p:cNvSpPr>
          <p:nvPr/>
        </p:nvSpPr>
        <p:spPr>
          <a:xfrm>
            <a:off x="5524500" y="1238250"/>
            <a:ext cx="17145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18</a:t>
            </a:r>
          </a:p>
        </p:txBody>
      </p:sp>
      <p:sp>
        <p:nvSpPr>
          <p:cNvPr id="16" name="Rettangolo 15">
            <a:extLst>
              <a:ext uri="{FF2B5EF4-FFF2-40B4-BE49-F238E27FC236}">
                <a16:creationId xmlns:a16="http://schemas.microsoft.com/office/drawing/2014/main" id="{2C4A037B-0EEE-4FE5-9C54-CF19F6ECA2B9}"/>
              </a:ext>
            </a:extLst>
          </p:cNvPr>
          <p:cNvSpPr>
            <a:spLocks noGrp="1"/>
          </p:cNvSpPr>
          <p:nvPr/>
        </p:nvSpPr>
        <p:spPr>
          <a:xfrm>
            <a:off x="5524500" y="1733550"/>
            <a:ext cx="17145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Stabilimenti</a:t>
            </a:r>
          </a:p>
        </p:txBody>
      </p:sp>
      <p:sp>
        <p:nvSpPr>
          <p:cNvPr id="17" name="Rettangolo con angoli arrotondati 16">
            <a:extLst>
              <a:ext uri="{FF2B5EF4-FFF2-40B4-BE49-F238E27FC236}">
                <a16:creationId xmlns:a16="http://schemas.microsoft.com/office/drawing/2014/main" id="{A67321A6-9503-4495-8873-FEFC3CF6FCDF}"/>
              </a:ext>
            </a:extLst>
          </p:cNvPr>
          <p:cNvSpPr>
            <a:spLocks noGrp="1"/>
          </p:cNvSpPr>
          <p:nvPr/>
        </p:nvSpPr>
        <p:spPr>
          <a:xfrm>
            <a:off x="7543800" y="1066800"/>
            <a:ext cx="209550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18" name="Rettangolo 17">
            <a:extLst>
              <a:ext uri="{FF2B5EF4-FFF2-40B4-BE49-F238E27FC236}">
                <a16:creationId xmlns:a16="http://schemas.microsoft.com/office/drawing/2014/main" id="{7A420E01-E649-4DE4-8C45-28E074461338}"/>
              </a:ext>
            </a:extLst>
          </p:cNvPr>
          <p:cNvSpPr>
            <a:spLocks noGrp="1"/>
          </p:cNvSpPr>
          <p:nvPr/>
        </p:nvSpPr>
        <p:spPr>
          <a:xfrm>
            <a:off x="7543800" y="1066800"/>
            <a:ext cx="76200" cy="1123950"/>
          </a:xfrm>
          <a:prstGeom prst="rect">
            <a:avLst/>
          </a:prstGeom>
          <a:solidFill>
            <a:srgbClr val="8B6BB3"/>
          </a:solidFill>
          <a:ln w="0">
            <a:solidFill>
              <a:srgbClr val="8B6BB3"/>
            </a:solidFill>
          </a:ln>
        </p:spPr>
        <p:txBody>
          <a:bodyPr/>
          <a:lstStyle/>
          <a:p>
            <a:endParaRPr lang="it-IT"/>
          </a:p>
        </p:txBody>
      </p:sp>
      <p:sp>
        <p:nvSpPr>
          <p:cNvPr id="19" name="Rettangolo 18">
            <a:extLst>
              <a:ext uri="{FF2B5EF4-FFF2-40B4-BE49-F238E27FC236}">
                <a16:creationId xmlns:a16="http://schemas.microsoft.com/office/drawing/2014/main" id="{9A3CFAFB-4DB3-4C43-A36F-1BB76B9EC5F2}"/>
              </a:ext>
            </a:extLst>
          </p:cNvPr>
          <p:cNvSpPr>
            <a:spLocks noGrp="1"/>
          </p:cNvSpPr>
          <p:nvPr/>
        </p:nvSpPr>
        <p:spPr>
          <a:xfrm>
            <a:off x="7772400" y="1238250"/>
            <a:ext cx="171450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18</a:t>
            </a:r>
          </a:p>
        </p:txBody>
      </p:sp>
      <p:sp>
        <p:nvSpPr>
          <p:cNvPr id="20" name="Rettangolo 19">
            <a:extLst>
              <a:ext uri="{FF2B5EF4-FFF2-40B4-BE49-F238E27FC236}">
                <a16:creationId xmlns:a16="http://schemas.microsoft.com/office/drawing/2014/main" id="{6625903A-203F-48A2-97AE-69A985DB0906}"/>
              </a:ext>
            </a:extLst>
          </p:cNvPr>
          <p:cNvSpPr>
            <a:spLocks noGrp="1"/>
          </p:cNvSpPr>
          <p:nvPr/>
        </p:nvSpPr>
        <p:spPr>
          <a:xfrm>
            <a:off x="7772400" y="1733550"/>
            <a:ext cx="171450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Data center</a:t>
            </a:r>
          </a:p>
        </p:txBody>
      </p:sp>
      <p:sp>
        <p:nvSpPr>
          <p:cNvPr id="21" name="Rettangolo con angoli arrotondati 20">
            <a:extLst>
              <a:ext uri="{FF2B5EF4-FFF2-40B4-BE49-F238E27FC236}">
                <a16:creationId xmlns:a16="http://schemas.microsoft.com/office/drawing/2014/main" id="{05A29FBC-7814-4DC8-A257-F46934E4D504}"/>
              </a:ext>
            </a:extLst>
          </p:cNvPr>
          <p:cNvSpPr>
            <a:spLocks noGrp="1"/>
          </p:cNvSpPr>
          <p:nvPr/>
        </p:nvSpPr>
        <p:spPr>
          <a:xfrm>
            <a:off x="9791700" y="1066800"/>
            <a:ext cx="1885950" cy="1123950"/>
          </a:xfrm>
          <a:prstGeom prst="roundRect">
            <a:avLst>
              <a:gd name="adj" fmla="val 11864"/>
            </a:avLst>
          </a:prstGeom>
          <a:solidFill>
            <a:srgbClr val="FFFFFF"/>
          </a:solidFill>
          <a:ln w="9525">
            <a:solidFill>
              <a:srgbClr val="C8DBD5"/>
            </a:solidFill>
          </a:ln>
        </p:spPr>
        <p:txBody>
          <a:bodyPr/>
          <a:lstStyle/>
          <a:p>
            <a:endParaRPr lang="it-IT"/>
          </a:p>
        </p:txBody>
      </p:sp>
      <p:sp>
        <p:nvSpPr>
          <p:cNvPr id="22" name="Rettangolo 21">
            <a:extLst>
              <a:ext uri="{FF2B5EF4-FFF2-40B4-BE49-F238E27FC236}">
                <a16:creationId xmlns:a16="http://schemas.microsoft.com/office/drawing/2014/main" id="{02E598D7-1BEB-466A-B775-38D723D42219}"/>
              </a:ext>
            </a:extLst>
          </p:cNvPr>
          <p:cNvSpPr>
            <a:spLocks noGrp="1"/>
          </p:cNvSpPr>
          <p:nvPr/>
        </p:nvSpPr>
        <p:spPr>
          <a:xfrm>
            <a:off x="9791700" y="1066800"/>
            <a:ext cx="76200" cy="1123950"/>
          </a:xfrm>
          <a:prstGeom prst="rect">
            <a:avLst/>
          </a:prstGeom>
          <a:solidFill>
            <a:srgbClr val="D39A24"/>
          </a:solidFill>
          <a:ln w="0">
            <a:solidFill>
              <a:srgbClr val="D39A24"/>
            </a:solidFill>
          </a:ln>
        </p:spPr>
        <p:txBody>
          <a:bodyPr/>
          <a:lstStyle/>
          <a:p>
            <a:endParaRPr lang="it-IT"/>
          </a:p>
        </p:txBody>
      </p:sp>
      <p:sp>
        <p:nvSpPr>
          <p:cNvPr id="23" name="Rettangolo 22">
            <a:extLst>
              <a:ext uri="{FF2B5EF4-FFF2-40B4-BE49-F238E27FC236}">
                <a16:creationId xmlns:a16="http://schemas.microsoft.com/office/drawing/2014/main" id="{4BF099AD-B8B6-4825-929C-0607133A98F4}"/>
              </a:ext>
            </a:extLst>
          </p:cNvPr>
          <p:cNvSpPr>
            <a:spLocks noGrp="1"/>
          </p:cNvSpPr>
          <p:nvPr/>
        </p:nvSpPr>
        <p:spPr>
          <a:xfrm>
            <a:off x="10020300" y="1238250"/>
            <a:ext cx="1504950" cy="457200"/>
          </a:xfrm>
          <a:prstGeom prst="rect">
            <a:avLst/>
          </a:prstGeom>
          <a:noFill/>
          <a:ln w="0">
            <a:noFill/>
          </a:ln>
        </p:spPr>
        <p:txBody>
          <a:bodyPr>
            <a:normAutofit fontScale="91429"/>
          </a:bodyPr>
          <a:lstStyle/>
          <a:p>
            <a:pPr algn="l">
              <a:defRPr sz="2625" b="1">
                <a:solidFill>
                  <a:srgbClr val="062D29"/>
                </a:solidFill>
                <a:latin typeface="Calibri"/>
                <a:ea typeface="Calibri"/>
                <a:cs typeface="Calibri"/>
              </a:defRPr>
            </a:pPr>
            <a:r>
              <a:rPr sz="2625" b="1">
                <a:solidFill>
                  <a:srgbClr val="062D29"/>
                </a:solidFill>
                <a:latin typeface="Calibri"/>
                <a:ea typeface="Calibri"/>
                <a:cs typeface="Calibri"/>
              </a:rPr>
              <a:t>9</a:t>
            </a:r>
          </a:p>
        </p:txBody>
      </p:sp>
      <p:sp>
        <p:nvSpPr>
          <p:cNvPr id="24" name="Rettangolo 23">
            <a:extLst>
              <a:ext uri="{FF2B5EF4-FFF2-40B4-BE49-F238E27FC236}">
                <a16:creationId xmlns:a16="http://schemas.microsoft.com/office/drawing/2014/main" id="{85C8275E-9C74-4C49-A234-EE7AD79B8935}"/>
              </a:ext>
            </a:extLst>
          </p:cNvPr>
          <p:cNvSpPr>
            <a:spLocks noGrp="1"/>
          </p:cNvSpPr>
          <p:nvPr/>
        </p:nvSpPr>
        <p:spPr>
          <a:xfrm>
            <a:off x="10020300" y="1733550"/>
            <a:ext cx="1504950" cy="285750"/>
          </a:xfrm>
          <a:prstGeom prst="rect">
            <a:avLst/>
          </a:prstGeom>
          <a:noFill/>
          <a:ln w="0">
            <a:noFill/>
          </a:ln>
        </p:spPr>
        <p:txBody>
          <a:bodyPr>
            <a:normAutofit/>
          </a:bodyPr>
          <a:lstStyle/>
          <a:p>
            <a:pPr algn="l">
              <a:defRPr sz="1125" b="0">
                <a:solidFill>
                  <a:srgbClr val="527069"/>
                </a:solidFill>
                <a:latin typeface="Calibri"/>
                <a:ea typeface="Calibri"/>
                <a:cs typeface="Calibri"/>
              </a:defRPr>
            </a:pPr>
            <a:r>
              <a:rPr sz="1125" b="0">
                <a:solidFill>
                  <a:srgbClr val="527069"/>
                </a:solidFill>
                <a:latin typeface="Calibri"/>
                <a:ea typeface="Calibri"/>
                <a:cs typeface="Calibri"/>
              </a:rPr>
              <a:t>Altre sedi</a:t>
            </a:r>
          </a:p>
        </p:txBody>
      </p:sp>
      <p:graphicFrame>
        <p:nvGraphicFramePr>
          <p:cNvPr id="51" name="Tabella 50"/>
          <p:cNvGraphicFramePr/>
          <p:nvPr/>
        </p:nvGraphicFramePr>
        <p:xfrm>
          <a:off x="514350" y="2400300"/>
          <a:ext cx="11163300" cy="3714750"/>
        </p:xfrm>
        <a:graphic>
          <a:graphicData uri="http://schemas.openxmlformats.org/drawingml/2006/table">
            <a:tbl>
              <a:tblPr firstRow="1" bandRow="1"/>
              <a:tblGrid>
                <a:gridCol w="2333625">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4924425">
                  <a:extLst>
                    <a:ext uri="{9D8B030D-6E8A-4147-A177-3AD203B41FA5}">
                      <a16:colId xmlns:a16="http://schemas.microsoft.com/office/drawing/2014/main" val="20003"/>
                    </a:ext>
                  </a:extLst>
                </a:gridCol>
              </a:tblGrid>
              <a:tr h="412750">
                <a:tc>
                  <a:txBody>
                    <a:bodyPr/>
                    <a:lstStyle/>
                    <a:p>
                      <a:r>
                        <a:rPr sz="1050" b="1">
                          <a:solidFill>
                            <a:srgbClr val="FFFFFF"/>
                          </a:solidFill>
                          <a:latin typeface="Calibri"/>
                          <a:ea typeface="Calibri"/>
                          <a:cs typeface="Calibri"/>
                        </a:rPr>
                        <a:t>AREA</a:t>
                      </a:r>
                    </a:p>
                  </a:txBody>
                  <a:tcPr marL="114300" marR="95250" marT="76200" marB="76200">
                    <a:solidFill>
                      <a:srgbClr val="062D29"/>
                    </a:solidFill>
                  </a:tcPr>
                </a:tc>
                <a:tc>
                  <a:txBody>
                    <a:bodyPr/>
                    <a:lstStyle/>
                    <a:p>
                      <a:r>
                        <a:rPr sz="1050" b="1">
                          <a:solidFill>
                            <a:srgbClr val="FFFFFF"/>
                          </a:solidFill>
                          <a:latin typeface="Calibri"/>
                          <a:ea typeface="Calibri"/>
                          <a:cs typeface="Calibri"/>
                        </a:rPr>
                        <a:t>SEDI</a:t>
                      </a:r>
                    </a:p>
                  </a:txBody>
                  <a:tcPr marL="114300" marR="95250" marT="76200" marB="76200">
                    <a:solidFill>
                      <a:srgbClr val="062D29"/>
                    </a:solidFill>
                  </a:tcPr>
                </a:tc>
                <a:tc>
                  <a:txBody>
                    <a:bodyPr/>
                    <a:lstStyle/>
                    <a:p>
                      <a:r>
                        <a:rPr sz="1050" b="1">
                          <a:solidFill>
                            <a:srgbClr val="FFFFFF"/>
                          </a:solidFill>
                          <a:latin typeface="Calibri"/>
                          <a:ea typeface="Calibri"/>
                          <a:cs typeface="Calibri"/>
                        </a:rPr>
                        <a:t>VALUTE</a:t>
                      </a:r>
                    </a:p>
                  </a:txBody>
                  <a:tcPr marL="114300" marR="95250" marT="76200" marB="76200">
                    <a:solidFill>
                      <a:srgbClr val="062D29"/>
                    </a:solidFill>
                  </a:tcPr>
                </a:tc>
                <a:tc>
                  <a:txBody>
                    <a:bodyPr/>
                    <a:lstStyle/>
                    <a:p>
                      <a:r>
                        <a:rPr sz="1050" b="1">
                          <a:solidFill>
                            <a:srgbClr val="FFFFFF"/>
                          </a:solidFill>
                          <a:latin typeface="Calibri"/>
                          <a:ea typeface="Calibri"/>
                          <a:cs typeface="Calibri"/>
                        </a:rPr>
                        <a:t>UNITÀ DI MISURA</a:t>
                      </a:r>
                    </a:p>
                  </a:txBody>
                  <a:tcPr marL="114300" marR="95250" marT="76200" marB="76200">
                    <a:solidFill>
                      <a:srgbClr val="062D29"/>
                    </a:solidFill>
                  </a:tcPr>
                </a:tc>
                <a:extLst>
                  <a:ext uri="{0D108BD9-81ED-4DB2-BD59-A6C34878D82A}">
                    <a16:rowId xmlns:a16="http://schemas.microsoft.com/office/drawing/2014/main" val="10000"/>
                  </a:ext>
                </a:extLst>
              </a:tr>
              <a:tr h="412750">
                <a:tc>
                  <a:txBody>
                    <a:bodyPr/>
                    <a:lstStyle/>
                    <a:p>
                      <a:r>
                        <a:rPr sz="1050">
                          <a:solidFill>
                            <a:srgbClr val="062D29"/>
                          </a:solidFill>
                          <a:latin typeface="Calibri"/>
                          <a:ea typeface="Calibri"/>
                          <a:cs typeface="Calibri"/>
                        </a:rPr>
                        <a:t>Italia</a:t>
                      </a:r>
                    </a:p>
                  </a:txBody>
                  <a:tcPr marL="114300" marR="95250" marT="66675" marB="66675"/>
                </a:tc>
                <a:tc>
                  <a:txBody>
                    <a:bodyPr/>
                    <a:lstStyle/>
                    <a:p>
                      <a:r>
                        <a:rPr sz="1050">
                          <a:solidFill>
                            <a:srgbClr val="062D29"/>
                          </a:solidFill>
                          <a:latin typeface="Calibri"/>
                          <a:ea typeface="Calibri"/>
                          <a:cs typeface="Calibri"/>
                        </a:rPr>
                        <a:t>12</a:t>
                      </a:r>
                    </a:p>
                  </a:txBody>
                  <a:tcPr marL="114300" marR="95250" marT="66675" marB="66675"/>
                </a:tc>
                <a:tc>
                  <a:txBody>
                    <a:bodyPr/>
                    <a:lstStyle/>
                    <a:p>
                      <a:r>
                        <a:rPr sz="1050">
                          <a:solidFill>
                            <a:srgbClr val="062D29"/>
                          </a:solidFill>
                          <a:latin typeface="Calibri"/>
                          <a:ea typeface="Calibri"/>
                          <a:cs typeface="Calibri"/>
                        </a:rPr>
                        <a:t>EUR</a:t>
                      </a:r>
                    </a:p>
                  </a:txBody>
                  <a:tcPr marL="114300" marR="95250" marT="66675" marB="66675"/>
                </a:tc>
                <a:tc>
                  <a:txBody>
                    <a:bodyPr/>
                    <a:lstStyle/>
                    <a:p>
                      <a:r>
                        <a:rPr sz="1050">
                          <a:solidFill>
                            <a:srgbClr val="062D29"/>
                          </a:solidFill>
                          <a:latin typeface="Calibri"/>
                          <a:ea typeface="Calibri"/>
                          <a:cs typeface="Calibri"/>
                        </a:rPr>
                        <a:t>kWh · km · m³ · L</a:t>
                      </a:r>
                    </a:p>
                  </a:txBody>
                  <a:tcPr marL="114300" marR="95250" marT="66675" marB="66675"/>
                </a:tc>
                <a:extLst>
                  <a:ext uri="{0D108BD9-81ED-4DB2-BD59-A6C34878D82A}">
                    <a16:rowId xmlns:a16="http://schemas.microsoft.com/office/drawing/2014/main" val="10001"/>
                  </a:ext>
                </a:extLst>
              </a:tr>
              <a:tr h="412750">
                <a:tc>
                  <a:txBody>
                    <a:bodyPr/>
                    <a:lstStyle/>
                    <a:p>
                      <a:r>
                        <a:rPr sz="1050">
                          <a:solidFill>
                            <a:srgbClr val="062D29"/>
                          </a:solidFill>
                          <a:latin typeface="Calibri"/>
                          <a:ea typeface="Calibri"/>
                          <a:cs typeface="Calibri"/>
                        </a:rPr>
                        <a:t>Europa</a:t>
                      </a:r>
                    </a:p>
                  </a:txBody>
                  <a:tcPr marL="114300" marR="95250" marT="66675" marB="66675"/>
                </a:tc>
                <a:tc>
                  <a:txBody>
                    <a:bodyPr/>
                    <a:lstStyle/>
                    <a:p>
                      <a:r>
                        <a:rPr sz="1050">
                          <a:solidFill>
                            <a:srgbClr val="062D29"/>
                          </a:solidFill>
                          <a:latin typeface="Calibri"/>
                          <a:ea typeface="Calibri"/>
                          <a:cs typeface="Calibri"/>
                        </a:rPr>
                        <a:t>12</a:t>
                      </a:r>
                    </a:p>
                  </a:txBody>
                  <a:tcPr marL="114300" marR="95250" marT="66675" marB="66675"/>
                </a:tc>
                <a:tc>
                  <a:txBody>
                    <a:bodyPr/>
                    <a:lstStyle/>
                    <a:p>
                      <a:r>
                        <a:rPr sz="1050">
                          <a:solidFill>
                            <a:srgbClr val="062D29"/>
                          </a:solidFill>
                          <a:latin typeface="Calibri"/>
                          <a:ea typeface="Calibri"/>
                          <a:cs typeface="Calibri"/>
                        </a:rPr>
                        <a:t>EUR e altre valute locali</a:t>
                      </a:r>
                    </a:p>
                  </a:txBody>
                  <a:tcPr marL="114300" marR="95250" marT="66675" marB="66675"/>
                </a:tc>
                <a:tc>
                  <a:txBody>
                    <a:bodyPr/>
                    <a:lstStyle/>
                    <a:p>
                      <a:r>
                        <a:rPr sz="1050">
                          <a:solidFill>
                            <a:srgbClr val="062D29"/>
                          </a:solidFill>
                          <a:latin typeface="Calibri"/>
                          <a:ea typeface="Calibri"/>
                          <a:cs typeface="Calibri"/>
                        </a:rPr>
                        <a:t>kWh · km · m³ · L</a:t>
                      </a:r>
                    </a:p>
                  </a:txBody>
                  <a:tcPr marL="114300" marR="95250" marT="66675" marB="66675"/>
                </a:tc>
                <a:extLst>
                  <a:ext uri="{0D108BD9-81ED-4DB2-BD59-A6C34878D82A}">
                    <a16:rowId xmlns:a16="http://schemas.microsoft.com/office/drawing/2014/main" val="10002"/>
                  </a:ext>
                </a:extLst>
              </a:tr>
              <a:tr h="412750">
                <a:tc>
                  <a:txBody>
                    <a:bodyPr/>
                    <a:lstStyle/>
                    <a:p>
                      <a:r>
                        <a:rPr sz="1050">
                          <a:solidFill>
                            <a:srgbClr val="062D29"/>
                          </a:solidFill>
                          <a:latin typeface="Calibri"/>
                          <a:ea typeface="Calibri"/>
                          <a:cs typeface="Calibri"/>
                        </a:rPr>
                        <a:t>UK</a:t>
                      </a:r>
                    </a:p>
                  </a:txBody>
                  <a:tcPr marL="114300" marR="95250" marT="66675" marB="66675"/>
                </a:tc>
                <a:tc>
                  <a:txBody>
                    <a:bodyPr/>
                    <a:lstStyle/>
                    <a:p>
                      <a:r>
                        <a:rPr sz="1050">
                          <a:solidFill>
                            <a:srgbClr val="062D29"/>
                          </a:solidFill>
                          <a:latin typeface="Calibri"/>
                          <a:ea typeface="Calibri"/>
                          <a:cs typeface="Calibri"/>
                        </a:rPr>
                        <a:t>9</a:t>
                      </a:r>
                    </a:p>
                  </a:txBody>
                  <a:tcPr marL="114300" marR="95250" marT="66675" marB="66675"/>
                </a:tc>
                <a:tc>
                  <a:txBody>
                    <a:bodyPr/>
                    <a:lstStyle/>
                    <a:p>
                      <a:r>
                        <a:rPr sz="1050">
                          <a:solidFill>
                            <a:srgbClr val="062D29"/>
                          </a:solidFill>
                          <a:latin typeface="Calibri"/>
                          <a:ea typeface="Calibri"/>
                          <a:cs typeface="Calibri"/>
                        </a:rPr>
                        <a:t>GBP</a:t>
                      </a:r>
                    </a:p>
                  </a:txBody>
                  <a:tcPr marL="114300" marR="95250" marT="66675" marB="66675"/>
                </a:tc>
                <a:tc>
                  <a:txBody>
                    <a:bodyPr/>
                    <a:lstStyle/>
                    <a:p>
                      <a:r>
                        <a:rPr sz="1050">
                          <a:solidFill>
                            <a:srgbClr val="062D29"/>
                          </a:solidFill>
                          <a:latin typeface="Calibri"/>
                          <a:ea typeface="Calibri"/>
                          <a:cs typeface="Calibri"/>
                        </a:rPr>
                        <a:t>kWh · mi · ft³ · gal</a:t>
                      </a:r>
                    </a:p>
                  </a:txBody>
                  <a:tcPr marL="114300" marR="95250" marT="66675" marB="66675"/>
                </a:tc>
                <a:extLst>
                  <a:ext uri="{0D108BD9-81ED-4DB2-BD59-A6C34878D82A}">
                    <a16:rowId xmlns:a16="http://schemas.microsoft.com/office/drawing/2014/main" val="10003"/>
                  </a:ext>
                </a:extLst>
              </a:tr>
              <a:tr h="412750">
                <a:tc>
                  <a:txBody>
                    <a:bodyPr/>
                    <a:lstStyle/>
                    <a:p>
                      <a:r>
                        <a:rPr sz="1050">
                          <a:solidFill>
                            <a:srgbClr val="062D29"/>
                          </a:solidFill>
                          <a:latin typeface="Calibri"/>
                          <a:ea typeface="Calibri"/>
                          <a:cs typeface="Calibri"/>
                        </a:rPr>
                        <a:t>Nord America</a:t>
                      </a:r>
                    </a:p>
                  </a:txBody>
                  <a:tcPr marL="114300" marR="95250" marT="66675" marB="66675"/>
                </a:tc>
                <a:tc>
                  <a:txBody>
                    <a:bodyPr/>
                    <a:lstStyle/>
                    <a:p>
                      <a:r>
                        <a:rPr sz="1050">
                          <a:solidFill>
                            <a:srgbClr val="062D29"/>
                          </a:solidFill>
                          <a:latin typeface="Calibri"/>
                          <a:ea typeface="Calibri"/>
                          <a:cs typeface="Calibri"/>
                        </a:rPr>
                        <a:t>6</a:t>
                      </a:r>
                    </a:p>
                  </a:txBody>
                  <a:tcPr marL="114300" marR="95250" marT="66675" marB="66675"/>
                </a:tc>
                <a:tc>
                  <a:txBody>
                    <a:bodyPr/>
                    <a:lstStyle/>
                    <a:p>
                      <a:r>
                        <a:rPr sz="1050">
                          <a:solidFill>
                            <a:srgbClr val="062D29"/>
                          </a:solidFill>
                          <a:latin typeface="Calibri"/>
                          <a:ea typeface="Calibri"/>
                          <a:cs typeface="Calibri"/>
                        </a:rPr>
                        <a:t>USD · CAD</a:t>
                      </a:r>
                    </a:p>
                  </a:txBody>
                  <a:tcPr marL="114300" marR="95250" marT="66675" marB="66675"/>
                </a:tc>
                <a:tc>
                  <a:txBody>
                    <a:bodyPr/>
                    <a:lstStyle/>
                    <a:p>
                      <a:r>
                        <a:rPr sz="1050">
                          <a:solidFill>
                            <a:srgbClr val="062D29"/>
                          </a:solidFill>
                          <a:latin typeface="Calibri"/>
                          <a:ea typeface="Calibri"/>
                          <a:cs typeface="Calibri"/>
                        </a:rPr>
                        <a:t>kWh · mi · ft³ · gal</a:t>
                      </a:r>
                    </a:p>
                  </a:txBody>
                  <a:tcPr marL="114300" marR="95250" marT="66675" marB="66675"/>
                </a:tc>
                <a:extLst>
                  <a:ext uri="{0D108BD9-81ED-4DB2-BD59-A6C34878D82A}">
                    <a16:rowId xmlns:a16="http://schemas.microsoft.com/office/drawing/2014/main" val="10004"/>
                  </a:ext>
                </a:extLst>
              </a:tr>
              <a:tr h="412750">
                <a:tc>
                  <a:txBody>
                    <a:bodyPr/>
                    <a:lstStyle/>
                    <a:p>
                      <a:r>
                        <a:rPr sz="1050">
                          <a:solidFill>
                            <a:srgbClr val="062D29"/>
                          </a:solidFill>
                          <a:latin typeface="Calibri"/>
                          <a:ea typeface="Calibri"/>
                          <a:cs typeface="Calibri"/>
                        </a:rPr>
                        <a:t>Sud America</a:t>
                      </a:r>
                    </a:p>
                  </a:txBody>
                  <a:tcPr marL="114300" marR="95250" marT="66675" marB="66675"/>
                </a:tc>
                <a:tc>
                  <a:txBody>
                    <a:bodyPr/>
                    <a:lstStyle/>
                    <a:p>
                      <a:r>
                        <a:rPr sz="1050">
                          <a:solidFill>
                            <a:srgbClr val="062D29"/>
                          </a:solidFill>
                          <a:latin typeface="Calibri"/>
                          <a:ea typeface="Calibri"/>
                          <a:cs typeface="Calibri"/>
                        </a:rPr>
                        <a:t>6</a:t>
                      </a:r>
                    </a:p>
                  </a:txBody>
                  <a:tcPr marL="114300" marR="95250" marT="66675" marB="66675"/>
                </a:tc>
                <a:tc>
                  <a:txBody>
                    <a:bodyPr/>
                    <a:lstStyle/>
                    <a:p>
                      <a:r>
                        <a:rPr sz="1050">
                          <a:solidFill>
                            <a:srgbClr val="062D29"/>
                          </a:solidFill>
                          <a:latin typeface="Calibri"/>
                          <a:ea typeface="Calibri"/>
                          <a:cs typeface="Calibri"/>
                        </a:rPr>
                        <a:t>BRL · ARS</a:t>
                      </a:r>
                    </a:p>
                  </a:txBody>
                  <a:tcPr marL="114300" marR="95250" marT="66675" marB="66675"/>
                </a:tc>
                <a:tc>
                  <a:txBody>
                    <a:bodyPr/>
                    <a:lstStyle/>
                    <a:p>
                      <a:r>
                        <a:rPr sz="1050">
                          <a:solidFill>
                            <a:srgbClr val="062D29"/>
                          </a:solidFill>
                          <a:latin typeface="Calibri"/>
                          <a:ea typeface="Calibri"/>
                          <a:cs typeface="Calibri"/>
                        </a:rPr>
                        <a:t>kWh · km · m³ · L</a:t>
                      </a:r>
                    </a:p>
                  </a:txBody>
                  <a:tcPr marL="114300" marR="95250" marT="66675" marB="66675"/>
                </a:tc>
                <a:extLst>
                  <a:ext uri="{0D108BD9-81ED-4DB2-BD59-A6C34878D82A}">
                    <a16:rowId xmlns:a16="http://schemas.microsoft.com/office/drawing/2014/main" val="10005"/>
                  </a:ext>
                </a:extLst>
              </a:tr>
              <a:tr h="412750">
                <a:tc>
                  <a:txBody>
                    <a:bodyPr/>
                    <a:lstStyle/>
                    <a:p>
                      <a:r>
                        <a:rPr sz="1050">
                          <a:solidFill>
                            <a:srgbClr val="062D29"/>
                          </a:solidFill>
                          <a:latin typeface="Calibri"/>
                          <a:ea typeface="Calibri"/>
                          <a:cs typeface="Calibri"/>
                        </a:rPr>
                        <a:t>Asia</a:t>
                      </a:r>
                    </a:p>
                  </a:txBody>
                  <a:tcPr marL="114300" marR="95250" marT="66675" marB="66675"/>
                </a:tc>
                <a:tc>
                  <a:txBody>
                    <a:bodyPr/>
                    <a:lstStyle/>
                    <a:p>
                      <a:r>
                        <a:rPr sz="1050">
                          <a:solidFill>
                            <a:srgbClr val="062D29"/>
                          </a:solidFill>
                          <a:latin typeface="Calibri"/>
                          <a:ea typeface="Calibri"/>
                          <a:cs typeface="Calibri"/>
                        </a:rPr>
                        <a:t>6</a:t>
                      </a:r>
                    </a:p>
                  </a:txBody>
                  <a:tcPr marL="114300" marR="95250" marT="66675" marB="66675"/>
                </a:tc>
                <a:tc>
                  <a:txBody>
                    <a:bodyPr/>
                    <a:lstStyle/>
                    <a:p>
                      <a:r>
                        <a:rPr sz="1050">
                          <a:solidFill>
                            <a:srgbClr val="062D29"/>
                          </a:solidFill>
                          <a:latin typeface="Calibri"/>
                          <a:ea typeface="Calibri"/>
                          <a:cs typeface="Calibri"/>
                        </a:rPr>
                        <a:t>CNY · JPY</a:t>
                      </a:r>
                    </a:p>
                  </a:txBody>
                  <a:tcPr marL="114300" marR="95250" marT="66675" marB="66675"/>
                </a:tc>
                <a:tc>
                  <a:txBody>
                    <a:bodyPr/>
                    <a:lstStyle/>
                    <a:p>
                      <a:r>
                        <a:rPr sz="1050">
                          <a:solidFill>
                            <a:srgbClr val="062D29"/>
                          </a:solidFill>
                          <a:latin typeface="Calibri"/>
                          <a:ea typeface="Calibri"/>
                          <a:cs typeface="Calibri"/>
                        </a:rPr>
                        <a:t>kWh · km · m³ · L</a:t>
                      </a:r>
                    </a:p>
                  </a:txBody>
                  <a:tcPr marL="114300" marR="95250" marT="66675" marB="66675"/>
                </a:tc>
                <a:extLst>
                  <a:ext uri="{0D108BD9-81ED-4DB2-BD59-A6C34878D82A}">
                    <a16:rowId xmlns:a16="http://schemas.microsoft.com/office/drawing/2014/main" val="10006"/>
                  </a:ext>
                </a:extLst>
              </a:tr>
              <a:tr h="412750">
                <a:tc>
                  <a:txBody>
                    <a:bodyPr/>
                    <a:lstStyle/>
                    <a:p>
                      <a:r>
                        <a:rPr sz="1050">
                          <a:solidFill>
                            <a:srgbClr val="062D29"/>
                          </a:solidFill>
                          <a:latin typeface="Calibri"/>
                          <a:ea typeface="Calibri"/>
                          <a:cs typeface="Calibri"/>
                        </a:rPr>
                        <a:t>Africa</a:t>
                      </a:r>
                    </a:p>
                  </a:txBody>
                  <a:tcPr marL="114300" marR="95250" marT="66675" marB="66675"/>
                </a:tc>
                <a:tc>
                  <a:txBody>
                    <a:bodyPr/>
                    <a:lstStyle/>
                    <a:p>
                      <a:r>
                        <a:rPr sz="1050">
                          <a:solidFill>
                            <a:srgbClr val="062D29"/>
                          </a:solidFill>
                          <a:latin typeface="Calibri"/>
                          <a:ea typeface="Calibri"/>
                          <a:cs typeface="Calibri"/>
                        </a:rPr>
                        <a:t>3</a:t>
                      </a:r>
                    </a:p>
                  </a:txBody>
                  <a:tcPr marL="114300" marR="95250" marT="66675" marB="66675"/>
                </a:tc>
                <a:tc>
                  <a:txBody>
                    <a:bodyPr/>
                    <a:lstStyle/>
                    <a:p>
                      <a:r>
                        <a:rPr sz="1050">
                          <a:solidFill>
                            <a:srgbClr val="062D29"/>
                          </a:solidFill>
                          <a:latin typeface="Calibri"/>
                          <a:ea typeface="Calibri"/>
                          <a:cs typeface="Calibri"/>
                        </a:rPr>
                        <a:t>ZAR · NGN</a:t>
                      </a:r>
                    </a:p>
                  </a:txBody>
                  <a:tcPr marL="114300" marR="95250" marT="66675" marB="66675"/>
                </a:tc>
                <a:tc>
                  <a:txBody>
                    <a:bodyPr/>
                    <a:lstStyle/>
                    <a:p>
                      <a:r>
                        <a:rPr sz="1050">
                          <a:solidFill>
                            <a:srgbClr val="062D29"/>
                          </a:solidFill>
                          <a:latin typeface="Calibri"/>
                          <a:ea typeface="Calibri"/>
                          <a:cs typeface="Calibri"/>
                        </a:rPr>
                        <a:t>kWh · km · m³ · L</a:t>
                      </a:r>
                    </a:p>
                  </a:txBody>
                  <a:tcPr marL="114300" marR="95250" marT="66675" marB="66675"/>
                </a:tc>
                <a:extLst>
                  <a:ext uri="{0D108BD9-81ED-4DB2-BD59-A6C34878D82A}">
                    <a16:rowId xmlns:a16="http://schemas.microsoft.com/office/drawing/2014/main" val="10007"/>
                  </a:ext>
                </a:extLst>
              </a:tr>
              <a:tr h="412750">
                <a:tc>
                  <a:txBody>
                    <a:bodyPr/>
                    <a:lstStyle/>
                    <a:p>
                      <a:r>
                        <a:rPr sz="1050">
                          <a:solidFill>
                            <a:srgbClr val="062D29"/>
                          </a:solidFill>
                          <a:latin typeface="Calibri"/>
                          <a:ea typeface="Calibri"/>
                          <a:cs typeface="Calibri"/>
                        </a:rPr>
                        <a:t>Australia</a:t>
                      </a:r>
                    </a:p>
                  </a:txBody>
                  <a:tcPr marL="114300" marR="95250" marT="66675" marB="66675"/>
                </a:tc>
                <a:tc>
                  <a:txBody>
                    <a:bodyPr/>
                    <a:lstStyle/>
                    <a:p>
                      <a:r>
                        <a:rPr sz="1050">
                          <a:solidFill>
                            <a:srgbClr val="062D29"/>
                          </a:solidFill>
                          <a:latin typeface="Calibri"/>
                          <a:ea typeface="Calibri"/>
                          <a:cs typeface="Calibri"/>
                        </a:rPr>
                        <a:t>0</a:t>
                      </a:r>
                    </a:p>
                  </a:txBody>
                  <a:tcPr marL="114300" marR="95250" marT="66675" marB="66675"/>
                </a:tc>
                <a:tc>
                  <a:txBody>
                    <a:bodyPr/>
                    <a:lstStyle/>
                    <a:p>
                      <a:r>
                        <a:rPr sz="1050">
                          <a:solidFill>
                            <a:srgbClr val="062D29"/>
                          </a:solidFill>
                          <a:latin typeface="Calibri"/>
                          <a:ea typeface="Calibri"/>
                          <a:cs typeface="Calibri"/>
                        </a:rPr>
                        <a:t>—</a:t>
                      </a:r>
                    </a:p>
                  </a:txBody>
                  <a:tcPr marL="114300" marR="95250" marT="66675" marB="66675"/>
                </a:tc>
                <a:tc>
                  <a:txBody>
                    <a:bodyPr/>
                    <a:lstStyle/>
                    <a:p>
                      <a:r>
                        <a:rPr sz="1050">
                          <a:solidFill>
                            <a:srgbClr val="062D29"/>
                          </a:solidFill>
                          <a:latin typeface="Calibri"/>
                          <a:ea typeface="Calibri"/>
                          <a:cs typeface="Calibri"/>
                        </a:rPr>
                        <a:t>—</a:t>
                      </a:r>
                    </a:p>
                  </a:txBody>
                  <a:tcPr marL="114300" marR="95250" marT="66675" marB="66675"/>
                </a:tc>
                <a:extLst>
                  <a:ext uri="{0D108BD9-81ED-4DB2-BD59-A6C34878D82A}">
                    <a16:rowId xmlns:a16="http://schemas.microsoft.com/office/drawing/2014/main" val="10008"/>
                  </a:ext>
                </a:extLst>
              </a:tr>
            </a:tbl>
          </a:graphicData>
        </a:graphic>
      </p:graphicFrame>
      <p:sp>
        <p:nvSpPr>
          <p:cNvPr id="26" name="Rettangolo 25">
            <a:extLst>
              <a:ext uri="{FF2B5EF4-FFF2-40B4-BE49-F238E27FC236}">
                <a16:creationId xmlns:a16="http://schemas.microsoft.com/office/drawing/2014/main" id="{75CF8151-C6E1-48D3-8F84-7886A3056EB2}"/>
              </a:ext>
            </a:extLst>
          </p:cNvPr>
          <p:cNvSpPr>
            <a:spLocks noGrp="1"/>
          </p:cNvSpPr>
          <p:nvPr/>
        </p:nvSpPr>
        <p:spPr>
          <a:xfrm>
            <a:off x="4810125" y="6534150"/>
            <a:ext cx="2571750" cy="209550"/>
          </a:xfrm>
          <a:prstGeom prst="rect">
            <a:avLst/>
          </a:prstGeom>
          <a:noFill/>
          <a:ln w="0">
            <a:noFill/>
          </a:ln>
        </p:spPr>
        <p:txBody>
          <a:bodyPr>
            <a:normAutofit fontScale="86111"/>
          </a:bodyPr>
          <a:lstStyle/>
          <a:p>
            <a:pPr algn="ctr">
              <a:defRPr sz="900" b="0">
                <a:solidFill>
                  <a:srgbClr val="496C66"/>
                </a:solidFill>
                <a:latin typeface="Calibri"/>
                <a:ea typeface="Calibri"/>
                <a:cs typeface="Calibri"/>
              </a:defRPr>
            </a:pPr>
            <a:r>
              <a:rPr sz="900" b="0">
                <a:solidFill>
                  <a:srgbClr val="496C66"/>
                </a:solidFill>
                <a:latin typeface="Calibri"/>
                <a:ea typeface="Calibri"/>
                <a:cs typeface="Calibri"/>
              </a:rPr>
              <a:t>IBM Envizi Quest</a:t>
            </a:r>
          </a:p>
        </p:txBody>
      </p:sp>
    </p:spTree>
    <p:extLst>
      <p:ext uri="{BB962C8B-B14F-4D97-AF65-F5344CB8AC3E}">
        <p14:creationId xmlns:p14="http://schemas.microsoft.com/office/powerpoint/2010/main" val="188082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ttangolo 41">
            <a:extLst>
              <a:ext uri="{FF2B5EF4-FFF2-40B4-BE49-F238E27FC236}">
                <a16:creationId xmlns:a16="http://schemas.microsoft.com/office/drawing/2014/main" id="{EC60CD55-5779-480D-81AD-E8FEE347DCAF}"/>
              </a:ext>
            </a:extLst>
          </p:cNvPr>
          <p:cNvSpPr>
            <a:spLocks noGrp="1"/>
          </p:cNvSpPr>
          <p:nvPr/>
        </p:nvSpPr>
        <p:spPr>
          <a:xfrm>
            <a:off x="0" y="0"/>
            <a:ext cx="12192000" cy="6858000"/>
          </a:xfrm>
          <a:prstGeom prst="rect">
            <a:avLst/>
          </a:prstGeom>
          <a:solidFill>
            <a:srgbClr val="FFFFFF"/>
          </a:solidFill>
          <a:ln w="0">
            <a:solidFill>
              <a:srgbClr val="FFFFFF"/>
            </a:solidFill>
          </a:ln>
        </p:spPr>
        <p:txBody>
          <a:bodyPr/>
          <a:lstStyle/>
          <a:p>
            <a:endParaRPr lang="it-IT"/>
          </a:p>
        </p:txBody>
      </p:sp>
      <p:sp>
        <p:nvSpPr>
          <p:cNvPr id="2" name="Rettangolo 1">
            <a:extLst>
              <a:ext uri="{FF2B5EF4-FFF2-40B4-BE49-F238E27FC236}">
                <a16:creationId xmlns:a16="http://schemas.microsoft.com/office/drawing/2014/main" id="{7B27EF54-F76A-44D0-987A-56B9065C72F0}"/>
              </a:ext>
            </a:extLst>
          </p:cNvPr>
          <p:cNvSpPr>
            <a:spLocks noGrp="1"/>
          </p:cNvSpPr>
          <p:nvPr/>
        </p:nvSpPr>
        <p:spPr>
          <a:xfrm>
            <a:off x="419100" y="285750"/>
            <a:ext cx="9334500" cy="476250"/>
          </a:xfrm>
          <a:prstGeom prst="rect">
            <a:avLst/>
          </a:prstGeom>
          <a:noFill/>
          <a:ln w="0">
            <a:noFill/>
          </a:ln>
        </p:spPr>
        <p:txBody>
          <a:bodyPr>
            <a:normAutofit fontScale="94670"/>
          </a:bodyPr>
          <a:lstStyle/>
          <a:p>
            <a:pPr algn="l">
              <a:defRPr sz="1875" b="1">
                <a:solidFill>
                  <a:srgbClr val="1D776B"/>
                </a:solidFill>
                <a:latin typeface="Calibri"/>
                <a:ea typeface="Calibri"/>
                <a:cs typeface="Calibri"/>
              </a:defRPr>
            </a:pPr>
            <a:r>
              <a:rPr sz="1875" b="1">
                <a:solidFill>
                  <a:srgbClr val="1D776B"/>
                </a:solidFill>
                <a:latin typeface="Calibri"/>
                <a:ea typeface="Calibri"/>
                <a:cs typeface="Calibri"/>
              </a:rPr>
              <a:t>Erica usa più framework e vuole aggiungere una vista strutturata sul rischio climatico</a:t>
            </a:r>
          </a:p>
        </p:txBody>
      </p:sp>
      <p:sp>
        <p:nvSpPr>
          <p:cNvPr id="3" name="Rettangolo 2">
            <a:extLst>
              <a:ext uri="{FF2B5EF4-FFF2-40B4-BE49-F238E27FC236}">
                <a16:creationId xmlns:a16="http://schemas.microsoft.com/office/drawing/2014/main" id="{BD6DDBF2-4D47-4D08-9666-ECC8D986152B}"/>
              </a:ext>
            </a:extLst>
          </p:cNvPr>
          <p:cNvSpPr>
            <a:spLocks noGrp="1"/>
          </p:cNvSpPr>
          <p:nvPr/>
        </p:nvSpPr>
        <p:spPr>
          <a:xfrm>
            <a:off x="419100" y="714375"/>
            <a:ext cx="9810750" cy="333375"/>
          </a:xfrm>
          <a:prstGeom prst="rect">
            <a:avLst/>
          </a:prstGeom>
          <a:noFill/>
          <a:ln w="0">
            <a:noFill/>
          </a:ln>
        </p:spPr>
        <p:txBody>
          <a:bodyPr>
            <a:normAutofit/>
          </a:bodyPr>
          <a:lstStyle/>
          <a:p>
            <a:pPr algn="l">
              <a:defRPr sz="1200" b="0">
                <a:solidFill>
                  <a:srgbClr val="4D6D67"/>
                </a:solidFill>
                <a:latin typeface="Calibri"/>
                <a:ea typeface="Calibri"/>
                <a:cs typeface="Calibri"/>
              </a:defRPr>
            </a:pPr>
            <a:r>
              <a:rPr sz="1200" b="0">
                <a:solidFill>
                  <a:srgbClr val="4D6D67"/>
                </a:solidFill>
                <a:latin typeface="Calibri"/>
                <a:ea typeface="Calibri"/>
                <a:cs typeface="Calibri"/>
              </a:rPr>
              <a:t>Framework dichiarati nel questionario Envizi Quest</a:t>
            </a:r>
          </a:p>
        </p:txBody>
      </p:sp>
      <p:pic>
        <p:nvPicPr>
          <p:cNvPr id="45" name="Immagine 44"/>
          <p:cNvPicPr>
            <a:picLocks noChangeAspect="1"/>
          </p:cNvPicPr>
          <p:nvPr/>
        </p:nvPicPr>
        <p:blipFill>
          <a:blip r:embed="rId3"/>
          <a:stretch/>
        </p:blipFill>
        <p:spPr>
          <a:xfrm>
            <a:off x="10191750" y="228600"/>
            <a:ext cx="1571625" cy="523875"/>
          </a:xfrm>
          <a:prstGeom prst="rect">
            <a:avLst/>
          </a:prstGeom>
        </p:spPr>
      </p:pic>
      <p:sp>
        <p:nvSpPr>
          <p:cNvPr id="5" name="Rettangolo 4">
            <a:extLst>
              <a:ext uri="{FF2B5EF4-FFF2-40B4-BE49-F238E27FC236}">
                <a16:creationId xmlns:a16="http://schemas.microsoft.com/office/drawing/2014/main" id="{39D4D5AE-C568-47BB-87F8-74B1ED80CD13}"/>
              </a:ext>
            </a:extLst>
          </p:cNvPr>
          <p:cNvSpPr>
            <a:spLocks noGrp="1"/>
          </p:cNvSpPr>
          <p:nvPr/>
        </p:nvSpPr>
        <p:spPr>
          <a:xfrm>
            <a:off x="590550" y="1219200"/>
            <a:ext cx="2857500" cy="285750"/>
          </a:xfrm>
          <a:prstGeom prst="rect">
            <a:avLst/>
          </a:prstGeom>
          <a:noFill/>
          <a:ln w="0">
            <a:noFill/>
          </a:ln>
        </p:spPr>
        <p:txBody>
          <a:bodyPr>
            <a:normAutofit/>
          </a:bodyPr>
          <a:lstStyle/>
          <a:p>
            <a:pPr algn="l">
              <a:defRPr sz="1125" b="1">
                <a:solidFill>
                  <a:srgbClr val="1D776B"/>
                </a:solidFill>
                <a:latin typeface="Calibri"/>
                <a:ea typeface="Calibri"/>
                <a:cs typeface="Calibri"/>
              </a:defRPr>
            </a:pPr>
            <a:r>
              <a:rPr sz="1125" b="1">
                <a:solidFill>
                  <a:srgbClr val="1D776B"/>
                </a:solidFill>
                <a:latin typeface="Calibri"/>
                <a:ea typeface="Calibri"/>
                <a:cs typeface="Calibri"/>
              </a:rPr>
              <a:t>IN USO</a:t>
            </a:r>
          </a:p>
        </p:txBody>
      </p:sp>
      <p:sp>
        <p:nvSpPr>
          <p:cNvPr id="6" name="Rettangolo con angoli arrotondati 5">
            <a:extLst>
              <a:ext uri="{FF2B5EF4-FFF2-40B4-BE49-F238E27FC236}">
                <a16:creationId xmlns:a16="http://schemas.microsoft.com/office/drawing/2014/main" id="{F0C911DD-9CF4-4B89-A15F-9F4A122C9312}"/>
              </a:ext>
            </a:extLst>
          </p:cNvPr>
          <p:cNvSpPr>
            <a:spLocks noGrp="1"/>
          </p:cNvSpPr>
          <p:nvPr/>
        </p:nvSpPr>
        <p:spPr>
          <a:xfrm>
            <a:off x="590550" y="16764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7" name="Ovale 6">
            <a:extLst>
              <a:ext uri="{FF2B5EF4-FFF2-40B4-BE49-F238E27FC236}">
                <a16:creationId xmlns:a16="http://schemas.microsoft.com/office/drawing/2014/main" id="{E5D790F8-B723-4EE5-9D8E-EDC768A162F3}"/>
              </a:ext>
            </a:extLst>
          </p:cNvPr>
          <p:cNvSpPr>
            <a:spLocks noGrp="1"/>
          </p:cNvSpPr>
          <p:nvPr/>
        </p:nvSpPr>
        <p:spPr>
          <a:xfrm>
            <a:off x="762000" y="1866900"/>
            <a:ext cx="247650" cy="247650"/>
          </a:xfrm>
          <a:prstGeom prst="ellipse">
            <a:avLst/>
          </a:prstGeom>
          <a:solidFill>
            <a:srgbClr val="42CBB2"/>
          </a:solidFill>
          <a:ln w="0">
            <a:solidFill>
              <a:srgbClr val="42CBB2"/>
            </a:solidFill>
          </a:ln>
        </p:spPr>
        <p:txBody>
          <a:bodyPr/>
          <a:lstStyle/>
          <a:p>
            <a:endParaRPr lang="it-IT"/>
          </a:p>
        </p:txBody>
      </p:sp>
      <p:sp>
        <p:nvSpPr>
          <p:cNvPr id="8" name="Rettangolo 7">
            <a:extLst>
              <a:ext uri="{FF2B5EF4-FFF2-40B4-BE49-F238E27FC236}">
                <a16:creationId xmlns:a16="http://schemas.microsoft.com/office/drawing/2014/main" id="{7F41637A-87D3-4AB5-A36B-22800B7B4FBE}"/>
              </a:ext>
            </a:extLst>
          </p:cNvPr>
          <p:cNvSpPr>
            <a:spLocks noGrp="1"/>
          </p:cNvSpPr>
          <p:nvPr/>
        </p:nvSpPr>
        <p:spPr>
          <a:xfrm>
            <a:off x="800100" y="18478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9" name="Rettangolo 8">
            <a:extLst>
              <a:ext uri="{FF2B5EF4-FFF2-40B4-BE49-F238E27FC236}">
                <a16:creationId xmlns:a16="http://schemas.microsoft.com/office/drawing/2014/main" id="{6710A300-6F86-410B-93FD-D42A3AFAFD03}"/>
              </a:ext>
            </a:extLst>
          </p:cNvPr>
          <p:cNvSpPr>
            <a:spLocks noGrp="1"/>
          </p:cNvSpPr>
          <p:nvPr/>
        </p:nvSpPr>
        <p:spPr>
          <a:xfrm>
            <a:off x="1143000" y="18383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GRI Standards</a:t>
            </a:r>
          </a:p>
        </p:txBody>
      </p:sp>
      <p:sp>
        <p:nvSpPr>
          <p:cNvPr id="10" name="Rettangolo con angoli arrotondati 9">
            <a:extLst>
              <a:ext uri="{FF2B5EF4-FFF2-40B4-BE49-F238E27FC236}">
                <a16:creationId xmlns:a16="http://schemas.microsoft.com/office/drawing/2014/main" id="{8BDFC01E-B781-43D8-BDFF-849D72810352}"/>
              </a:ext>
            </a:extLst>
          </p:cNvPr>
          <p:cNvSpPr>
            <a:spLocks noGrp="1"/>
          </p:cNvSpPr>
          <p:nvPr/>
        </p:nvSpPr>
        <p:spPr>
          <a:xfrm>
            <a:off x="3543300" y="16764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11" name="Ovale 10">
            <a:extLst>
              <a:ext uri="{FF2B5EF4-FFF2-40B4-BE49-F238E27FC236}">
                <a16:creationId xmlns:a16="http://schemas.microsoft.com/office/drawing/2014/main" id="{ED0BA88C-D4E1-4773-A59D-72D9276B0D51}"/>
              </a:ext>
            </a:extLst>
          </p:cNvPr>
          <p:cNvSpPr>
            <a:spLocks noGrp="1"/>
          </p:cNvSpPr>
          <p:nvPr/>
        </p:nvSpPr>
        <p:spPr>
          <a:xfrm>
            <a:off x="3714750" y="1866900"/>
            <a:ext cx="247650" cy="247650"/>
          </a:xfrm>
          <a:prstGeom prst="ellipse">
            <a:avLst/>
          </a:prstGeom>
          <a:solidFill>
            <a:srgbClr val="42CBB2"/>
          </a:solidFill>
          <a:ln w="0">
            <a:solidFill>
              <a:srgbClr val="42CBB2"/>
            </a:solidFill>
          </a:ln>
        </p:spPr>
        <p:txBody>
          <a:bodyPr/>
          <a:lstStyle/>
          <a:p>
            <a:endParaRPr lang="it-IT"/>
          </a:p>
        </p:txBody>
      </p:sp>
      <p:sp>
        <p:nvSpPr>
          <p:cNvPr id="12" name="Rettangolo 11">
            <a:extLst>
              <a:ext uri="{FF2B5EF4-FFF2-40B4-BE49-F238E27FC236}">
                <a16:creationId xmlns:a16="http://schemas.microsoft.com/office/drawing/2014/main" id="{5B5E996A-FA6E-4B90-90B4-A3BE1902BCA9}"/>
              </a:ext>
            </a:extLst>
          </p:cNvPr>
          <p:cNvSpPr>
            <a:spLocks noGrp="1"/>
          </p:cNvSpPr>
          <p:nvPr/>
        </p:nvSpPr>
        <p:spPr>
          <a:xfrm>
            <a:off x="3752850" y="18478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13" name="Rettangolo 12">
            <a:extLst>
              <a:ext uri="{FF2B5EF4-FFF2-40B4-BE49-F238E27FC236}">
                <a16:creationId xmlns:a16="http://schemas.microsoft.com/office/drawing/2014/main" id="{D1183A8D-24B2-499A-862E-F7ADDD667203}"/>
              </a:ext>
            </a:extLst>
          </p:cNvPr>
          <p:cNvSpPr>
            <a:spLocks noGrp="1"/>
          </p:cNvSpPr>
          <p:nvPr/>
        </p:nvSpPr>
        <p:spPr>
          <a:xfrm>
            <a:off x="4095750" y="18383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SASB Standards</a:t>
            </a:r>
          </a:p>
        </p:txBody>
      </p:sp>
      <p:sp>
        <p:nvSpPr>
          <p:cNvPr id="14" name="Rettangolo con angoli arrotondati 13">
            <a:extLst>
              <a:ext uri="{FF2B5EF4-FFF2-40B4-BE49-F238E27FC236}">
                <a16:creationId xmlns:a16="http://schemas.microsoft.com/office/drawing/2014/main" id="{2218B4B8-C463-476E-A154-050BCED86292}"/>
              </a:ext>
            </a:extLst>
          </p:cNvPr>
          <p:cNvSpPr>
            <a:spLocks noGrp="1"/>
          </p:cNvSpPr>
          <p:nvPr/>
        </p:nvSpPr>
        <p:spPr>
          <a:xfrm>
            <a:off x="590550" y="25527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15" name="Ovale 14">
            <a:extLst>
              <a:ext uri="{FF2B5EF4-FFF2-40B4-BE49-F238E27FC236}">
                <a16:creationId xmlns:a16="http://schemas.microsoft.com/office/drawing/2014/main" id="{95CECBF9-789C-4F2B-90D9-0D98292E69A5}"/>
              </a:ext>
            </a:extLst>
          </p:cNvPr>
          <p:cNvSpPr>
            <a:spLocks noGrp="1"/>
          </p:cNvSpPr>
          <p:nvPr/>
        </p:nvSpPr>
        <p:spPr>
          <a:xfrm>
            <a:off x="762000" y="2743200"/>
            <a:ext cx="247650" cy="247650"/>
          </a:xfrm>
          <a:prstGeom prst="ellipse">
            <a:avLst/>
          </a:prstGeom>
          <a:solidFill>
            <a:srgbClr val="42CBB2"/>
          </a:solidFill>
          <a:ln w="0">
            <a:solidFill>
              <a:srgbClr val="42CBB2"/>
            </a:solidFill>
          </a:ln>
        </p:spPr>
        <p:txBody>
          <a:bodyPr/>
          <a:lstStyle/>
          <a:p>
            <a:endParaRPr lang="it-IT"/>
          </a:p>
        </p:txBody>
      </p:sp>
      <p:sp>
        <p:nvSpPr>
          <p:cNvPr id="16" name="Rettangolo 15">
            <a:extLst>
              <a:ext uri="{FF2B5EF4-FFF2-40B4-BE49-F238E27FC236}">
                <a16:creationId xmlns:a16="http://schemas.microsoft.com/office/drawing/2014/main" id="{0F45D2DB-8F31-4FA7-91A7-90EBA9BE8E59}"/>
              </a:ext>
            </a:extLst>
          </p:cNvPr>
          <p:cNvSpPr>
            <a:spLocks noGrp="1"/>
          </p:cNvSpPr>
          <p:nvPr/>
        </p:nvSpPr>
        <p:spPr>
          <a:xfrm>
            <a:off x="800100" y="27241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17" name="Rettangolo 16">
            <a:extLst>
              <a:ext uri="{FF2B5EF4-FFF2-40B4-BE49-F238E27FC236}">
                <a16:creationId xmlns:a16="http://schemas.microsoft.com/office/drawing/2014/main" id="{D0DE2195-A56B-42C3-957A-E725904B6838}"/>
              </a:ext>
            </a:extLst>
          </p:cNvPr>
          <p:cNvSpPr>
            <a:spLocks noGrp="1"/>
          </p:cNvSpPr>
          <p:nvPr/>
        </p:nvSpPr>
        <p:spPr>
          <a:xfrm>
            <a:off x="1143000" y="27146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GHG Protocol</a:t>
            </a:r>
          </a:p>
        </p:txBody>
      </p:sp>
      <p:sp>
        <p:nvSpPr>
          <p:cNvPr id="18" name="Rettangolo con angoli arrotondati 17">
            <a:extLst>
              <a:ext uri="{FF2B5EF4-FFF2-40B4-BE49-F238E27FC236}">
                <a16:creationId xmlns:a16="http://schemas.microsoft.com/office/drawing/2014/main" id="{14941870-0C4B-4344-9816-A4A55CAD56EA}"/>
              </a:ext>
            </a:extLst>
          </p:cNvPr>
          <p:cNvSpPr>
            <a:spLocks noGrp="1"/>
          </p:cNvSpPr>
          <p:nvPr/>
        </p:nvSpPr>
        <p:spPr>
          <a:xfrm>
            <a:off x="3543300" y="25527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19" name="Ovale 18">
            <a:extLst>
              <a:ext uri="{FF2B5EF4-FFF2-40B4-BE49-F238E27FC236}">
                <a16:creationId xmlns:a16="http://schemas.microsoft.com/office/drawing/2014/main" id="{16DD1A2D-1076-4A7C-A96D-15C790E2E6D5}"/>
              </a:ext>
            </a:extLst>
          </p:cNvPr>
          <p:cNvSpPr>
            <a:spLocks noGrp="1"/>
          </p:cNvSpPr>
          <p:nvPr/>
        </p:nvSpPr>
        <p:spPr>
          <a:xfrm>
            <a:off x="3714750" y="2743200"/>
            <a:ext cx="247650" cy="247650"/>
          </a:xfrm>
          <a:prstGeom prst="ellipse">
            <a:avLst/>
          </a:prstGeom>
          <a:solidFill>
            <a:srgbClr val="42CBB2"/>
          </a:solidFill>
          <a:ln w="0">
            <a:solidFill>
              <a:srgbClr val="42CBB2"/>
            </a:solidFill>
          </a:ln>
        </p:spPr>
        <p:txBody>
          <a:bodyPr/>
          <a:lstStyle/>
          <a:p>
            <a:endParaRPr lang="it-IT"/>
          </a:p>
        </p:txBody>
      </p:sp>
      <p:sp>
        <p:nvSpPr>
          <p:cNvPr id="20" name="Rettangolo 19">
            <a:extLst>
              <a:ext uri="{FF2B5EF4-FFF2-40B4-BE49-F238E27FC236}">
                <a16:creationId xmlns:a16="http://schemas.microsoft.com/office/drawing/2014/main" id="{43F290FA-51B9-4E2F-8681-EB07A1F6A448}"/>
              </a:ext>
            </a:extLst>
          </p:cNvPr>
          <p:cNvSpPr>
            <a:spLocks noGrp="1"/>
          </p:cNvSpPr>
          <p:nvPr/>
        </p:nvSpPr>
        <p:spPr>
          <a:xfrm>
            <a:off x="3752850" y="27241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21" name="Rettangolo 20">
            <a:extLst>
              <a:ext uri="{FF2B5EF4-FFF2-40B4-BE49-F238E27FC236}">
                <a16:creationId xmlns:a16="http://schemas.microsoft.com/office/drawing/2014/main" id="{DE8CC99F-CF51-4B5C-86A9-C5F32942C096}"/>
              </a:ext>
            </a:extLst>
          </p:cNvPr>
          <p:cNvSpPr>
            <a:spLocks noGrp="1"/>
          </p:cNvSpPr>
          <p:nvPr/>
        </p:nvSpPr>
        <p:spPr>
          <a:xfrm>
            <a:off x="4095750" y="27146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UN SDGs</a:t>
            </a:r>
          </a:p>
        </p:txBody>
      </p:sp>
      <p:sp>
        <p:nvSpPr>
          <p:cNvPr id="22" name="Rettangolo con angoli arrotondati 21">
            <a:extLst>
              <a:ext uri="{FF2B5EF4-FFF2-40B4-BE49-F238E27FC236}">
                <a16:creationId xmlns:a16="http://schemas.microsoft.com/office/drawing/2014/main" id="{46EEF6FB-45A4-41E4-8359-B08CFF52E809}"/>
              </a:ext>
            </a:extLst>
          </p:cNvPr>
          <p:cNvSpPr>
            <a:spLocks noGrp="1"/>
          </p:cNvSpPr>
          <p:nvPr/>
        </p:nvSpPr>
        <p:spPr>
          <a:xfrm>
            <a:off x="590550" y="34290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23" name="Ovale 22">
            <a:extLst>
              <a:ext uri="{FF2B5EF4-FFF2-40B4-BE49-F238E27FC236}">
                <a16:creationId xmlns:a16="http://schemas.microsoft.com/office/drawing/2014/main" id="{A297166F-32D8-4B96-83C3-9DCF442F9546}"/>
              </a:ext>
            </a:extLst>
          </p:cNvPr>
          <p:cNvSpPr>
            <a:spLocks noGrp="1"/>
          </p:cNvSpPr>
          <p:nvPr/>
        </p:nvSpPr>
        <p:spPr>
          <a:xfrm>
            <a:off x="762000" y="3619500"/>
            <a:ext cx="247650" cy="247650"/>
          </a:xfrm>
          <a:prstGeom prst="ellipse">
            <a:avLst/>
          </a:prstGeom>
          <a:solidFill>
            <a:srgbClr val="42CBB2"/>
          </a:solidFill>
          <a:ln w="0">
            <a:solidFill>
              <a:srgbClr val="42CBB2"/>
            </a:solidFill>
          </a:ln>
        </p:spPr>
        <p:txBody>
          <a:bodyPr/>
          <a:lstStyle/>
          <a:p>
            <a:endParaRPr lang="it-IT"/>
          </a:p>
        </p:txBody>
      </p:sp>
      <p:sp>
        <p:nvSpPr>
          <p:cNvPr id="24" name="Rettangolo 23">
            <a:extLst>
              <a:ext uri="{FF2B5EF4-FFF2-40B4-BE49-F238E27FC236}">
                <a16:creationId xmlns:a16="http://schemas.microsoft.com/office/drawing/2014/main" id="{1CADAD26-1DB0-4AD1-BF37-053D6A1839E1}"/>
              </a:ext>
            </a:extLst>
          </p:cNvPr>
          <p:cNvSpPr>
            <a:spLocks noGrp="1"/>
          </p:cNvSpPr>
          <p:nvPr/>
        </p:nvSpPr>
        <p:spPr>
          <a:xfrm>
            <a:off x="800100" y="36004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25" name="Rettangolo 24">
            <a:extLst>
              <a:ext uri="{FF2B5EF4-FFF2-40B4-BE49-F238E27FC236}">
                <a16:creationId xmlns:a16="http://schemas.microsoft.com/office/drawing/2014/main" id="{B8DBAE4B-8862-4132-88C6-97AFB10C84DC}"/>
              </a:ext>
            </a:extLst>
          </p:cNvPr>
          <p:cNvSpPr>
            <a:spLocks noGrp="1"/>
          </p:cNvSpPr>
          <p:nvPr/>
        </p:nvSpPr>
        <p:spPr>
          <a:xfrm>
            <a:off x="1143000" y="35909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SFDR</a:t>
            </a:r>
          </a:p>
        </p:txBody>
      </p:sp>
      <p:sp>
        <p:nvSpPr>
          <p:cNvPr id="26" name="Rettangolo con angoli arrotondati 25">
            <a:extLst>
              <a:ext uri="{FF2B5EF4-FFF2-40B4-BE49-F238E27FC236}">
                <a16:creationId xmlns:a16="http://schemas.microsoft.com/office/drawing/2014/main" id="{E9149BE5-B33D-4A0E-9F28-CC91A70CEAF5}"/>
              </a:ext>
            </a:extLst>
          </p:cNvPr>
          <p:cNvSpPr>
            <a:spLocks noGrp="1"/>
          </p:cNvSpPr>
          <p:nvPr/>
        </p:nvSpPr>
        <p:spPr>
          <a:xfrm>
            <a:off x="3543300" y="34290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27" name="Ovale 26">
            <a:extLst>
              <a:ext uri="{FF2B5EF4-FFF2-40B4-BE49-F238E27FC236}">
                <a16:creationId xmlns:a16="http://schemas.microsoft.com/office/drawing/2014/main" id="{C37B95A1-A59E-45B9-B22F-193663C9CD44}"/>
              </a:ext>
            </a:extLst>
          </p:cNvPr>
          <p:cNvSpPr>
            <a:spLocks noGrp="1"/>
          </p:cNvSpPr>
          <p:nvPr/>
        </p:nvSpPr>
        <p:spPr>
          <a:xfrm>
            <a:off x="3714750" y="3619500"/>
            <a:ext cx="247650" cy="247650"/>
          </a:xfrm>
          <a:prstGeom prst="ellipse">
            <a:avLst/>
          </a:prstGeom>
          <a:solidFill>
            <a:srgbClr val="42CBB2"/>
          </a:solidFill>
          <a:ln w="0">
            <a:solidFill>
              <a:srgbClr val="42CBB2"/>
            </a:solidFill>
          </a:ln>
        </p:spPr>
        <p:txBody>
          <a:bodyPr/>
          <a:lstStyle/>
          <a:p>
            <a:endParaRPr lang="it-IT"/>
          </a:p>
        </p:txBody>
      </p:sp>
      <p:sp>
        <p:nvSpPr>
          <p:cNvPr id="28" name="Rettangolo 27">
            <a:extLst>
              <a:ext uri="{FF2B5EF4-FFF2-40B4-BE49-F238E27FC236}">
                <a16:creationId xmlns:a16="http://schemas.microsoft.com/office/drawing/2014/main" id="{346EA6C4-CF9C-43E0-B8C4-96BEC2EDD86D}"/>
              </a:ext>
            </a:extLst>
          </p:cNvPr>
          <p:cNvSpPr>
            <a:spLocks noGrp="1"/>
          </p:cNvSpPr>
          <p:nvPr/>
        </p:nvSpPr>
        <p:spPr>
          <a:xfrm>
            <a:off x="3752850" y="36004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29" name="Rettangolo 28">
            <a:extLst>
              <a:ext uri="{FF2B5EF4-FFF2-40B4-BE49-F238E27FC236}">
                <a16:creationId xmlns:a16="http://schemas.microsoft.com/office/drawing/2014/main" id="{03D8171B-C70B-428A-A7EB-D088CF7B83E4}"/>
              </a:ext>
            </a:extLst>
          </p:cNvPr>
          <p:cNvSpPr>
            <a:spLocks noGrp="1"/>
          </p:cNvSpPr>
          <p:nvPr/>
        </p:nvSpPr>
        <p:spPr>
          <a:xfrm>
            <a:off x="4095750" y="35909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SECR</a:t>
            </a:r>
          </a:p>
        </p:txBody>
      </p:sp>
      <p:sp>
        <p:nvSpPr>
          <p:cNvPr id="30" name="Rettangolo con angoli arrotondati 29">
            <a:extLst>
              <a:ext uri="{FF2B5EF4-FFF2-40B4-BE49-F238E27FC236}">
                <a16:creationId xmlns:a16="http://schemas.microsoft.com/office/drawing/2014/main" id="{7A4C6A89-8E52-47FF-B87B-8D2BED7D4B89}"/>
              </a:ext>
            </a:extLst>
          </p:cNvPr>
          <p:cNvSpPr>
            <a:spLocks noGrp="1"/>
          </p:cNvSpPr>
          <p:nvPr/>
        </p:nvSpPr>
        <p:spPr>
          <a:xfrm>
            <a:off x="590550" y="4305300"/>
            <a:ext cx="2647950" cy="628650"/>
          </a:xfrm>
          <a:prstGeom prst="roundRect">
            <a:avLst>
              <a:gd name="adj" fmla="val 18182"/>
            </a:avLst>
          </a:prstGeom>
          <a:solidFill>
            <a:srgbClr val="FFFFFF"/>
          </a:solidFill>
          <a:ln w="9525">
            <a:solidFill>
              <a:srgbClr val="B9D7CC"/>
            </a:solidFill>
          </a:ln>
        </p:spPr>
        <p:txBody>
          <a:bodyPr/>
          <a:lstStyle/>
          <a:p>
            <a:endParaRPr lang="it-IT"/>
          </a:p>
        </p:txBody>
      </p:sp>
      <p:sp>
        <p:nvSpPr>
          <p:cNvPr id="31" name="Ovale 30">
            <a:extLst>
              <a:ext uri="{FF2B5EF4-FFF2-40B4-BE49-F238E27FC236}">
                <a16:creationId xmlns:a16="http://schemas.microsoft.com/office/drawing/2014/main" id="{99DA0BA4-967F-409E-9FD2-21A13AADC858}"/>
              </a:ext>
            </a:extLst>
          </p:cNvPr>
          <p:cNvSpPr>
            <a:spLocks noGrp="1"/>
          </p:cNvSpPr>
          <p:nvPr/>
        </p:nvSpPr>
        <p:spPr>
          <a:xfrm>
            <a:off x="762000" y="4495800"/>
            <a:ext cx="247650" cy="247650"/>
          </a:xfrm>
          <a:prstGeom prst="ellipse">
            <a:avLst/>
          </a:prstGeom>
          <a:solidFill>
            <a:srgbClr val="42CBB2"/>
          </a:solidFill>
          <a:ln w="0">
            <a:solidFill>
              <a:srgbClr val="42CBB2"/>
            </a:solidFill>
          </a:ln>
        </p:spPr>
        <p:txBody>
          <a:bodyPr/>
          <a:lstStyle/>
          <a:p>
            <a:endParaRPr lang="it-IT"/>
          </a:p>
        </p:txBody>
      </p:sp>
      <p:sp>
        <p:nvSpPr>
          <p:cNvPr id="32" name="Rettangolo 31">
            <a:extLst>
              <a:ext uri="{FF2B5EF4-FFF2-40B4-BE49-F238E27FC236}">
                <a16:creationId xmlns:a16="http://schemas.microsoft.com/office/drawing/2014/main" id="{8689AC1B-881D-4D3F-B0AD-3E2AD3102CB0}"/>
              </a:ext>
            </a:extLst>
          </p:cNvPr>
          <p:cNvSpPr>
            <a:spLocks noGrp="1"/>
          </p:cNvSpPr>
          <p:nvPr/>
        </p:nvSpPr>
        <p:spPr>
          <a:xfrm>
            <a:off x="800100" y="4476750"/>
            <a:ext cx="190500" cy="238125"/>
          </a:xfrm>
          <a:prstGeom prst="rect">
            <a:avLst/>
          </a:prstGeom>
          <a:noFill/>
          <a:ln w="0">
            <a:noFill/>
          </a:ln>
        </p:spPr>
        <p:txBody>
          <a:bodyPr>
            <a:normAutofit fontScale="10000"/>
          </a:bodyPr>
          <a:lstStyle/>
          <a:p>
            <a:pPr algn="ctr">
              <a:defRPr sz="1200" b="1">
                <a:solidFill>
                  <a:srgbClr val="FFFFFF"/>
                </a:solidFill>
                <a:latin typeface="Calibri"/>
                <a:ea typeface="Calibri"/>
                <a:cs typeface="Calibri"/>
              </a:defRPr>
            </a:pPr>
            <a:r>
              <a:rPr sz="1200" b="1">
                <a:solidFill>
                  <a:srgbClr val="FFFFFF"/>
                </a:solidFill>
                <a:latin typeface="Calibri"/>
                <a:ea typeface="Calibri"/>
                <a:cs typeface="Calibri"/>
              </a:rPr>
              <a:t>✓</a:t>
            </a:r>
          </a:p>
        </p:txBody>
      </p:sp>
      <p:sp>
        <p:nvSpPr>
          <p:cNvPr id="33" name="Rettangolo 32">
            <a:extLst>
              <a:ext uri="{FF2B5EF4-FFF2-40B4-BE49-F238E27FC236}">
                <a16:creationId xmlns:a16="http://schemas.microsoft.com/office/drawing/2014/main" id="{35CB2210-0D16-40A5-AB99-715B1B19DF85}"/>
              </a:ext>
            </a:extLst>
          </p:cNvPr>
          <p:cNvSpPr>
            <a:spLocks noGrp="1"/>
          </p:cNvSpPr>
          <p:nvPr/>
        </p:nvSpPr>
        <p:spPr>
          <a:xfrm>
            <a:off x="1143000" y="4467225"/>
            <a:ext cx="1866900" cy="304800"/>
          </a:xfrm>
          <a:prstGeom prst="rect">
            <a:avLst/>
          </a:prstGeom>
          <a:noFill/>
          <a:ln w="0">
            <a:noFill/>
          </a:ln>
        </p:spPr>
        <p:txBody>
          <a:bodyPr>
            <a:normAutofit/>
          </a:bodyPr>
          <a:lstStyle/>
          <a:p>
            <a:pPr algn="l">
              <a:defRPr sz="1275" b="1">
                <a:solidFill>
                  <a:srgbClr val="062D29"/>
                </a:solidFill>
                <a:latin typeface="Calibri"/>
                <a:ea typeface="Calibri"/>
                <a:cs typeface="Calibri"/>
              </a:defRPr>
            </a:pPr>
            <a:r>
              <a:rPr sz="1275" b="1">
                <a:solidFill>
                  <a:srgbClr val="062D29"/>
                </a:solidFill>
                <a:latin typeface="Calibri"/>
                <a:ea typeface="Calibri"/>
                <a:cs typeface="Calibri"/>
              </a:rPr>
              <a:t>NABERS</a:t>
            </a:r>
          </a:p>
        </p:txBody>
      </p:sp>
      <p:sp>
        <p:nvSpPr>
          <p:cNvPr id="34" name="Rettangolo con angoli arrotondati 33">
            <a:extLst>
              <a:ext uri="{FF2B5EF4-FFF2-40B4-BE49-F238E27FC236}">
                <a16:creationId xmlns:a16="http://schemas.microsoft.com/office/drawing/2014/main" id="{4AEC0AF7-E30C-4AE8-B341-82B93907DB16}"/>
              </a:ext>
            </a:extLst>
          </p:cNvPr>
          <p:cNvSpPr>
            <a:spLocks noGrp="1"/>
          </p:cNvSpPr>
          <p:nvPr/>
        </p:nvSpPr>
        <p:spPr>
          <a:xfrm>
            <a:off x="6858000" y="1219200"/>
            <a:ext cx="4762500" cy="2667000"/>
          </a:xfrm>
          <a:prstGeom prst="roundRect">
            <a:avLst>
              <a:gd name="adj" fmla="val 5714"/>
            </a:avLst>
          </a:prstGeom>
          <a:solidFill>
            <a:srgbClr val="062D29"/>
          </a:solidFill>
          <a:ln w="9525">
            <a:solidFill>
              <a:srgbClr val="062D29"/>
            </a:solidFill>
          </a:ln>
        </p:spPr>
        <p:txBody>
          <a:bodyPr/>
          <a:lstStyle/>
          <a:p>
            <a:endParaRPr lang="it-IT"/>
          </a:p>
        </p:txBody>
      </p:sp>
      <p:sp>
        <p:nvSpPr>
          <p:cNvPr id="35" name="Rettangolo 34">
            <a:extLst>
              <a:ext uri="{FF2B5EF4-FFF2-40B4-BE49-F238E27FC236}">
                <a16:creationId xmlns:a16="http://schemas.microsoft.com/office/drawing/2014/main" id="{16BFD123-FCA9-4898-9433-21E3FA2CEA73}"/>
              </a:ext>
            </a:extLst>
          </p:cNvPr>
          <p:cNvSpPr>
            <a:spLocks noGrp="1"/>
          </p:cNvSpPr>
          <p:nvPr/>
        </p:nvSpPr>
        <p:spPr>
          <a:xfrm>
            <a:off x="7162800" y="1524000"/>
            <a:ext cx="2857500" cy="285750"/>
          </a:xfrm>
          <a:prstGeom prst="rect">
            <a:avLst/>
          </a:prstGeom>
          <a:noFill/>
          <a:ln w="0">
            <a:noFill/>
          </a:ln>
        </p:spPr>
        <p:txBody>
          <a:bodyPr>
            <a:normAutofit/>
          </a:bodyPr>
          <a:lstStyle/>
          <a:p>
            <a:pPr algn="l">
              <a:defRPr sz="1125" b="1">
                <a:solidFill>
                  <a:srgbClr val="8DEBD9"/>
                </a:solidFill>
                <a:latin typeface="Calibri"/>
                <a:ea typeface="Calibri"/>
                <a:cs typeface="Calibri"/>
              </a:defRPr>
            </a:pPr>
            <a:r>
              <a:rPr sz="1125" b="1">
                <a:solidFill>
                  <a:srgbClr val="8DEBD9"/>
                </a:solidFill>
                <a:latin typeface="Calibri"/>
                <a:ea typeface="Calibri"/>
                <a:cs typeface="Calibri"/>
              </a:rPr>
              <a:t>DI INTERESSE</a:t>
            </a:r>
          </a:p>
        </p:txBody>
      </p:sp>
      <p:sp>
        <p:nvSpPr>
          <p:cNvPr id="36" name="Rettangolo 35">
            <a:extLst>
              <a:ext uri="{FF2B5EF4-FFF2-40B4-BE49-F238E27FC236}">
                <a16:creationId xmlns:a16="http://schemas.microsoft.com/office/drawing/2014/main" id="{44343CFE-56AF-4C7D-9CCA-0E8CC9F66E3B}"/>
              </a:ext>
            </a:extLst>
          </p:cNvPr>
          <p:cNvSpPr>
            <a:spLocks noGrp="1"/>
          </p:cNvSpPr>
          <p:nvPr/>
        </p:nvSpPr>
        <p:spPr>
          <a:xfrm>
            <a:off x="7162800" y="2047875"/>
            <a:ext cx="3714750" cy="533400"/>
          </a:xfrm>
          <a:prstGeom prst="rect">
            <a:avLst/>
          </a:prstGeom>
          <a:noFill/>
          <a:ln w="0">
            <a:noFill/>
          </a:ln>
        </p:spPr>
        <p:txBody>
          <a:bodyPr>
            <a:normAutofit/>
          </a:bodyPr>
          <a:lstStyle/>
          <a:p>
            <a:pPr algn="l">
              <a:defRPr sz="2625" b="1">
                <a:solidFill>
                  <a:srgbClr val="FFFFFF"/>
                </a:solidFill>
                <a:latin typeface="Calibri"/>
                <a:ea typeface="Calibri"/>
                <a:cs typeface="Calibri"/>
              </a:defRPr>
            </a:pPr>
            <a:r>
              <a:rPr sz="2625" b="1">
                <a:solidFill>
                  <a:srgbClr val="FFFFFF"/>
                </a:solidFill>
                <a:latin typeface="Calibri"/>
                <a:ea typeface="Calibri"/>
                <a:cs typeface="Calibri"/>
              </a:rPr>
              <a:t>TCFD</a:t>
            </a:r>
          </a:p>
        </p:txBody>
      </p:sp>
      <p:sp>
        <p:nvSpPr>
          <p:cNvPr id="37" name="Rettangolo 36">
            <a:extLst>
              <a:ext uri="{FF2B5EF4-FFF2-40B4-BE49-F238E27FC236}">
                <a16:creationId xmlns:a16="http://schemas.microsoft.com/office/drawing/2014/main" id="{D06C6F8F-11FA-460A-83BF-27399972EF01}"/>
              </a:ext>
            </a:extLst>
          </p:cNvPr>
          <p:cNvSpPr>
            <a:spLocks noGrp="1"/>
          </p:cNvSpPr>
          <p:nvPr/>
        </p:nvSpPr>
        <p:spPr>
          <a:xfrm>
            <a:off x="7162800" y="2781300"/>
            <a:ext cx="3886200" cy="857250"/>
          </a:xfrm>
          <a:prstGeom prst="rect">
            <a:avLst/>
          </a:prstGeom>
          <a:noFill/>
          <a:ln w="0">
            <a:noFill/>
          </a:ln>
        </p:spPr>
        <p:txBody>
          <a:bodyPr>
            <a:normAutofit/>
          </a:bodyPr>
          <a:lstStyle/>
          <a:p>
            <a:pPr algn="l">
              <a:defRPr sz="1350" b="0">
                <a:solidFill>
                  <a:srgbClr val="FFFFFF"/>
                </a:solidFill>
                <a:latin typeface="Calibri"/>
                <a:ea typeface="Calibri"/>
                <a:cs typeface="Calibri"/>
              </a:defRPr>
            </a:pPr>
            <a:r>
              <a:rPr sz="1350" b="0">
                <a:solidFill>
                  <a:srgbClr val="FFFFFF"/>
                </a:solidFill>
                <a:latin typeface="Calibri"/>
                <a:ea typeface="Calibri"/>
                <a:cs typeface="Calibri"/>
              </a:rPr>
              <a:t>Governance, strategia, gestione del rischio e metriche climatiche in una struttura coerente per investitori e finanziatori.</a:t>
            </a:r>
          </a:p>
        </p:txBody>
      </p:sp>
      <p:sp>
        <p:nvSpPr>
          <p:cNvPr id="38" name="Rettangolo con angoli arrotondati 37">
            <a:extLst>
              <a:ext uri="{FF2B5EF4-FFF2-40B4-BE49-F238E27FC236}">
                <a16:creationId xmlns:a16="http://schemas.microsoft.com/office/drawing/2014/main" id="{1BEB0C30-D501-4E26-8672-4D6D71775BA5}"/>
              </a:ext>
            </a:extLst>
          </p:cNvPr>
          <p:cNvSpPr>
            <a:spLocks noGrp="1"/>
          </p:cNvSpPr>
          <p:nvPr/>
        </p:nvSpPr>
        <p:spPr>
          <a:xfrm>
            <a:off x="6858000" y="4171950"/>
            <a:ext cx="4762500" cy="1466850"/>
          </a:xfrm>
          <a:prstGeom prst="roundRect">
            <a:avLst>
              <a:gd name="adj" fmla="val 9091"/>
            </a:avLst>
          </a:prstGeom>
          <a:solidFill>
            <a:srgbClr val="DFF2EA"/>
          </a:solidFill>
          <a:ln w="9525">
            <a:solidFill>
              <a:srgbClr val="B9D7CC"/>
            </a:solidFill>
          </a:ln>
        </p:spPr>
        <p:txBody>
          <a:bodyPr/>
          <a:lstStyle/>
          <a:p>
            <a:endParaRPr lang="it-IT"/>
          </a:p>
        </p:txBody>
      </p:sp>
      <p:sp>
        <p:nvSpPr>
          <p:cNvPr id="39" name="Rettangolo 38">
            <a:extLst>
              <a:ext uri="{FF2B5EF4-FFF2-40B4-BE49-F238E27FC236}">
                <a16:creationId xmlns:a16="http://schemas.microsoft.com/office/drawing/2014/main" id="{C900D6B4-0BEB-4D51-8428-A123661A191A}"/>
              </a:ext>
            </a:extLst>
          </p:cNvPr>
          <p:cNvSpPr>
            <a:spLocks noGrp="1"/>
          </p:cNvSpPr>
          <p:nvPr/>
        </p:nvSpPr>
        <p:spPr>
          <a:xfrm>
            <a:off x="7143750" y="4419600"/>
            <a:ext cx="3905250" cy="266700"/>
          </a:xfrm>
          <a:prstGeom prst="rect">
            <a:avLst/>
          </a:prstGeom>
          <a:noFill/>
          <a:ln w="0">
            <a:noFill/>
          </a:ln>
        </p:spPr>
        <p:txBody>
          <a:bodyPr>
            <a:normAutofit fontScale="90196"/>
          </a:bodyPr>
          <a:lstStyle/>
          <a:p>
            <a:pPr algn="l">
              <a:defRPr sz="1275" b="1">
                <a:solidFill>
                  <a:srgbClr val="1D776B"/>
                </a:solidFill>
                <a:latin typeface="Calibri"/>
                <a:ea typeface="Calibri"/>
                <a:cs typeface="Calibri"/>
              </a:defRPr>
            </a:pPr>
            <a:r>
              <a:rPr sz="1275" b="1">
                <a:solidFill>
                  <a:srgbClr val="1D776B"/>
                </a:solidFill>
                <a:latin typeface="Calibri"/>
                <a:ea typeface="Calibri"/>
                <a:cs typeface="Calibri"/>
              </a:rPr>
              <a:t>Implicazione per il sistema dati</a:t>
            </a:r>
          </a:p>
        </p:txBody>
      </p:sp>
      <p:sp>
        <p:nvSpPr>
          <p:cNvPr id="40" name="Rettangolo 39">
            <a:extLst>
              <a:ext uri="{FF2B5EF4-FFF2-40B4-BE49-F238E27FC236}">
                <a16:creationId xmlns:a16="http://schemas.microsoft.com/office/drawing/2014/main" id="{DD37C914-1A51-47F1-A34A-15463A816D2B}"/>
              </a:ext>
            </a:extLst>
          </p:cNvPr>
          <p:cNvSpPr>
            <a:spLocks noGrp="1"/>
          </p:cNvSpPr>
          <p:nvPr/>
        </p:nvSpPr>
        <p:spPr>
          <a:xfrm>
            <a:off x="7143750" y="4857750"/>
            <a:ext cx="3905250" cy="571500"/>
          </a:xfrm>
          <a:prstGeom prst="rect">
            <a:avLst/>
          </a:prstGeom>
          <a:noFill/>
          <a:ln w="0">
            <a:noFill/>
          </a:ln>
        </p:spPr>
        <p:txBody>
          <a:bodyPr>
            <a:normAutofit fontScale="82353"/>
          </a:bodyPr>
          <a:lstStyle/>
          <a:p>
            <a:pPr algn="l">
              <a:defRPr sz="1275" b="0">
                <a:solidFill>
                  <a:srgbClr val="062D29"/>
                </a:solidFill>
                <a:latin typeface="Calibri"/>
                <a:ea typeface="Calibri"/>
                <a:cs typeface="Calibri"/>
              </a:defRPr>
            </a:pPr>
            <a:r>
              <a:rPr sz="1275" b="0">
                <a:solidFill>
                  <a:srgbClr val="062D29"/>
                </a:solidFill>
                <a:latin typeface="Calibri"/>
                <a:ea typeface="Calibri"/>
                <a:cs typeface="Calibri"/>
              </a:rPr>
              <a:t>Le stesse metriche devono alimentare più disclosure senza duplicazioni, mantenendo metodo, fonte e storico delle modifiche.</a:t>
            </a:r>
          </a:p>
        </p:txBody>
      </p:sp>
      <p:sp>
        <p:nvSpPr>
          <p:cNvPr id="41" name="Rettangolo 40">
            <a:extLst>
              <a:ext uri="{FF2B5EF4-FFF2-40B4-BE49-F238E27FC236}">
                <a16:creationId xmlns:a16="http://schemas.microsoft.com/office/drawing/2014/main" id="{B99C37AF-EEEF-4455-81A4-405DBB395731}"/>
              </a:ext>
            </a:extLst>
          </p:cNvPr>
          <p:cNvSpPr>
            <a:spLocks noGrp="1"/>
          </p:cNvSpPr>
          <p:nvPr/>
        </p:nvSpPr>
        <p:spPr>
          <a:xfrm>
            <a:off x="4810125" y="6534150"/>
            <a:ext cx="2571750" cy="209550"/>
          </a:xfrm>
          <a:prstGeom prst="rect">
            <a:avLst/>
          </a:prstGeom>
          <a:noFill/>
          <a:ln w="0">
            <a:noFill/>
          </a:ln>
        </p:spPr>
        <p:txBody>
          <a:bodyPr>
            <a:normAutofit fontScale="86111"/>
          </a:bodyPr>
          <a:lstStyle/>
          <a:p>
            <a:pPr algn="ctr">
              <a:defRPr sz="900" b="0">
                <a:solidFill>
                  <a:srgbClr val="496C66"/>
                </a:solidFill>
                <a:latin typeface="Calibri"/>
                <a:ea typeface="Calibri"/>
                <a:cs typeface="Calibri"/>
              </a:defRPr>
            </a:pPr>
            <a:r>
              <a:rPr sz="900" b="0">
                <a:solidFill>
                  <a:srgbClr val="496C66"/>
                </a:solidFill>
                <a:latin typeface="Calibri"/>
                <a:ea typeface="Calibri"/>
                <a:cs typeface="Calibri"/>
              </a:rPr>
              <a:t>IBM Envizi Quest</a:t>
            </a:r>
          </a:p>
        </p:txBody>
      </p:sp>
    </p:spTree>
    <p:extLst>
      <p:ext uri="{BB962C8B-B14F-4D97-AF65-F5344CB8AC3E}">
        <p14:creationId xmlns:p14="http://schemas.microsoft.com/office/powerpoint/2010/main" val="1037417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Immagine 50"/>
          <p:cNvPicPr>
            <a:picLocks noChangeAspect="1"/>
          </p:cNvPicPr>
          <p:nvPr/>
        </p:nvPicPr>
        <p:blipFill>
          <a:blip r:embed="rId3"/>
          <a:stretch>
            <a:fillRect/>
          </a:stretch>
        </p:blipFill>
        <p:spPr>
          <a:xfrm>
            <a:off x="0" y="4656455"/>
            <a:ext cx="12133528" cy="2235425"/>
          </a:xfrm>
          <a:prstGeom prst="rect">
            <a:avLst/>
          </a:prstGeom>
        </p:spPr>
      </p:pic>
      <p:pic>
        <p:nvPicPr>
          <p:cNvPr id="60" name="Immagine 30"/>
          <p:cNvPicPr>
            <a:picLocks noChangeAspect="1"/>
          </p:cNvPicPr>
          <p:nvPr/>
        </p:nvPicPr>
        <p:blipFill>
          <a:blip r:embed="rId4"/>
          <a:stretch>
            <a:fillRect/>
          </a:stretch>
        </p:blipFill>
        <p:spPr>
          <a:xfrm>
            <a:off x="127277" y="3270912"/>
            <a:ext cx="3888186" cy="1727200"/>
          </a:xfrm>
          <a:prstGeom prst="rect">
            <a:avLst/>
          </a:prstGeom>
        </p:spPr>
      </p:pic>
      <p:pic>
        <p:nvPicPr>
          <p:cNvPr id="61" name="Immagine 23"/>
          <p:cNvPicPr>
            <a:picLocks noChangeAspect="1"/>
          </p:cNvPicPr>
          <p:nvPr/>
        </p:nvPicPr>
        <p:blipFill>
          <a:blip r:embed="rId5"/>
          <a:stretch>
            <a:fillRect/>
          </a:stretch>
        </p:blipFill>
        <p:spPr>
          <a:xfrm>
            <a:off x="8079339" y="3316046"/>
            <a:ext cx="3975100" cy="1638300"/>
          </a:xfrm>
          <a:prstGeom prst="rect">
            <a:avLst/>
          </a:prstGeom>
        </p:spPr>
      </p:pic>
      <p:sp>
        <p:nvSpPr>
          <p:cNvPr id="2" name="Rettangolo 1">
            <a:extLst>
              <a:ext uri="{FF2B5EF4-FFF2-40B4-BE49-F238E27FC236}">
                <a16:creationId xmlns:a16="http://schemas.microsoft.com/office/drawing/2014/main" id="{E19DAE74-0069-4330-8C8C-F7D523592735}"/>
              </a:ext>
            </a:extLst>
          </p:cNvPr>
          <p:cNvSpPr>
            <a:spLocks noGrp="1"/>
          </p:cNvSpPr>
          <p:nvPr/>
        </p:nvSpPr>
        <p:spPr>
          <a:xfrm>
            <a:off x="261221" y="275545"/>
            <a:ext cx="9699388" cy="40005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2025" b="0" i="0" u="none" cap="none" spc="0">
                <a:ln>
                  <a:noFill/>
                </a:ln>
                <a:solidFill>
                  <a:srgbClr val="073E31"/>
                </a:solidFill>
                <a:latin typeface="Calibri"/>
                <a:ea typeface="Calibri"/>
                <a:cs typeface="Calibri"/>
              </a:rPr>
              <a:t>La priorità principale di Nat 1 è Compliance e reporting seguita da Accesso al credito, evidenziando il valore di ESG per il business.</a:t>
            </a:r>
          </a:p>
        </p:txBody>
      </p:sp>
      <p:sp>
        <p:nvSpPr>
          <p:cNvPr id="10" name="Rettangolo 9">
            <a:extLst>
              <a:ext uri="{FF2B5EF4-FFF2-40B4-BE49-F238E27FC236}">
                <a16:creationId xmlns:a16="http://schemas.microsoft.com/office/drawing/2014/main" id="{3105BE0D-8F32-4EBD-AA1E-F7C0CF412DE0}"/>
              </a:ext>
            </a:extLst>
          </p:cNvPr>
          <p:cNvSpPr>
            <a:spLocks noGrp="1"/>
          </p:cNvSpPr>
          <p:nvPr/>
        </p:nvSpPr>
        <p:spPr>
          <a:xfrm>
            <a:off x="239629" y="3318940"/>
            <a:ext cx="3413760" cy="30861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125" b="1" i="0" u="none" cap="none" spc="0">
                <a:ln>
                  <a:noFill/>
                </a:ln>
                <a:solidFill>
                  <a:srgbClr val="073E31"/>
                </a:solidFill>
                <a:latin typeface="Calibri"/>
                <a:ea typeface="Calibri"/>
                <a:cs typeface="Calibri"/>
              </a:rPr>
              <a:t>4/6  Efficienza, energia e costi</a:t>
            </a:r>
          </a:p>
        </p:txBody>
      </p:sp>
      <p:sp>
        <p:nvSpPr>
          <p:cNvPr id="19" name="CasellaDiTesto 18">
            <a:extLst>
              <a:ext uri="{FF2B5EF4-FFF2-40B4-BE49-F238E27FC236}">
                <a16:creationId xmlns:a16="http://schemas.microsoft.com/office/drawing/2014/main" id="{0B0DA487-ED6A-BE4A-2358-F3DF654C78D5}"/>
              </a:ext>
            </a:extLst>
          </p:cNvPr>
          <p:cNvSpPr>
            <a:spLocks noGrp="1"/>
          </p:cNvSpPr>
          <p:nvPr/>
        </p:nvSpPr>
        <p:spPr>
          <a:xfrm>
            <a:off x="4688958" y="6550223"/>
            <a:ext cx="2424223" cy="307777"/>
          </a:xfrm>
          <a:prstGeom prst="rect">
            <a:avLst/>
          </a:prstGeom>
          <a:noFill/>
        </p:spPr>
        <p:txBody>
          <a:bodyPr wrap="square">
            <a:spAutoFit/>
          </a:bodyPr>
          <a:lstStyle/>
          <a:p>
            <a:pPr marL="0" marR="0" lvl="0" indent="0" algn="l" defTabSz="914400">
              <a:lnSpc>
                <a:spcPct val="100000"/>
              </a:lnSpc>
              <a:spcBef>
                <a:spcPts val="0"/>
              </a:spcBef>
              <a:spcAft>
                <a:spcPts val="0"/>
              </a:spcAft>
              <a:buClrTx/>
              <a:buSzTx/>
              <a:buFontTx/>
              <a:buNone/>
            </a:pPr>
            <a:r>
              <a:rPr sz="1400" b="0" i="0" u="none" cap="none" spc="0">
                <a:ln>
                  <a:noFill/>
                </a:ln>
                <a:solidFill>
                  <a:srgbClr val="000000"/>
                </a:solidFill>
                <a:latin typeface="Calibri"/>
                <a:ea typeface="Calibri"/>
                <a:cs typeface="Calibri"/>
              </a:rPr>
              <a:t>IBM Envizi Quest</a:t>
            </a:r>
          </a:p>
        </p:txBody>
      </p:sp>
      <p:sp>
        <p:nvSpPr>
          <p:cNvPr id="27" name="Rettangolo 26">
            <a:extLst>
              <a:ext uri="{FF2B5EF4-FFF2-40B4-BE49-F238E27FC236}">
                <a16:creationId xmlns:a16="http://schemas.microsoft.com/office/drawing/2014/main" id="{58CB44CE-90AA-6895-22F7-F0DF438A1AEF}"/>
              </a:ext>
            </a:extLst>
          </p:cNvPr>
          <p:cNvSpPr>
            <a:spLocks noGrp="1"/>
          </p:cNvSpPr>
          <p:nvPr/>
        </p:nvSpPr>
        <p:spPr>
          <a:xfrm>
            <a:off x="8253729" y="3360510"/>
            <a:ext cx="3413760" cy="30861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125" b="1" i="0" u="none" cap="none" spc="0">
                <a:ln>
                  <a:noFill/>
                </a:ln>
                <a:solidFill>
                  <a:srgbClr val="073E31"/>
                </a:solidFill>
                <a:latin typeface="Calibri"/>
                <a:ea typeface="Calibri"/>
                <a:cs typeface="Calibri"/>
              </a:rPr>
              <a:t>6/6  Reputazione e attrazione dei talenti</a:t>
            </a:r>
          </a:p>
        </p:txBody>
      </p:sp>
      <p:pic>
        <p:nvPicPr>
          <p:cNvPr id="66" name="Immagine 28"/>
          <p:cNvPicPr>
            <a:picLocks noChangeAspect="1"/>
          </p:cNvPicPr>
          <p:nvPr/>
        </p:nvPicPr>
        <p:blipFill>
          <a:blip r:embed="rId6"/>
          <a:stretch>
            <a:fillRect/>
          </a:stretch>
        </p:blipFill>
        <p:spPr>
          <a:xfrm>
            <a:off x="4137003" y="3347112"/>
            <a:ext cx="3937000" cy="1651000"/>
          </a:xfrm>
          <a:prstGeom prst="rect">
            <a:avLst/>
          </a:prstGeom>
        </p:spPr>
      </p:pic>
      <p:sp>
        <p:nvSpPr>
          <p:cNvPr id="12" name="Rettangolo 11">
            <a:extLst>
              <a:ext uri="{FF2B5EF4-FFF2-40B4-BE49-F238E27FC236}">
                <a16:creationId xmlns:a16="http://schemas.microsoft.com/office/drawing/2014/main" id="{C3226317-E9F3-4A41-B4C1-91B77C2DB7A8}"/>
              </a:ext>
            </a:extLst>
          </p:cNvPr>
          <p:cNvSpPr>
            <a:spLocks noGrp="1"/>
          </p:cNvSpPr>
          <p:nvPr/>
        </p:nvSpPr>
        <p:spPr>
          <a:xfrm>
            <a:off x="4193851" y="3323842"/>
            <a:ext cx="3413760" cy="30861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125" b="1" i="0" u="none" cap="none" spc="0">
                <a:ln>
                  <a:noFill/>
                </a:ln>
                <a:solidFill>
                  <a:srgbClr val="073E31"/>
                </a:solidFill>
                <a:latin typeface="Calibri"/>
                <a:ea typeface="Calibri"/>
                <a:cs typeface="Calibri"/>
              </a:rPr>
              <a:t>5/6  Resilienza della supply chain</a:t>
            </a:r>
          </a:p>
        </p:txBody>
      </p:sp>
      <p:pic>
        <p:nvPicPr>
          <p:cNvPr id="68" name="Immagine 32"/>
          <p:cNvPicPr>
            <a:picLocks noChangeAspect="1"/>
          </p:cNvPicPr>
          <p:nvPr/>
        </p:nvPicPr>
        <p:blipFill>
          <a:blip r:embed="rId7"/>
          <a:stretch>
            <a:fillRect/>
          </a:stretch>
        </p:blipFill>
        <p:spPr>
          <a:xfrm>
            <a:off x="239629" y="1340475"/>
            <a:ext cx="3775834" cy="1739900"/>
          </a:xfrm>
          <a:prstGeom prst="rect">
            <a:avLst/>
          </a:prstGeom>
        </p:spPr>
      </p:pic>
      <p:pic>
        <p:nvPicPr>
          <p:cNvPr id="69" name="Immagine 34"/>
          <p:cNvPicPr>
            <a:picLocks noChangeAspect="1"/>
          </p:cNvPicPr>
          <p:nvPr/>
        </p:nvPicPr>
        <p:blipFill>
          <a:blip r:embed="rId8"/>
          <a:stretch>
            <a:fillRect/>
          </a:stretch>
        </p:blipFill>
        <p:spPr>
          <a:xfrm>
            <a:off x="8138437" y="1396534"/>
            <a:ext cx="3975100" cy="1790700"/>
          </a:xfrm>
          <a:prstGeom prst="rect">
            <a:avLst/>
          </a:prstGeom>
        </p:spPr>
      </p:pic>
      <p:pic>
        <p:nvPicPr>
          <p:cNvPr id="70" name="Immagine 36"/>
          <p:cNvPicPr>
            <a:picLocks noChangeAspect="1"/>
          </p:cNvPicPr>
          <p:nvPr/>
        </p:nvPicPr>
        <p:blipFill>
          <a:blip r:embed="rId9"/>
          <a:stretch>
            <a:fillRect/>
          </a:stretch>
        </p:blipFill>
        <p:spPr>
          <a:xfrm>
            <a:off x="4081663" y="1413698"/>
            <a:ext cx="4038600" cy="1676400"/>
          </a:xfrm>
          <a:prstGeom prst="rect">
            <a:avLst/>
          </a:prstGeom>
        </p:spPr>
      </p:pic>
      <p:sp>
        <p:nvSpPr>
          <p:cNvPr id="6" name="Rettangolo 5">
            <a:extLst>
              <a:ext uri="{FF2B5EF4-FFF2-40B4-BE49-F238E27FC236}">
                <a16:creationId xmlns:a16="http://schemas.microsoft.com/office/drawing/2014/main" id="{B28E0820-69E0-40E1-86BC-CE2E4442C18B}"/>
              </a:ext>
            </a:extLst>
          </p:cNvPr>
          <p:cNvSpPr>
            <a:spLocks noGrp="1"/>
          </p:cNvSpPr>
          <p:nvPr/>
        </p:nvSpPr>
        <p:spPr>
          <a:xfrm>
            <a:off x="8290560" y="1466020"/>
            <a:ext cx="3413760" cy="30861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125" b="1" i="0" u="none" cap="none" spc="0">
                <a:ln>
                  <a:noFill/>
                </a:ln>
                <a:solidFill>
                  <a:srgbClr val="073E31"/>
                </a:solidFill>
                <a:latin typeface="Calibri"/>
                <a:ea typeface="Calibri"/>
                <a:cs typeface="Calibri"/>
              </a:rPr>
              <a:t>3/6  Clienti e gare</a:t>
            </a:r>
          </a:p>
        </p:txBody>
      </p:sp>
      <p:sp>
        <p:nvSpPr>
          <p:cNvPr id="8" name="Rettangolo 7">
            <a:extLst>
              <a:ext uri="{FF2B5EF4-FFF2-40B4-BE49-F238E27FC236}">
                <a16:creationId xmlns:a16="http://schemas.microsoft.com/office/drawing/2014/main" id="{1457C7FE-5107-4501-AD49-1A882933E90F}"/>
              </a:ext>
            </a:extLst>
          </p:cNvPr>
          <p:cNvSpPr>
            <a:spLocks noGrp="1"/>
          </p:cNvSpPr>
          <p:nvPr/>
        </p:nvSpPr>
        <p:spPr>
          <a:xfrm>
            <a:off x="203053" y="1417749"/>
            <a:ext cx="3413760" cy="30861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125" b="1" i="0" u="none" cap="none" spc="0">
                <a:ln>
                  <a:noFill/>
                </a:ln>
                <a:solidFill>
                  <a:srgbClr val="073E31"/>
                </a:solidFill>
                <a:latin typeface="Calibri"/>
                <a:ea typeface="Calibri"/>
                <a:cs typeface="Calibri"/>
              </a:rPr>
              <a:t>1/6  Compliance e reporting</a:t>
            </a:r>
          </a:p>
        </p:txBody>
      </p:sp>
      <p:sp>
        <p:nvSpPr>
          <p:cNvPr id="4" name="Rettangolo 3">
            <a:extLst>
              <a:ext uri="{FF2B5EF4-FFF2-40B4-BE49-F238E27FC236}">
                <a16:creationId xmlns:a16="http://schemas.microsoft.com/office/drawing/2014/main" id="{F7D6BA53-79B6-4F05-A63B-3B573FCF5882}"/>
              </a:ext>
            </a:extLst>
          </p:cNvPr>
          <p:cNvSpPr>
            <a:spLocks noGrp="1"/>
          </p:cNvSpPr>
          <p:nvPr/>
        </p:nvSpPr>
        <p:spPr>
          <a:xfrm>
            <a:off x="4399234" y="1467753"/>
            <a:ext cx="3413760" cy="30861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125" b="1" i="0" u="none" cap="none" spc="0">
                <a:ln>
                  <a:noFill/>
                </a:ln>
                <a:solidFill>
                  <a:srgbClr val="073E31"/>
                </a:solidFill>
                <a:latin typeface="Calibri"/>
                <a:ea typeface="Calibri"/>
                <a:cs typeface="Calibri"/>
              </a:rPr>
              <a:t>2/6  Accesso al credito</a:t>
            </a:r>
          </a:p>
        </p:txBody>
      </p:sp>
      <p:sp>
        <p:nvSpPr>
          <p:cNvPr id="39" name="CasellaDiTesto 38">
            <a:extLst>
              <a:ext uri="{FF2B5EF4-FFF2-40B4-BE49-F238E27FC236}">
                <a16:creationId xmlns:a16="http://schemas.microsoft.com/office/drawing/2014/main" id="{21C8A1F4-C75F-6E2D-18CF-A2A934806E3D}"/>
              </a:ext>
            </a:extLst>
          </p:cNvPr>
          <p:cNvSpPr>
            <a:spLocks noGrp="1"/>
          </p:cNvSpPr>
          <p:nvPr/>
        </p:nvSpPr>
        <p:spPr>
          <a:xfrm>
            <a:off x="1579884" y="1627632"/>
            <a:ext cx="2278114" cy="1384995"/>
          </a:xfrm>
          <a:prstGeom prst="rect">
            <a:avLst/>
          </a:prstGeom>
          <a:noFill/>
        </p:spPr>
        <p:txBody>
          <a:bodyPr wrap="square" anchor="ctr">
            <a:spAutoFit/>
          </a:bodyPr>
          <a:lstStyle/>
          <a:p>
            <a:pPr marL="0" marR="0" lvl="0" indent="0" algn="l" defTabSz="914400">
              <a:lnSpc>
                <a:spcPct val="100000"/>
              </a:lnSpc>
              <a:spcBef>
                <a:spcPts val="0"/>
              </a:spcBef>
              <a:spcAft>
                <a:spcPts val="0"/>
              </a:spcAft>
              <a:buClrTx/>
              <a:buSzTx/>
              <a:buFontTx/>
              <a:buNone/>
            </a:pPr>
            <a:r>
              <a:rPr sz="1100" b="0" i="0" u="none" cap="none" spc="0" dirty="0">
                <a:ln>
                  <a:noFill/>
                </a:ln>
                <a:solidFill>
                  <a:srgbClr val="000000"/>
                </a:solidFill>
                <a:latin typeface="Calibri"/>
                <a:ea typeface="Calibri"/>
                <a:cs typeface="Calibri"/>
              </a:rPr>
              <a:t>Il nostro </a:t>
            </a:r>
            <a:r>
              <a:rPr sz="1100" b="0" i="0" u="none" cap="none" spc="0" dirty="0" err="1">
                <a:ln>
                  <a:noFill/>
                </a:ln>
                <a:solidFill>
                  <a:srgbClr val="000000"/>
                </a:solidFill>
                <a:latin typeface="Calibri"/>
                <a:ea typeface="Calibri"/>
                <a:cs typeface="Calibri"/>
              </a:rPr>
              <a:t>settore</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è</a:t>
            </a:r>
            <a:r>
              <a:rPr sz="1100" b="0" i="0" u="none" cap="none" spc="0" dirty="0">
                <a:ln>
                  <a:noFill/>
                </a:ln>
                <a:solidFill>
                  <a:srgbClr val="000000"/>
                </a:solidFill>
                <a:latin typeface="Calibri"/>
                <a:ea typeface="Calibri"/>
                <a:cs typeface="Calibri"/>
              </a:rPr>
              <a:t> sotto </a:t>
            </a:r>
            <a:r>
              <a:rPr sz="1100" b="0" i="0" u="none" cap="none" spc="0" dirty="0" err="1">
                <a:ln>
                  <a:noFill/>
                </a:ln>
                <a:solidFill>
                  <a:srgbClr val="000000"/>
                </a:solidFill>
                <a:latin typeface="Calibri"/>
                <a:ea typeface="Calibri"/>
                <a:cs typeface="Calibri"/>
              </a:rPr>
              <a:t>osservazione</a:t>
            </a:r>
            <a:r>
              <a:rPr sz="1100" b="0" i="0" u="none" cap="none" spc="0" dirty="0">
                <a:ln>
                  <a:noFill/>
                </a:ln>
                <a:solidFill>
                  <a:srgbClr val="000000"/>
                </a:solidFill>
                <a:latin typeface="Calibri"/>
                <a:ea typeface="Calibri"/>
                <a:cs typeface="Calibri"/>
              </a:rPr>
              <a:t> da </a:t>
            </a:r>
            <a:r>
              <a:rPr sz="1100" b="0" i="0" u="none" cap="none" spc="0" dirty="0" err="1">
                <a:ln>
                  <a:noFill/>
                </a:ln>
                <a:solidFill>
                  <a:srgbClr val="000000"/>
                </a:solidFill>
                <a:latin typeface="Calibri"/>
                <a:ea typeface="Calibri"/>
                <a:cs typeface="Calibri"/>
              </a:rPr>
              <a:t>parte</a:t>
            </a:r>
            <a:r>
              <a:rPr sz="1100" b="0" i="0" u="none" cap="none" spc="0" dirty="0">
                <a:ln>
                  <a:noFill/>
                </a:ln>
                <a:solidFill>
                  <a:srgbClr val="000000"/>
                </a:solidFill>
                <a:latin typeface="Calibri"/>
                <a:ea typeface="Calibri"/>
                <a:cs typeface="Calibri"/>
              </a:rPr>
              <a:t> di ESMA per il </a:t>
            </a:r>
            <a:r>
              <a:rPr sz="1100" b="0" i="0" u="none" cap="none" spc="0" dirty="0" err="1">
                <a:ln>
                  <a:noFill/>
                </a:ln>
                <a:solidFill>
                  <a:srgbClr val="000000"/>
                </a:solidFill>
                <a:latin typeface="Calibri"/>
                <a:ea typeface="Calibri"/>
                <a:cs typeface="Calibri"/>
              </a:rPr>
              <a:t>rischio</a:t>
            </a:r>
            <a:r>
              <a:rPr sz="1100" b="0" i="0" u="none" cap="none" spc="0" dirty="0">
                <a:ln>
                  <a:noFill/>
                </a:ln>
                <a:solidFill>
                  <a:srgbClr val="000000"/>
                </a:solidFill>
                <a:latin typeface="Calibri"/>
                <a:ea typeface="Calibri"/>
                <a:cs typeface="Calibri"/>
              </a:rPr>
              <a:t> di greenwashing. Il Compliance Officer ha </a:t>
            </a:r>
            <a:r>
              <a:rPr sz="1100" b="0" i="0" u="none" cap="none" spc="0" dirty="0" err="1">
                <a:ln>
                  <a:noFill/>
                </a:ln>
                <a:solidFill>
                  <a:srgbClr val="000000"/>
                </a:solidFill>
                <a:latin typeface="Calibri"/>
                <a:ea typeface="Calibri"/>
                <a:cs typeface="Calibri"/>
              </a:rPr>
              <a:t>chiesto</a:t>
            </a:r>
            <a:r>
              <a:rPr sz="1100" b="0" i="0" u="none" cap="none" spc="0" dirty="0">
                <a:ln>
                  <a:noFill/>
                </a:ln>
                <a:solidFill>
                  <a:srgbClr val="000000"/>
                </a:solidFill>
                <a:latin typeface="Calibri"/>
                <a:ea typeface="Calibri"/>
                <a:cs typeface="Calibri"/>
              </a:rPr>
              <a:t> al team ESG di </a:t>
            </a:r>
            <a:r>
              <a:rPr sz="1100" b="0" i="0" u="none" cap="none" spc="0" dirty="0" err="1">
                <a:ln>
                  <a:noFill/>
                </a:ln>
                <a:solidFill>
                  <a:srgbClr val="000000"/>
                </a:solidFill>
                <a:latin typeface="Calibri"/>
                <a:ea typeface="Calibri"/>
                <a:cs typeface="Calibri"/>
              </a:rPr>
              <a:t>dimostrare</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che</a:t>
            </a:r>
            <a:r>
              <a:rPr sz="1100" b="0" i="0" u="none" cap="none" spc="0" dirty="0">
                <a:ln>
                  <a:noFill/>
                </a:ln>
                <a:solidFill>
                  <a:srgbClr val="000000"/>
                </a:solidFill>
                <a:latin typeface="Calibri"/>
                <a:ea typeface="Calibri"/>
                <a:cs typeface="Calibri"/>
              </a:rPr>
              <a:t> ogni </a:t>
            </a:r>
            <a:r>
              <a:rPr sz="1100" b="0" i="0" u="none" cap="none" spc="0" dirty="0" err="1">
                <a:ln>
                  <a:noFill/>
                </a:ln>
                <a:solidFill>
                  <a:srgbClr val="000000"/>
                </a:solidFill>
                <a:latin typeface="Calibri"/>
                <a:ea typeface="Calibri"/>
                <a:cs typeface="Calibri"/>
              </a:rPr>
              <a:t>dato</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pubblicato</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è</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tracciabile</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fino</a:t>
            </a:r>
            <a:r>
              <a:rPr sz="1100" b="0" i="0" u="none" cap="none" spc="0" dirty="0">
                <a:ln>
                  <a:noFill/>
                </a:ln>
                <a:solidFill>
                  <a:srgbClr val="000000"/>
                </a:solidFill>
                <a:latin typeface="Calibri"/>
                <a:ea typeface="Calibri"/>
                <a:cs typeface="Calibri"/>
              </a:rPr>
              <a:t> alla </a:t>
            </a:r>
            <a:r>
              <a:rPr sz="1100" b="0" i="0" u="none" cap="none" spc="0" dirty="0" err="1">
                <a:ln>
                  <a:noFill/>
                </a:ln>
                <a:solidFill>
                  <a:srgbClr val="000000"/>
                </a:solidFill>
                <a:latin typeface="Calibri"/>
                <a:ea typeface="Calibri"/>
                <a:cs typeface="Calibri"/>
              </a:rPr>
              <a:t>fonte</a:t>
            </a:r>
            <a:r>
              <a:rPr sz="1100" b="0" i="0" u="none" cap="none" spc="0" dirty="0">
                <a:ln>
                  <a:noFill/>
                </a:ln>
                <a:solidFill>
                  <a:srgbClr val="000000"/>
                </a:solidFill>
                <a:latin typeface="Calibri"/>
                <a:ea typeface="Calibri"/>
                <a:cs typeface="Calibri"/>
              </a:rPr>
              <a:t> </a:t>
            </a:r>
            <a:r>
              <a:rPr sz="1100" b="0" i="0" u="none" cap="none" spc="0" dirty="0" err="1">
                <a:ln>
                  <a:noFill/>
                </a:ln>
                <a:solidFill>
                  <a:srgbClr val="000000"/>
                </a:solidFill>
                <a:latin typeface="Calibri"/>
                <a:ea typeface="Calibri"/>
                <a:cs typeface="Calibri"/>
              </a:rPr>
              <a:t>primaria</a:t>
            </a:r>
            <a:r>
              <a:rPr sz="1100" b="0" i="0" u="none" cap="none" spc="0" dirty="0">
                <a:ln>
                  <a:noFill/>
                </a:ln>
                <a:solidFill>
                  <a:srgbClr val="000000"/>
                </a:solidFill>
                <a:latin typeface="Calibri"/>
                <a:ea typeface="Calibri"/>
                <a:cs typeface="Calibri"/>
              </a:rPr>
              <a:t>. Oggi non </a:t>
            </a:r>
            <a:r>
              <a:rPr sz="1100" b="0" i="0" u="none" cap="none" spc="0" dirty="0" err="1">
                <a:ln>
                  <a:noFill/>
                </a:ln>
                <a:solidFill>
                  <a:srgbClr val="000000"/>
                </a:solidFill>
                <a:latin typeface="Calibri"/>
                <a:ea typeface="Calibri"/>
                <a:cs typeface="Calibri"/>
              </a:rPr>
              <a:t>siamo</a:t>
            </a:r>
            <a:r>
              <a:rPr sz="1100" b="0" i="0" u="none" cap="none" spc="0" dirty="0">
                <a:ln>
                  <a:noFill/>
                </a:ln>
                <a:solidFill>
                  <a:srgbClr val="000000"/>
                </a:solidFill>
                <a:latin typeface="Calibri"/>
                <a:ea typeface="Calibri"/>
                <a:cs typeface="Calibri"/>
              </a:rPr>
              <a:t> in </a:t>
            </a:r>
            <a:r>
              <a:rPr sz="1100" b="0" i="0" u="none" cap="none" spc="0" dirty="0" err="1">
                <a:ln>
                  <a:noFill/>
                </a:ln>
                <a:solidFill>
                  <a:srgbClr val="000000"/>
                </a:solidFill>
                <a:latin typeface="Calibri"/>
                <a:ea typeface="Calibri"/>
                <a:cs typeface="Calibri"/>
              </a:rPr>
              <a:t>grado</a:t>
            </a:r>
            <a:r>
              <a:rPr sz="1100" b="0" i="0" u="none" cap="none" spc="0" dirty="0">
                <a:ln>
                  <a:noFill/>
                </a:ln>
                <a:solidFill>
                  <a:srgbClr val="000000"/>
                </a:solidFill>
                <a:latin typeface="Calibri"/>
                <a:ea typeface="Calibri"/>
                <a:cs typeface="Calibri"/>
              </a:rPr>
              <a:t> di </a:t>
            </a:r>
            <a:r>
              <a:rPr sz="1100" b="0" i="0" u="none" cap="none" spc="0" dirty="0" err="1">
                <a:ln>
                  <a:noFill/>
                </a:ln>
                <a:solidFill>
                  <a:srgbClr val="000000"/>
                </a:solidFill>
                <a:latin typeface="Calibri"/>
                <a:ea typeface="Calibri"/>
                <a:cs typeface="Calibri"/>
              </a:rPr>
              <a:t>farlo</a:t>
            </a:r>
            <a:r>
              <a:rPr sz="1100" b="0" i="0" u="none" cap="none" spc="0" dirty="0">
                <a:ln>
                  <a:noFill/>
                </a:ln>
                <a:solidFill>
                  <a:srgbClr val="000000"/>
                </a:solidFill>
                <a:latin typeface="Calibri"/>
                <a:ea typeface="Calibri"/>
                <a:cs typeface="Calibri"/>
              </a:rPr>
              <a:t>.</a:t>
            </a:r>
          </a:p>
        </p:txBody>
      </p:sp>
      <p:sp>
        <p:nvSpPr>
          <p:cNvPr id="42" name="CasellaDiTesto 41">
            <a:extLst>
              <a:ext uri="{FF2B5EF4-FFF2-40B4-BE49-F238E27FC236}">
                <a16:creationId xmlns:a16="http://schemas.microsoft.com/office/drawing/2014/main" id="{B73CECA0-FF4B-9B27-801A-988BBF9ECE28}"/>
              </a:ext>
            </a:extLst>
          </p:cNvPr>
          <p:cNvSpPr>
            <a:spLocks noGrp="1"/>
          </p:cNvSpPr>
          <p:nvPr/>
        </p:nvSpPr>
        <p:spPr>
          <a:xfrm>
            <a:off x="5523320" y="1682496"/>
            <a:ext cx="2278114" cy="1384995"/>
          </a:xfrm>
          <a:prstGeom prst="rect">
            <a:avLst/>
          </a:prstGeom>
          <a:noFill/>
        </p:spPr>
        <p:txBody>
          <a:bodyPr wrap="square" anchor="ctr">
            <a:spAutoFit/>
          </a:bodyPr>
          <a:lstStyle/>
          <a:p>
            <a:pPr marL="0" marR="0" lvl="0" indent="0" algn="l" defTabSz="914400">
              <a:lnSpc>
                <a:spcPct val="100000"/>
              </a:lnSpc>
              <a:spcBef>
                <a:spcPts val="0"/>
              </a:spcBef>
              <a:spcAft>
                <a:spcPts val="0"/>
              </a:spcAft>
              <a:buClrTx/>
              <a:buSzTx/>
              <a:buFontTx/>
              <a:buNone/>
            </a:pPr>
            <a:r>
              <a:rPr sz="1100" b="0" i="0" u="none" cap="none" spc="0">
                <a:ln>
                  <a:noFill/>
                </a:ln>
                <a:solidFill>
                  <a:srgbClr val="000000"/>
                </a:solidFill>
                <a:latin typeface="Calibri"/>
                <a:ea typeface="Calibri"/>
                <a:cs typeface="Calibri"/>
              </a:rPr>
              <a:t>Stiamo lavorando a un'emissione di green bond. Il lead arranger ci ha già richiesto un framework ESG verificabile con dati storici su emissioni ed energia. Non abbiamo ancora un sistema capace di produrre questo livello di evidenza.</a:t>
            </a:r>
          </a:p>
        </p:txBody>
      </p:sp>
      <p:sp>
        <p:nvSpPr>
          <p:cNvPr id="44" name="CasellaDiTesto 43">
            <a:extLst>
              <a:ext uri="{FF2B5EF4-FFF2-40B4-BE49-F238E27FC236}">
                <a16:creationId xmlns:a16="http://schemas.microsoft.com/office/drawing/2014/main" id="{B365B65C-6A9F-491F-CE70-45B63F8EA399}"/>
              </a:ext>
            </a:extLst>
          </p:cNvPr>
          <p:cNvSpPr>
            <a:spLocks noGrp="1"/>
          </p:cNvSpPr>
          <p:nvPr/>
        </p:nvSpPr>
        <p:spPr>
          <a:xfrm>
            <a:off x="9677410" y="1682496"/>
            <a:ext cx="2278114" cy="1384995"/>
          </a:xfrm>
          <a:prstGeom prst="rect">
            <a:avLst/>
          </a:prstGeom>
          <a:noFill/>
        </p:spPr>
        <p:txBody>
          <a:bodyPr wrap="square" anchor="ctr">
            <a:spAutoFit/>
          </a:bodyPr>
          <a:lstStyle/>
          <a:p>
            <a:pPr marL="0" marR="0" lvl="0" indent="0" algn="l" defTabSz="914400">
              <a:lnSpc>
                <a:spcPct val="100000"/>
              </a:lnSpc>
              <a:spcBef>
                <a:spcPts val="0"/>
              </a:spcBef>
              <a:spcAft>
                <a:spcPts val="0"/>
              </a:spcAft>
              <a:buClrTx/>
              <a:buSzTx/>
              <a:buFontTx/>
              <a:buNone/>
            </a:pPr>
            <a:r>
              <a:rPr sz="1100" b="0" i="0" u="none" cap="none" spc="0">
                <a:ln>
                  <a:noFill/>
                </a:ln>
                <a:solidFill>
                  <a:srgbClr val="000000"/>
                </a:solidFill>
                <a:latin typeface="Calibri"/>
                <a:ea typeface="Calibri"/>
                <a:cs typeface="Calibri"/>
              </a:rPr>
              <a:t>Un grande retailer europeo ci ha notificato che dal 2025 tutti i fornitori dovranno dichiarare le emissioni Scope 3 cat. 1 con dati specifici per prodotto. Oggi lavoriamo con stime spend-based che non soddisfano questo requisito.</a:t>
            </a:r>
          </a:p>
        </p:txBody>
      </p:sp>
      <p:sp>
        <p:nvSpPr>
          <p:cNvPr id="46" name="CasellaDiTesto 45">
            <a:extLst>
              <a:ext uri="{FF2B5EF4-FFF2-40B4-BE49-F238E27FC236}">
                <a16:creationId xmlns:a16="http://schemas.microsoft.com/office/drawing/2014/main" id="{46D51444-06D3-6549-7722-523C841C29FA}"/>
              </a:ext>
            </a:extLst>
          </p:cNvPr>
          <p:cNvSpPr>
            <a:spLocks noGrp="1"/>
          </p:cNvSpPr>
          <p:nvPr/>
        </p:nvSpPr>
        <p:spPr>
          <a:xfrm>
            <a:off x="1536935" y="3529584"/>
            <a:ext cx="2278114" cy="1384995"/>
          </a:xfrm>
          <a:prstGeom prst="rect">
            <a:avLst/>
          </a:prstGeom>
          <a:noFill/>
        </p:spPr>
        <p:txBody>
          <a:bodyPr wrap="square" anchor="ctr">
            <a:spAutoFit/>
          </a:bodyPr>
          <a:lstStyle/>
          <a:p>
            <a:pPr marL="0" marR="0" lvl="0" indent="0" algn="l" defTabSz="914400">
              <a:lnSpc>
                <a:spcPct val="100000"/>
              </a:lnSpc>
              <a:spcBef>
                <a:spcPts val="0"/>
              </a:spcBef>
              <a:spcAft>
                <a:spcPts val="0"/>
              </a:spcAft>
              <a:buClrTx/>
              <a:buSzTx/>
              <a:buFontTx/>
              <a:buNone/>
            </a:pPr>
            <a:r>
              <a:rPr sz="1100" b="0" i="0" u="none" cap="none" spc="0">
                <a:ln>
                  <a:noFill/>
                </a:ln>
                <a:solidFill>
                  <a:srgbClr val="000000"/>
                </a:solidFill>
                <a:latin typeface="Calibri"/>
                <a:ea typeface="Calibri"/>
                <a:cs typeface="Calibri"/>
              </a:rPr>
              <a:t>Il CFO ha chiesto un piano di decarbonizzazione con NPV e payback per ogni iniziativa. Non disponiamo di una baseline energetica affidabile per sito, né di un sistema che aggreghi consumi, costi e produzioni per calcolare l'intensità emissiva.</a:t>
            </a:r>
          </a:p>
        </p:txBody>
      </p:sp>
      <p:sp>
        <p:nvSpPr>
          <p:cNvPr id="48" name="CasellaDiTesto 47">
            <a:extLst>
              <a:ext uri="{FF2B5EF4-FFF2-40B4-BE49-F238E27FC236}">
                <a16:creationId xmlns:a16="http://schemas.microsoft.com/office/drawing/2014/main" id="{C8265D83-E2F5-FD13-221A-92D55AFD4B86}"/>
              </a:ext>
            </a:extLst>
          </p:cNvPr>
          <p:cNvSpPr>
            <a:spLocks noGrp="1"/>
          </p:cNvSpPr>
          <p:nvPr/>
        </p:nvSpPr>
        <p:spPr>
          <a:xfrm>
            <a:off x="5542947" y="3502152"/>
            <a:ext cx="2278114" cy="1384995"/>
          </a:xfrm>
          <a:prstGeom prst="rect">
            <a:avLst/>
          </a:prstGeom>
          <a:noFill/>
        </p:spPr>
        <p:txBody>
          <a:bodyPr wrap="square" anchor="ctr">
            <a:spAutoFit/>
          </a:bodyPr>
          <a:lstStyle/>
          <a:p>
            <a:pPr marL="0" marR="0" lvl="0" indent="0" algn="l" defTabSz="914400">
              <a:lnSpc>
                <a:spcPct val="100000"/>
              </a:lnSpc>
              <a:spcBef>
                <a:spcPts val="0"/>
              </a:spcBef>
              <a:spcAft>
                <a:spcPts val="0"/>
              </a:spcAft>
              <a:buClrTx/>
              <a:buSzTx/>
              <a:buFontTx/>
              <a:buNone/>
            </a:pPr>
            <a:r>
              <a:rPr sz="1100" b="0" i="0" u="none" cap="none" spc="0">
                <a:ln>
                  <a:noFill/>
                </a:ln>
                <a:solidFill>
                  <a:srgbClr val="000000"/>
                </a:solidFill>
                <a:latin typeface="Calibri"/>
                <a:ea typeface="Calibri"/>
                <a:cs typeface="Calibri"/>
              </a:rPr>
              <a:t>Scope 3 cat. 1 e 2 valgono il 65% della nostra impronta totale. I principali fornitori non inviano dati strutturati: riceviamo PDF e allegati e-mail che non riusciamo a riconciliare. Un cliente chiave ci ha già chiesto un piano di riduzione Scope 3.</a:t>
            </a:r>
          </a:p>
        </p:txBody>
      </p:sp>
      <p:sp>
        <p:nvSpPr>
          <p:cNvPr id="50" name="CasellaDiTesto 49">
            <a:extLst>
              <a:ext uri="{FF2B5EF4-FFF2-40B4-BE49-F238E27FC236}">
                <a16:creationId xmlns:a16="http://schemas.microsoft.com/office/drawing/2014/main" id="{9ABF16E6-DC55-20A7-1EB6-25EA100C6670}"/>
              </a:ext>
            </a:extLst>
          </p:cNvPr>
          <p:cNvSpPr>
            <a:spLocks noGrp="1"/>
          </p:cNvSpPr>
          <p:nvPr/>
        </p:nvSpPr>
        <p:spPr>
          <a:xfrm>
            <a:off x="9493184" y="3575304"/>
            <a:ext cx="2278114" cy="1169551"/>
          </a:xfrm>
          <a:prstGeom prst="rect">
            <a:avLst/>
          </a:prstGeom>
          <a:noFill/>
        </p:spPr>
        <p:txBody>
          <a:bodyPr wrap="square" anchor="ctr">
            <a:spAutoFit/>
          </a:bodyPr>
          <a:lstStyle/>
          <a:p>
            <a:pPr marL="0" marR="0" lvl="0" indent="0" algn="l" defTabSz="914400">
              <a:lnSpc>
                <a:spcPct val="100000"/>
              </a:lnSpc>
              <a:spcBef>
                <a:spcPts val="0"/>
              </a:spcBef>
              <a:spcAft>
                <a:spcPts val="0"/>
              </a:spcAft>
              <a:buClrTx/>
              <a:buSzTx/>
              <a:buFontTx/>
              <a:buNone/>
            </a:pPr>
            <a:r>
              <a:rPr sz="1100" b="0" i="0" u="none" cap="none" spc="0">
                <a:ln>
                  <a:noFill/>
                </a:ln>
                <a:solidFill>
                  <a:srgbClr val="000000"/>
                </a:solidFill>
                <a:latin typeface="Calibri"/>
                <a:ea typeface="Calibri"/>
                <a:cs typeface="Calibri"/>
              </a:rPr>
              <a:t>Abbiamo perso tre candidati senior in favore di competitor che comunicano obiettivi di Net Zero con dati verificabili. Il nostro employer branding ESG è percepito come generico. I neolaureati STEM chiedono di vedere metriche reali prima di accettare un'offerta.</a:t>
            </a:r>
          </a:p>
        </p:txBody>
      </p:sp>
      <p:pic>
        <p:nvPicPr>
          <p:cNvPr id="80" name="logo_company"/>
          <p:cNvPicPr>
            <a:picLocks noChangeAspect="1"/>
          </p:cNvPicPr>
          <p:nvPr/>
        </p:nvPicPr>
        <p:blipFill>
          <a:blip r:embed="rId10"/>
          <a:stretch>
            <a:fillRect/>
          </a:stretch>
        </p:blipFill>
        <p:spPr>
          <a:xfrm>
            <a:off x="10125987" y="226487"/>
            <a:ext cx="1830243" cy="523220"/>
          </a:xfrm>
          <a:prstGeom prst="rect">
            <a:avLst/>
          </a:prstGeom>
        </p:spPr>
      </p:pic>
    </p:spTree>
    <p:extLst>
      <p:ext uri="{BB962C8B-B14F-4D97-AF65-F5344CB8AC3E}">
        <p14:creationId xmlns:p14="http://schemas.microsoft.com/office/powerpoint/2010/main" val="285016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3DBA6725-3A41-4930-A38A-8CAA4A89353A}"/>
              </a:ext>
            </a:extLst>
          </p:cNvPr>
          <p:cNvSpPr>
            <a:spLocks noGrp="1"/>
          </p:cNvSpPr>
          <p:nvPr/>
        </p:nvSpPr>
        <p:spPr>
          <a:xfrm>
            <a:off x="533400" y="333817"/>
            <a:ext cx="9328230" cy="514350"/>
          </a:xfrm>
          <a:prstGeom prst="rect">
            <a:avLst/>
          </a:prstGeom>
          <a:noFill/>
          <a:ln w="0">
            <a:noFill/>
            <a:prstDash val="solid"/>
          </a:ln>
        </p:spPr>
        <p:txBody>
          <a:bodyPr/>
          <a:lstStyle/>
          <a:p>
            <a:pPr marL="0" marR="0" lvl="0" indent="0" algn="l" defTabSz="914400">
              <a:lnSpc>
                <a:spcPct val="100000"/>
              </a:lnSpc>
              <a:spcBef>
                <a:spcPts val="0"/>
              </a:spcBef>
              <a:spcAft>
                <a:spcPts val="0"/>
              </a:spcAft>
              <a:buClrTx/>
              <a:buSzTx/>
              <a:buFontTx/>
              <a:buNone/>
            </a:pPr>
            <a:r>
              <a:rPr sz="1600" b="0" i="0" u="none" cap="none" spc="0">
                <a:ln>
                  <a:noFill/>
                </a:ln>
                <a:solidFill>
                  <a:srgbClr val="073E31"/>
                </a:solidFill>
                <a:latin typeface="Calibri"/>
                <a:ea typeface="Calibri"/>
                <a:cs typeface="Calibri"/>
              </a:rPr>
              <a:t>Nat 1 mostra le principali esigenze a supporto degli obiettivi di business nelle aree Registro delle modifiche e audit trail per ogni dato ESG e Scenari previsionali che mostrino traiettorie, gap e impatto degli investimenti ESG</a:t>
            </a:r>
          </a:p>
        </p:txBody>
      </p:sp>
      <p:sp>
        <p:nvSpPr>
          <p:cNvPr id="15" name="Rettangolo 14">
            <a:extLst>
              <a:ext uri="{FF2B5EF4-FFF2-40B4-BE49-F238E27FC236}">
                <a16:creationId xmlns:a16="http://schemas.microsoft.com/office/drawing/2014/main" id="{13F9951E-718D-E874-8C0D-50EA7491004A}"/>
              </a:ext>
            </a:extLst>
          </p:cNvPr>
          <p:cNvSpPr>
            <a:spLocks noGrp="1"/>
          </p:cNvSpPr>
          <p:nvPr/>
        </p:nvSpPr>
        <p:spPr>
          <a:xfrm>
            <a:off x="533400" y="1382676"/>
            <a:ext cx="3262423" cy="5226568"/>
          </a:xfrm>
          <a:prstGeom prst="rect">
            <a:avLst/>
          </a:prstGeom>
          <a:noFill/>
          <a:ln w="0">
            <a:noFill/>
            <a:prstDash val="solid"/>
          </a:ln>
        </p:spPr>
        <p:txBody>
          <a:bodyPr/>
          <a:lstStyle/>
          <a:p>
            <a:pPr marL="0" marR="0" lvl="0" indent="0" algn="l" defTabSz="914400">
              <a:lnSpc>
                <a:spcPct val="110000"/>
              </a:lnSpc>
              <a:spcBef>
                <a:spcPts val="0"/>
              </a:spcBef>
              <a:spcAft>
                <a:spcPts val="400"/>
              </a:spcAft>
              <a:buClrTx/>
              <a:buSzTx/>
              <a:buFontTx/>
              <a:buNone/>
            </a:pPr>
            <a:r>
              <a:rPr sz="1200" b="1" i="0" u="none" cap="none" spc="0">
                <a:ln>
                  <a:noFill/>
                </a:ln>
                <a:solidFill>
                  <a:srgbClr val="073E31"/>
                </a:solidFill>
                <a:latin typeface="Calibri"/>
                <a:ea typeface="Calibri"/>
                <a:cs typeface="Calibri"/>
              </a:rPr>
              <a:t>Esigenze per criticità + rilevanza:</a:t>
            </a:r>
          </a:p>
          <a:p>
            <a:pPr marL="0" marR="0" lvl="0" indent="0" algn="l" defTabSz="914400">
              <a:lnSpc>
                <a:spcPct val="110000"/>
              </a:lnSpc>
              <a:spcBef>
                <a:spcPts val="200"/>
              </a:spcBef>
              <a:spcAft>
                <a:spcPts val="0"/>
              </a:spcAft>
              <a:buClrTx/>
              <a:buSzTx/>
              <a:buFontTx/>
              <a:buNone/>
            </a:pPr>
            <a:r>
              <a:rPr sz="1200" b="0" i="0" u="none" cap="none" spc="0">
                <a:ln>
                  <a:noFill/>
                </a:ln>
                <a:solidFill>
                  <a:srgbClr val="073E31"/>
                </a:solidFill>
                <a:latin typeface="Calibri"/>
                <a:ea typeface="Calibri"/>
                <a:cs typeface="Calibri"/>
              </a:rPr>
              <a:t>1. Registro delle modifiche e audit trail per ogni dato ESG  (R:10 C:10 · 20)</a:t>
            </a:r>
          </a:p>
          <a:p>
            <a:pPr marL="0" marR="0" lvl="0" indent="0" algn="l" defTabSz="914400">
              <a:lnSpc>
                <a:spcPct val="110000"/>
              </a:lnSpc>
              <a:spcBef>
                <a:spcPts val="200"/>
              </a:spcBef>
              <a:spcAft>
                <a:spcPts val="0"/>
              </a:spcAft>
              <a:buClrTx/>
              <a:buSzTx/>
              <a:buFontTx/>
              <a:buNone/>
            </a:pPr>
            <a:r>
              <a:rPr sz="1200" b="0" i="0" u="none" cap="none" spc="0">
                <a:ln>
                  <a:noFill/>
                </a:ln>
                <a:solidFill>
                  <a:srgbClr val="073E31"/>
                </a:solidFill>
                <a:latin typeface="Calibri"/>
                <a:ea typeface="Calibri"/>
                <a:cs typeface="Calibri"/>
              </a:rPr>
              <a:t>2. Scenari previsionali che mostrino traiettorie, gap e impatto degli investimenti ESG  (R:10 C:10 · 20)</a:t>
            </a:r>
          </a:p>
          <a:p>
            <a:pPr marL="0" marR="0" lvl="0" indent="0" algn="l" defTabSz="914400">
              <a:lnSpc>
                <a:spcPct val="110000"/>
              </a:lnSpc>
              <a:spcBef>
                <a:spcPts val="200"/>
              </a:spcBef>
              <a:spcAft>
                <a:spcPts val="0"/>
              </a:spcAft>
              <a:buClrTx/>
              <a:buSzTx/>
              <a:buFontTx/>
              <a:buNone/>
            </a:pPr>
            <a:r>
              <a:rPr sz="1200" b="0" i="0" u="none" cap="none" spc="0">
                <a:ln>
                  <a:noFill/>
                </a:ln>
                <a:solidFill>
                  <a:srgbClr val="073E31"/>
                </a:solidFill>
                <a:latin typeface="Calibri"/>
                <a:ea typeface="Calibri"/>
                <a:cs typeface="Calibri"/>
              </a:rPr>
              <a:t>3. Identificazione e gestione delle informazioni materiali e dei gap rispetto agli standard  (R:10 C:5 · 15)</a:t>
            </a:r>
          </a:p>
          <a:p>
            <a:pPr marL="0" marR="0" lvl="0" indent="0" algn="l" defTabSz="914400">
              <a:lnSpc>
                <a:spcPct val="110000"/>
              </a:lnSpc>
              <a:spcBef>
                <a:spcPts val="200"/>
              </a:spcBef>
              <a:spcAft>
                <a:spcPts val="0"/>
              </a:spcAft>
              <a:buClrTx/>
              <a:buSzTx/>
              <a:buFontTx/>
              <a:buNone/>
            </a:pPr>
            <a:r>
              <a:rPr sz="1200" b="0" i="0" u="none" cap="none" spc="0">
                <a:ln>
                  <a:noFill/>
                </a:ln>
                <a:solidFill>
                  <a:srgbClr val="073E31"/>
                </a:solidFill>
                <a:latin typeface="Calibri"/>
                <a:ea typeface="Calibri"/>
                <a:cs typeface="Calibri"/>
              </a:rPr>
              <a:t>4. Controlli di completezza su dati mancanti, sovrapposti o in ritardo  (R:10 C:5 · 15)</a:t>
            </a:r>
          </a:p>
          <a:p>
            <a:pPr marL="0" marR="0" lvl="0" indent="0" algn="l" defTabSz="914400">
              <a:lnSpc>
                <a:spcPct val="110000"/>
              </a:lnSpc>
              <a:spcBef>
                <a:spcPts val="200"/>
              </a:spcBef>
              <a:spcAft>
                <a:spcPts val="0"/>
              </a:spcAft>
              <a:buClrTx/>
              <a:buSzTx/>
              <a:buFontTx/>
              <a:buNone/>
            </a:pPr>
            <a:r>
              <a:rPr sz="1200" b="0" i="0" u="none" cap="none" spc="0">
                <a:ln>
                  <a:noFill/>
                </a:ln>
                <a:solidFill>
                  <a:srgbClr val="073E31"/>
                </a:solidFill>
                <a:latin typeface="Calibri"/>
                <a:ea typeface="Calibri"/>
                <a:cs typeface="Calibri"/>
              </a:rPr>
              <a:t>5. Business case delle iniziative con costi, risparmi ed emissioni evitate  (R:5 C:9 · 14)</a:t>
            </a:r>
          </a:p>
          <a:p>
            <a:pPr marL="0" marR="0" lvl="0" indent="0" algn="l" defTabSz="914400">
              <a:lnSpc>
                <a:spcPct val="110000"/>
              </a:lnSpc>
              <a:spcBef>
                <a:spcPts val="200"/>
              </a:spcBef>
              <a:spcAft>
                <a:spcPts val="0"/>
              </a:spcAft>
              <a:buClrTx/>
              <a:buSzTx/>
              <a:buFontTx/>
              <a:buNone/>
            </a:pPr>
            <a:r>
              <a:rPr sz="1200" b="0" i="0" u="none" cap="none" spc="0">
                <a:ln>
                  <a:noFill/>
                </a:ln>
                <a:solidFill>
                  <a:srgbClr val="073E31"/>
                </a:solidFill>
                <a:latin typeface="Calibri"/>
                <a:ea typeface="Calibri"/>
                <a:cs typeface="Calibri"/>
              </a:rPr>
              <a:t>6. Framework CSRD / ESRS, GRI, IFRS S1/S2 e altri standard gestiti nel sistema  (R:10 C:1 · 11)</a:t>
            </a:r>
          </a:p>
        </p:txBody>
      </p:sp>
      <p:sp>
        <p:nvSpPr>
          <p:cNvPr id="23" name="CasellaDiTesto 22">
            <a:extLst>
              <a:ext uri="{FF2B5EF4-FFF2-40B4-BE49-F238E27FC236}">
                <a16:creationId xmlns:a16="http://schemas.microsoft.com/office/drawing/2014/main" id="{E7A37AA7-B8C8-B015-55D9-26B4A2F8AEE3}"/>
              </a:ext>
            </a:extLst>
          </p:cNvPr>
          <p:cNvSpPr>
            <a:spLocks noGrp="1"/>
          </p:cNvSpPr>
          <p:nvPr/>
        </p:nvSpPr>
        <p:spPr>
          <a:xfrm>
            <a:off x="4688958" y="6550223"/>
            <a:ext cx="2424223" cy="307777"/>
          </a:xfrm>
          <a:prstGeom prst="rect">
            <a:avLst/>
          </a:prstGeom>
          <a:noFill/>
        </p:spPr>
        <p:txBody>
          <a:bodyPr wrap="square">
            <a:spAutoFit/>
          </a:bodyPr>
          <a:lstStyle/>
          <a:p>
            <a:pPr marL="0" marR="0" lvl="0" indent="0" algn="l" defTabSz="914400">
              <a:lnSpc>
                <a:spcPct val="100000"/>
              </a:lnSpc>
              <a:spcBef>
                <a:spcPts val="0"/>
              </a:spcBef>
              <a:spcAft>
                <a:spcPts val="0"/>
              </a:spcAft>
              <a:buClrTx/>
              <a:buSzTx/>
              <a:buFontTx/>
              <a:buNone/>
            </a:pPr>
            <a:r>
              <a:rPr sz="1400" b="0" i="0" u="none" cap="none" spc="0">
                <a:ln>
                  <a:noFill/>
                </a:ln>
                <a:solidFill>
                  <a:srgbClr val="000000"/>
                </a:solidFill>
                <a:latin typeface="Calibri"/>
                <a:ea typeface="Calibri"/>
                <a:cs typeface="Calibri"/>
              </a:rPr>
              <a:t>IBM Envizi Quest</a:t>
            </a:r>
          </a:p>
        </p:txBody>
      </p:sp>
      <p:pic>
        <p:nvPicPr>
          <p:cNvPr id="29" name="logo_company"/>
          <p:cNvPicPr>
            <a:picLocks noChangeAspect="1"/>
          </p:cNvPicPr>
          <p:nvPr/>
        </p:nvPicPr>
        <p:blipFill>
          <a:blip r:embed="rId3"/>
          <a:stretch>
            <a:fillRect/>
          </a:stretch>
        </p:blipFill>
        <p:spPr>
          <a:xfrm>
            <a:off x="10125987" y="226487"/>
            <a:ext cx="1830243" cy="523220"/>
          </a:xfrm>
          <a:prstGeom prst="rect">
            <a:avLst/>
          </a:prstGeom>
        </p:spPr>
      </p:pic>
      <p:pic>
        <p:nvPicPr>
          <p:cNvPr id="30" name="matrix_slide4"/>
          <p:cNvPicPr>
            <a:picLocks noChangeAspect="1"/>
          </p:cNvPicPr>
          <p:nvPr/>
        </p:nvPicPr>
        <p:blipFill>
          <a:blip r:embed="rId4"/>
          <a:stretch>
            <a:fillRect/>
          </a:stretch>
        </p:blipFill>
        <p:spPr>
          <a:xfrm>
            <a:off x="4274289" y="1499190"/>
            <a:ext cx="7176976" cy="4742121"/>
          </a:xfrm>
          <a:prstGeom prst="rect">
            <a:avLst/>
          </a:prstGeom>
        </p:spPr>
      </p:pic>
    </p:spTree>
    <p:extLst>
      <p:ext uri="{BB962C8B-B14F-4D97-AF65-F5344CB8AC3E}">
        <p14:creationId xmlns:p14="http://schemas.microsoft.com/office/powerpoint/2010/main" val="27550382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1013</Words>
  <Application>Microsoft Macintosh PowerPoint</Application>
  <DocSecurity>0</DocSecurity>
  <PresentationFormat>Widescreen</PresentationFormat>
  <Paragraphs>145</Paragraphs>
  <Slides>7</Slides>
  <Notes>7</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7</vt:i4>
      </vt:variant>
    </vt:vector>
  </HeadingPairs>
  <TitlesOfParts>
    <vt:vector size="9" baseType="lpstr">
      <vt:lpstr>Calibri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felice petrignano</cp:lastModifiedBy>
  <cp:revision>1</cp:revision>
  <dcterms:created xsi:type="dcterms:W3CDTF">2026-09-04T18:57:02Z</dcterms:created>
  <dcterms:modified xsi:type="dcterms:W3CDTF">2026-09-04T19:06:42Z</dcterms:modified>
</cp:coreProperties>
</file>