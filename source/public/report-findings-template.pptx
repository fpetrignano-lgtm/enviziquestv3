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61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D511D3-87E7-8465-0830-4D0842B3D2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07B192F-081F-C17A-873F-FB348B4B05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5F24277-58DC-62E7-1394-EF07D3BF1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32AE-6DC8-A642-9CF8-0259E149CB31}" type="datetimeFigureOut">
              <a:rPr lang="it-IT" smtClean="0"/>
              <a:t>06/09/26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4E9E6F2-652B-BD26-EF9B-5D7FB4CC7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8A81C07-177A-A0E9-44F6-8DA54F857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D195B-4B33-F444-A14C-732D9DF16E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02183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8BE364-F6FB-3362-965A-366EFDC6D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51E690-07FE-6B93-4923-E97C2C7B2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761A462-3FA8-8BA3-FEA2-B537EE3C5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32AE-6DC8-A642-9CF8-0259E149CB31}" type="datetimeFigureOut">
              <a:rPr lang="it-IT" smtClean="0"/>
              <a:t>06/09/26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396A9DD-480D-9832-24C0-0026BB010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C55A1ED-E4C8-CB98-DCC8-DBBD367AB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D195B-4B33-F444-A14C-732D9DF16E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0713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C5B086-EF93-F933-03EA-257FA1972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70BD9D9-4AEB-1300-0D53-46533121F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F2D6E85-FDC7-E22D-905B-856BAA8A0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32AE-6DC8-A642-9CF8-0259E149CB31}" type="datetimeFigureOut">
              <a:rPr lang="it-IT" smtClean="0"/>
              <a:t>06/09/26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8EE2342-A523-A9B8-D591-26004295E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E9A7115-1FE8-1F8B-64E8-1E0A5BBFD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D195B-4B33-F444-A14C-732D9DF16E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5432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645A63-AEA6-9CD7-D295-16FB71EA5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49BE914-1BF2-A766-736D-17A8ACBE6C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0BDDD51-A2AB-9B08-37AB-027681A96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7B2232F-3A67-D61D-6412-F76144D5E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32AE-6DC8-A642-9CF8-0259E149CB31}" type="datetimeFigureOut">
              <a:rPr lang="it-IT" smtClean="0"/>
              <a:t>06/09/26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2F6BC8C-4011-1C1E-4501-2F4779935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099EF3F-9986-2DBD-F8A0-99F8A9A96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D195B-4B33-F444-A14C-732D9DF16E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61933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FE7519-9CAB-1727-4641-A92C902B4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EE7E49B-C084-EB2C-EA1C-251C5D47E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A5F78D1-7C70-5D27-564B-F5633691BE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0F43B47-4016-8540-8EE3-DFA1F38564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7DC8044-0F82-2D7D-33D4-A2CBAD4C09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5167A379-2DCF-2B21-BD58-74584CAAB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32AE-6DC8-A642-9CF8-0259E149CB31}" type="datetimeFigureOut">
              <a:rPr lang="it-IT" smtClean="0"/>
              <a:t>06/09/26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873F0C0-2246-7597-2B2F-C61B3BC92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33DE598-B791-BDF0-9DA0-0D70FF414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D195B-4B33-F444-A14C-732D9DF16E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2876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956543-2E20-04A8-A3DA-3D899C277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94ADD50-85F2-941E-17BC-75BC0A1C5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32AE-6DC8-A642-9CF8-0259E149CB31}" type="datetimeFigureOut">
              <a:rPr lang="it-IT" smtClean="0"/>
              <a:t>06/09/26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2D8C4EB-24E6-4B17-F4F0-53945449D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2161609-896C-F865-BFCB-4B0859B9C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D195B-4B33-F444-A14C-732D9DF16E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0873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2DBD537-23D7-44DF-8674-25CFE1E79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32AE-6DC8-A642-9CF8-0259E149CB31}" type="datetimeFigureOut">
              <a:rPr lang="it-IT" smtClean="0"/>
              <a:t>06/09/26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3516A4B-9829-DBE0-82BB-A18505E74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405508-153B-2250-5F5C-024EF83DC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D195B-4B33-F444-A14C-732D9DF16E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0403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98488B-D55A-7C9B-CB9F-16CD7C7F6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EFF8706-C1F4-4719-644E-C4B28B778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3C9DD72-4457-D90B-FBC5-FC57A770F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AB5AC10-39EB-7B95-65BC-EB3D2BA59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32AE-6DC8-A642-9CF8-0259E149CB31}" type="datetimeFigureOut">
              <a:rPr lang="it-IT" smtClean="0"/>
              <a:t>06/09/26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221C6DA-ABCB-BFE9-ECBE-2C095B520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DB0A0C1-6E3C-9FAE-CCEF-AD5DC06C7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D195B-4B33-F444-A14C-732D9DF16E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3407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CCFB86-6BD5-F02D-2773-F6B588A40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C419D55-66BA-4874-5AFA-193EEAC7F3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7884217-5E7A-443F-1539-752C3BAE9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D5BD52E-67E1-3314-7E9F-DFA70540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32AE-6DC8-A642-9CF8-0259E149CB31}" type="datetimeFigureOut">
              <a:rPr lang="it-IT" smtClean="0"/>
              <a:t>06/09/26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9789997-FBD0-FA34-6533-7E9B4E601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221FFD4-7CC1-B435-17AA-6B46FBB5A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D195B-4B33-F444-A14C-732D9DF16E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071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DE1EE6-E15E-B352-800E-02385AFE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D4DB38D-3A49-8021-992E-BEC81911C0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CA4BD39-7534-FF0C-00DC-67882BE42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32AE-6DC8-A642-9CF8-0259E149CB31}" type="datetimeFigureOut">
              <a:rPr lang="it-IT" smtClean="0"/>
              <a:t>06/09/26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F737B09-5853-020D-28DC-5B20FB3A5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415971F-3934-2C7B-7A9B-9D8F452AE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D195B-4B33-F444-A14C-732D9DF16E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25366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A621D89-4BB0-1186-33ED-755E099DD7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5F4A964-E04A-DA4D-8905-DD139C25E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F49F4D7-D578-43E6-C9DC-70BD9D6E8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32AE-6DC8-A642-9CF8-0259E149CB31}" type="datetimeFigureOut">
              <a:rPr lang="it-IT" smtClean="0"/>
              <a:t>06/09/26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E3111DC-8C69-58F0-338B-5197099AA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5423605-4927-1A52-27A4-1B06C61B6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D195B-4B33-F444-A14C-732D9DF16E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870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CB61C7D-D075-EF34-4BC0-CFCAD7553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35E3BF-34C6-202F-E5D0-25A0B60C2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BF62C6D-9F3B-C5F0-64BD-D53BB564BD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8632AE-6DC8-A642-9CF8-0259E149CB31}" type="datetimeFigureOut">
              <a:rPr lang="it-IT" smtClean="0"/>
              <a:t>06/09/26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2C74670-3879-27B8-B498-328169262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10500F0-EA30-B164-E0EE-647EDECD39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0D195B-4B33-F444-A14C-732D9DF16E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1418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F454B-D47A-A072-6C11-8E530DA6F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B25BF3F0-A30B-AF7D-4B1D-7B2DF0C7BE01}"/>
              </a:ext>
            </a:extLst>
          </p:cNvPr>
          <p:cNvSpPr txBox="1"/>
          <p:nvPr/>
        </p:nvSpPr>
        <p:spPr>
          <a:xfrm>
            <a:off x="343786" y="327753"/>
            <a:ext cx="10745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/>
              <a:t>Priorità 1: 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Emissioni e calcoli GHG Scope 1, 2 e 3 verificabili, tracciabili e riconciliabili</a:t>
            </a:r>
            <a:r>
              <a:rPr lang="it-IT" sz="2400" b="1" dirty="0"/>
              <a:t>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65724DB-0187-8E5A-2A6A-A0EC824EBF2C}"/>
              </a:ext>
            </a:extLst>
          </p:cNvPr>
          <p:cNvSpPr txBox="1"/>
          <p:nvPr/>
        </p:nvSpPr>
        <p:spPr>
          <a:xfrm>
            <a:off x="343787" y="1077433"/>
            <a:ext cx="2030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Obiettivo: Credito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A7F9510-87C1-778F-EEEB-83BF00583EB1}"/>
              </a:ext>
            </a:extLst>
          </p:cNvPr>
          <p:cNvSpPr txBox="1"/>
          <p:nvPr/>
        </p:nvSpPr>
        <p:spPr>
          <a:xfrm>
            <a:off x="343786" y="1899685"/>
            <a:ext cx="115044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Use case: sono il </a:t>
            </a:r>
            <a:r>
              <a:rPr lang="it-IT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cfo</a:t>
            </a:r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  e, al rinnovo del fido, la banca mi chiede le emissioni del gruppo separate per Scope, con documenti a supporto.</a:t>
            </a:r>
          </a:p>
          <a:p>
            <a:endParaRPr lang="it-IT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Capacità digitale necessarie:</a:t>
            </a:r>
          </a:p>
          <a:p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Consolida: combustibili, elettricità e attività Scope 3 per società.</a:t>
            </a:r>
          </a:p>
          <a:p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GHG Accounting: calcola e rendiconta Scope 1, 2 e 3.</a:t>
            </a:r>
          </a:p>
          <a:p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434116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8D8FC-8463-C21D-C55F-FA247A76F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194F0EF8-08F2-2F16-6DFC-BF5F347D786A}"/>
              </a:ext>
            </a:extLst>
          </p:cNvPr>
          <p:cNvSpPr txBox="1"/>
          <p:nvPr/>
        </p:nvSpPr>
        <p:spPr>
          <a:xfrm>
            <a:off x="343786" y="327753"/>
            <a:ext cx="10745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/>
              <a:t>Priorità 2: 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Emissioni e calcoli GHG Scope 1, 2 e 3 verificabili, tracciabili e riconciliabili</a:t>
            </a:r>
            <a:r>
              <a:rPr lang="it-IT" sz="2400" b="1" dirty="0"/>
              <a:t>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38A3C35-F510-AA06-EC28-20FB448DB458}"/>
              </a:ext>
            </a:extLst>
          </p:cNvPr>
          <p:cNvSpPr txBox="1"/>
          <p:nvPr/>
        </p:nvSpPr>
        <p:spPr>
          <a:xfrm>
            <a:off x="343787" y="1077433"/>
            <a:ext cx="2030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Obiettivo: Credito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135FA35-B014-F546-A83D-7D3C02435112}"/>
              </a:ext>
            </a:extLst>
          </p:cNvPr>
          <p:cNvSpPr txBox="1"/>
          <p:nvPr/>
        </p:nvSpPr>
        <p:spPr>
          <a:xfrm>
            <a:off x="343786" y="1899685"/>
            <a:ext cx="115044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Use case: sono il </a:t>
            </a:r>
            <a:r>
              <a:rPr lang="it-IT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cfo</a:t>
            </a:r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  e, al rinnovo del fido, la banca mi chiede le emissioni del gruppo separate per Scope, con documenti a supporto.</a:t>
            </a:r>
          </a:p>
          <a:p>
            <a:endParaRPr lang="it-IT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Capacità digitale necessarie:</a:t>
            </a:r>
          </a:p>
          <a:p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Consolida: combustibili, elettricità e attività Scope 3 per società.</a:t>
            </a:r>
          </a:p>
          <a:p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GHG Accounting: calcola e rendiconta Scope 1, 2 e 3.</a:t>
            </a:r>
          </a:p>
          <a:p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714403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DA4C4-018B-ABFA-0616-758182B08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8E1A523D-CC47-EDD6-3AD5-36BD7603169A}"/>
              </a:ext>
            </a:extLst>
          </p:cNvPr>
          <p:cNvSpPr txBox="1"/>
          <p:nvPr/>
        </p:nvSpPr>
        <p:spPr>
          <a:xfrm>
            <a:off x="343786" y="327753"/>
            <a:ext cx="10745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/>
              <a:t>Priorità 3: 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Emissioni e calcoli GHG Scope 1, 2 e 3 verificabili, tracciabili e riconciliabili</a:t>
            </a:r>
            <a:r>
              <a:rPr lang="it-IT" sz="2400" b="1" dirty="0"/>
              <a:t>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52AD8A7-ADEB-80E9-2FBA-CD2B46DB304A}"/>
              </a:ext>
            </a:extLst>
          </p:cNvPr>
          <p:cNvSpPr txBox="1"/>
          <p:nvPr/>
        </p:nvSpPr>
        <p:spPr>
          <a:xfrm>
            <a:off x="343787" y="1077433"/>
            <a:ext cx="2030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Obiettivo: Credito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DD662B6-DA2A-0D84-75AC-94289667D695}"/>
              </a:ext>
            </a:extLst>
          </p:cNvPr>
          <p:cNvSpPr txBox="1"/>
          <p:nvPr/>
        </p:nvSpPr>
        <p:spPr>
          <a:xfrm>
            <a:off x="343786" y="1899685"/>
            <a:ext cx="115044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Use case: sono il </a:t>
            </a:r>
            <a:r>
              <a:rPr lang="it-IT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cfo</a:t>
            </a:r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  e, al rinnovo del fido, la banca mi chiede le emissioni del gruppo separate per Scope, con documenti a supporto.</a:t>
            </a:r>
          </a:p>
          <a:p>
            <a:endParaRPr lang="it-IT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Capacità digitale necessarie:</a:t>
            </a:r>
          </a:p>
          <a:p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Consolida: combustibili, elettricità e attività Scope 3 per società.</a:t>
            </a:r>
          </a:p>
          <a:p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GHG Accounting: calcola e rendiconta Scope 1, 2 e 3.</a:t>
            </a:r>
          </a:p>
          <a:p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926258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6C0DE-2A5E-0FC1-CA91-B73735B66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52E70255-807A-6753-D5DA-C0D84F641CAD}"/>
              </a:ext>
            </a:extLst>
          </p:cNvPr>
          <p:cNvSpPr txBox="1"/>
          <p:nvPr/>
        </p:nvSpPr>
        <p:spPr>
          <a:xfrm>
            <a:off x="343786" y="327753"/>
            <a:ext cx="10745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/>
              <a:t>Priorità 4: 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Emissioni e calcoli GHG Scope 1, 2 e 3 verificabili, tracciabili e riconciliabili</a:t>
            </a:r>
            <a:r>
              <a:rPr lang="it-IT" sz="2400" b="1" dirty="0"/>
              <a:t>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358F44-50BD-D3B0-2BE2-232510157D8A}"/>
              </a:ext>
            </a:extLst>
          </p:cNvPr>
          <p:cNvSpPr txBox="1"/>
          <p:nvPr/>
        </p:nvSpPr>
        <p:spPr>
          <a:xfrm>
            <a:off x="343787" y="1077433"/>
            <a:ext cx="2030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Obiettivo: Credito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E4C2AE7-20BA-916A-FEA7-35622B7C289E}"/>
              </a:ext>
            </a:extLst>
          </p:cNvPr>
          <p:cNvSpPr txBox="1"/>
          <p:nvPr/>
        </p:nvSpPr>
        <p:spPr>
          <a:xfrm>
            <a:off x="343786" y="1899685"/>
            <a:ext cx="115044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Use case: sono il </a:t>
            </a:r>
            <a:r>
              <a:rPr lang="it-IT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cfo</a:t>
            </a:r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  e, al rinnovo del fido, la banca mi chiede le emissioni del gruppo separate per Scope, con documenti a supporto.</a:t>
            </a:r>
          </a:p>
          <a:p>
            <a:endParaRPr lang="it-IT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Capacità digitale necessarie:</a:t>
            </a:r>
          </a:p>
          <a:p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Consolida: combustibili, elettricità e attività Scope 3 per società.</a:t>
            </a:r>
          </a:p>
          <a:p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GHG Accounting: calcola e rendiconta Scope 1, 2 e 3.</a:t>
            </a:r>
          </a:p>
          <a:p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66068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99188-826A-EAE9-B25A-9ECA4C00E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BFC571B9-5531-A882-51D2-427B8220AD44}"/>
              </a:ext>
            </a:extLst>
          </p:cNvPr>
          <p:cNvSpPr txBox="1"/>
          <p:nvPr/>
        </p:nvSpPr>
        <p:spPr>
          <a:xfrm>
            <a:off x="343786" y="327753"/>
            <a:ext cx="10745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/>
              <a:t>Priorità 5: 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Emissioni e calcoli GHG Scope 1, 2 e 3 verificabili, tracciabili e riconciliabili</a:t>
            </a:r>
            <a:r>
              <a:rPr lang="it-IT" sz="2400" b="1" dirty="0"/>
              <a:t>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8CE6C2F-FF02-DA8D-0DB3-DFAC2327F376}"/>
              </a:ext>
            </a:extLst>
          </p:cNvPr>
          <p:cNvSpPr txBox="1"/>
          <p:nvPr/>
        </p:nvSpPr>
        <p:spPr>
          <a:xfrm>
            <a:off x="343787" y="1077433"/>
            <a:ext cx="2030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Obiettivo: Credito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41BABBB-5AB6-AB15-6AE1-CA3BBFE3521E}"/>
              </a:ext>
            </a:extLst>
          </p:cNvPr>
          <p:cNvSpPr txBox="1"/>
          <p:nvPr/>
        </p:nvSpPr>
        <p:spPr>
          <a:xfrm>
            <a:off x="343786" y="1899685"/>
            <a:ext cx="115044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Use case: sono il </a:t>
            </a:r>
            <a:r>
              <a:rPr lang="it-IT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cfo</a:t>
            </a:r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  e, al rinnovo del fido, la banca mi chiede le emissioni del gruppo separate per Scope, con documenti a supporto.</a:t>
            </a:r>
          </a:p>
          <a:p>
            <a:endParaRPr lang="it-IT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Capacità digitale necessarie:</a:t>
            </a:r>
          </a:p>
          <a:p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Consolida: combustibili, elettricità e attività Scope 3 per società.</a:t>
            </a:r>
          </a:p>
          <a:p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GHG Accounting: calcola e rendiconta Scope 1, 2 e 3.</a:t>
            </a:r>
          </a:p>
          <a:p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57996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1B45E-B854-C912-8787-E9B42CA92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C4A756F5-A613-D57D-75B9-A9C10465E6FF}"/>
              </a:ext>
            </a:extLst>
          </p:cNvPr>
          <p:cNvSpPr txBox="1"/>
          <p:nvPr/>
        </p:nvSpPr>
        <p:spPr>
          <a:xfrm>
            <a:off x="343786" y="308344"/>
            <a:ext cx="6847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/>
              <a:t>Conclusioni e raccomandazioni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EC7CBF7-47E5-C95C-B8C4-A2801ED5047E}"/>
              </a:ext>
            </a:extLst>
          </p:cNvPr>
          <p:cNvSpPr txBox="1"/>
          <p:nvPr/>
        </p:nvSpPr>
        <p:spPr>
          <a:xfrm>
            <a:off x="343786" y="1077433"/>
            <a:ext cx="115044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Genera sintesi delle informazioni organizzate nella presentazione</a:t>
            </a:r>
          </a:p>
          <a:p>
            <a:endParaRPr lang="it-IT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1600" dirty="0">
                <a:latin typeface="Calibri" panose="020F0502020204030204" pitchFamily="34" charset="0"/>
                <a:cs typeface="Calibri" panose="020F0502020204030204" pitchFamily="34" charset="0"/>
              </a:rPr>
              <a:t>Raccomanda una analisi di adozione di nuova strategia digitale che indirizza l’analisi fatta</a:t>
            </a:r>
          </a:p>
        </p:txBody>
      </p:sp>
    </p:spTree>
    <p:extLst>
      <p:ext uri="{BB962C8B-B14F-4D97-AF65-F5344CB8AC3E}">
        <p14:creationId xmlns:p14="http://schemas.microsoft.com/office/powerpoint/2010/main" val="25239211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428</Words>
  <Application>Microsoft Macintosh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felice petrignano</dc:creator>
  <cp:lastModifiedBy>felice petrignano</cp:lastModifiedBy>
  <cp:revision>1</cp:revision>
  <dcterms:created xsi:type="dcterms:W3CDTF">2026-09-06T14:30:33Z</dcterms:created>
  <dcterms:modified xsi:type="dcterms:W3CDTF">2026-09-06T14:40:02Z</dcterms:modified>
</cp:coreProperties>
</file>