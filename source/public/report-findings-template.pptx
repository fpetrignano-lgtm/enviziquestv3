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78"/>
  </p:normalViewPr>
  <p:slideViewPr>
    <p:cSldViewPr snapToGrid="0">
      <p:cViewPr varScale="1">
        <p:scale>
          <a:sx n="150" d="100"/>
          <a:sy n="150" d="100"/>
        </p:scale>
        <p:origin x="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EC69F-EEB2-274F-92B5-87002CFA56AD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D9E772-3340-C64F-BA75-EF85203E255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599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498AD-4095-7A39-1DAB-1D61434F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103BCF-47D2-5BD9-002E-3CEF6BAF7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B9066-C5E1-6E7A-B81A-DD5C3F271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330FE-4DB5-C94D-19A0-4F880983A44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9349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7A171-8F32-A434-59B3-218279B0F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EDB1-1AB4-8015-CCF8-6D1E1F5B9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6437C9-669E-45E3-8325-0B2688D65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C3768-51DC-65B4-3903-14DC2A51384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672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AF1836-7FE3-0092-D553-DA2ACD763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8EBBAF8-259D-23A4-9ADE-467D8E0108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04077F-AA02-6FC5-F0D2-D9C6E6215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6E8B0CA-C018-D55C-E7F2-A8F950E2D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DC0AED1-7A9D-4A2D-FF41-F8DE1A8AF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89766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FDBD0B-55B4-105E-65D3-8BAB60F0C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423BF20-6C4E-0BD7-B52B-366E8C25D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F002AC-4712-38AF-642E-D8BB8AFD8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66F7CF1-6D9C-5640-2306-3C89B4AC8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AAF84F8-27B1-4863-24C3-1ACCA70DA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909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B6A153-F777-5D7B-D4EE-AA56707C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DAAEB7-BFA0-936A-F027-0762354B0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38E494-44EC-A013-5F96-33DCA0484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39BDD6-D434-7701-0EDB-5EC6AFE16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ED68EE4-1DDA-3912-575B-5862CA6FC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84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7690B4-45D8-1EB1-F9C4-6A3C98D20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7BDD32-CC95-54AC-5900-3F2338C53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C8FC8F3-CD4D-4EB0-C10E-9B81387D7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4088EF8-F1EF-408E-B47B-A1258FE32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699CF6-59F4-2B39-9467-879D2F835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D6B46F-BC93-E2FF-DA54-826680E90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627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277960-B631-9014-6E46-57D698B9F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C6261-A42F-6ADF-5978-BE902ADD7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20793FB-ED69-C4FD-A539-F20698F8D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643D488-0ADB-7513-BD55-27226FB361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1667939-38A4-20A8-0194-8D9D33DE8C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28D473-A0DC-AEC9-6F51-FC1A1C8A6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0230D9E-3201-4A53-02BE-BFDD79E29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E04C361-7335-8B6D-CCBC-AB17D9BF3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1848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DB98AB-6602-1064-666A-A58A5BE35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946592B-79C1-B8D1-CE58-0571F45B3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9582A72D-33BC-8261-A324-90661B36D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C7BE57C-E4A2-E67A-3D77-A08585D70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6325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4D70C2B-E0F1-5D77-7319-25DBD1FEB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B120FB-A6D6-AAF4-1342-07A4933DF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A85183C-FA90-2569-F26F-67FEC4196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9094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60EAC5-2C4C-7A94-1CC6-9AF18BABC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52EAAC-6150-881D-EB2A-2F2EB297C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96336-16C9-E34B-66F8-E917F1F87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2B86C80-36B0-36CA-0BA4-B202155F4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5DDA304-5A59-6DCD-A68A-802DC5A6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CDF031F-04F9-F866-603B-923CBB245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5916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AF5AE7-5A4C-719D-8F11-C45B3B501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186878B-2C94-DA80-6DD7-0620B8604A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68C0C8D-8602-6E79-331D-F0B9897456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0146202-910E-18D8-9F67-593008CFD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4E1F527-1728-0A73-BF8D-93C41375D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1F41DA-1C59-ABAA-5F53-AE2A8EA36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0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1A3FA5-B19C-B1F8-A394-10393E22F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7E11920-1876-F9A9-F387-BD19909EB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4143F29-DF8C-5F6D-0113-F7E88815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878D8E-8D68-0ABF-A05E-FA4064437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194D69E-5945-0E9B-D87E-5452BF764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3231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8373C7F-93E8-7226-B06F-8789E3D767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11FED5-76FD-597C-10DE-9728E6000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830955-A3DD-2A0B-98FB-71EF37527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7C3C38-39FD-C1D2-C7C6-C2DECC3AF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15A075-8329-4F92-5D5D-9B35121B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71768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7270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D65D3D9-89FE-0AD1-0197-6D449F5E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BB3D22-DBAC-3D22-5082-451D18AC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C5C8B4-0E00-2967-6ACC-6512EACE5A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3CB230-5178-CD4B-94D2-CF1C26B95F24}" type="datetimeFigureOut">
              <a:rPr lang="it-IT" smtClean="0"/>
              <a:t>06/09/26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E6A787-40C8-C912-BC35-915514A998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69A2E0F-EF3A-A829-14DA-BDB0BC988A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451FF-B311-814A-AD1F-AF625F598F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8877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19DAE74-0069-4330-8C8C-F7D523592735}"/>
              </a:ext>
            </a:extLst>
          </p:cNvPr>
          <p:cNvSpPr>
            <a:spLocks noGrp="1"/>
          </p:cNvSpPr>
          <p:nvPr/>
        </p:nvSpPr>
        <p:spPr>
          <a:xfrm>
            <a:off x="261221" y="137433"/>
            <a:ext cx="9699388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Erica presenta criticità operative in ambito ESG che richiedono l’esame </a:t>
            </a:r>
            <a:b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</a:br>
            <a: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di specifiche capacità digitali a supporto degli use case presi in esame.</a:t>
            </a:r>
            <a:endParaRPr sz="2025" b="0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0B0DA487-ED6A-BE4A-2358-F3DF654C78D5}"/>
              </a:ext>
            </a:extLst>
          </p:cNvPr>
          <p:cNvSpPr>
            <a:spLocks noGrp="1"/>
          </p:cNvSpPr>
          <p:nvPr/>
        </p:nvSpPr>
        <p:spPr>
          <a:xfrm>
            <a:off x="4679685" y="6474481"/>
            <a:ext cx="24242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IBM Envizi Quest</a:t>
            </a:r>
          </a:p>
        </p:txBody>
      </p:sp>
      <p:pic>
        <p:nvPicPr>
          <p:cNvPr id="80" name="logo_compan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987" y="226487"/>
            <a:ext cx="1830243" cy="523220"/>
          </a:xfrm>
          <a:prstGeom prst="rect">
            <a:avLst/>
          </a:prstGeom>
        </p:spPr>
      </p:pic>
      <p:pic>
        <p:nvPicPr>
          <p:cNvPr id="3" name="Immagine 32">
            <a:extLst>
              <a:ext uri="{FF2B5EF4-FFF2-40B4-BE49-F238E27FC236}">
                <a16:creationId xmlns:a16="http://schemas.microsoft.com/office/drawing/2014/main" id="{579CE835-3362-AC44-E0C6-B8A6FFC40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618" y="974224"/>
            <a:ext cx="3775834" cy="1739900"/>
          </a:xfrm>
          <a:prstGeom prst="rect">
            <a:avLst/>
          </a:prstGeom>
        </p:spPr>
      </p:pic>
      <p:sp>
        <p:nvSpPr>
          <p:cNvPr id="14" name="Rettangolo 13">
            <a:extLst>
              <a:ext uri="{FF2B5EF4-FFF2-40B4-BE49-F238E27FC236}">
                <a16:creationId xmlns:a16="http://schemas.microsoft.com/office/drawing/2014/main" id="{8288C0CA-3979-7230-C06C-60C8D1E5FFE4}"/>
              </a:ext>
            </a:extLst>
          </p:cNvPr>
          <p:cNvSpPr/>
          <p:nvPr/>
        </p:nvSpPr>
        <p:spPr>
          <a:xfrm>
            <a:off x="8006414" y="1023069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2F8AA89-F93A-8BA6-1566-54552F5371CF}"/>
              </a:ext>
            </a:extLst>
          </p:cNvPr>
          <p:cNvSpPr/>
          <p:nvPr/>
        </p:nvSpPr>
        <p:spPr>
          <a:xfrm>
            <a:off x="1599782" y="1110767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0F9F9730-11C0-8136-95A2-BCC5D9AAA2F5}"/>
              </a:ext>
            </a:extLst>
          </p:cNvPr>
          <p:cNvSpPr/>
          <p:nvPr/>
        </p:nvSpPr>
        <p:spPr>
          <a:xfrm>
            <a:off x="4277008" y="1054968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pic>
        <p:nvPicPr>
          <p:cNvPr id="31" name="Immagine 32">
            <a:extLst>
              <a:ext uri="{FF2B5EF4-FFF2-40B4-BE49-F238E27FC236}">
                <a16:creationId xmlns:a16="http://schemas.microsoft.com/office/drawing/2014/main" id="{FCF0C729-20E7-3DF4-229C-1E5F82D7A3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1032130"/>
            <a:ext cx="3775834" cy="1739900"/>
          </a:xfrm>
          <a:prstGeom prst="rect">
            <a:avLst/>
          </a:prstGeom>
        </p:spPr>
      </p:pic>
      <p:pic>
        <p:nvPicPr>
          <p:cNvPr id="32" name="Immagine 32">
            <a:extLst>
              <a:ext uri="{FF2B5EF4-FFF2-40B4-BE49-F238E27FC236}">
                <a16:creationId xmlns:a16="http://schemas.microsoft.com/office/drawing/2014/main" id="{0C3EFD95-4855-13A0-488E-CD1226847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0716" y="974224"/>
            <a:ext cx="3775834" cy="1797806"/>
          </a:xfrm>
          <a:prstGeom prst="rect">
            <a:avLst/>
          </a:prstGeom>
        </p:spPr>
      </p:pic>
      <p:sp>
        <p:nvSpPr>
          <p:cNvPr id="33" name="Rettangolo 32">
            <a:extLst>
              <a:ext uri="{FF2B5EF4-FFF2-40B4-BE49-F238E27FC236}">
                <a16:creationId xmlns:a16="http://schemas.microsoft.com/office/drawing/2014/main" id="{0C178A3D-227C-454A-18CF-4FF6DAB87056}"/>
              </a:ext>
            </a:extLst>
          </p:cNvPr>
          <p:cNvSpPr>
            <a:spLocks noGrp="1"/>
          </p:cNvSpPr>
          <p:nvPr/>
        </p:nvSpPr>
        <p:spPr>
          <a:xfrm>
            <a:off x="4277008" y="1192009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4" name="Immagine 32">
            <a:extLst>
              <a:ext uri="{FF2B5EF4-FFF2-40B4-BE49-F238E27FC236}">
                <a16:creationId xmlns:a16="http://schemas.microsoft.com/office/drawing/2014/main" id="{EE73721F-AA8B-4B7D-7661-5C1053A650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803" y="1017071"/>
            <a:ext cx="3775834" cy="1739900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201523A4-32F4-5A7F-E579-D297F6FEDB49}"/>
              </a:ext>
            </a:extLst>
          </p:cNvPr>
          <p:cNvSpPr>
            <a:spLocks noGrp="1"/>
          </p:cNvSpPr>
          <p:nvPr/>
        </p:nvSpPr>
        <p:spPr>
          <a:xfrm>
            <a:off x="8151558" y="1104644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ED1FECD1-7DA8-2AE8-5D4B-F33DD47E9B4D}"/>
              </a:ext>
            </a:extLst>
          </p:cNvPr>
          <p:cNvSpPr/>
          <p:nvPr/>
        </p:nvSpPr>
        <p:spPr>
          <a:xfrm>
            <a:off x="8221134" y="1405843"/>
            <a:ext cx="319904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C53784A4-30DA-C408-CE28-CEC264DB3714}"/>
              </a:ext>
            </a:extLst>
          </p:cNvPr>
          <p:cNvSpPr>
            <a:spLocks noGrp="1"/>
          </p:cNvSpPr>
          <p:nvPr/>
        </p:nvSpPr>
        <p:spPr>
          <a:xfrm>
            <a:off x="406772" y="116154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990C08DE-9F40-7E22-375C-8A7329143632}"/>
              </a:ext>
            </a:extLst>
          </p:cNvPr>
          <p:cNvSpPr/>
          <p:nvPr/>
        </p:nvSpPr>
        <p:spPr>
          <a:xfrm>
            <a:off x="1599782" y="1493541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40" name="Rettangolo 39">
            <a:extLst>
              <a:ext uri="{FF2B5EF4-FFF2-40B4-BE49-F238E27FC236}">
                <a16:creationId xmlns:a16="http://schemas.microsoft.com/office/drawing/2014/main" id="{DF7F310D-AABE-F7AD-1B24-BACE1EAA45F5}"/>
              </a:ext>
            </a:extLst>
          </p:cNvPr>
          <p:cNvSpPr/>
          <p:nvPr/>
        </p:nvSpPr>
        <p:spPr>
          <a:xfrm>
            <a:off x="4277008" y="1437742"/>
            <a:ext cx="3017364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41" name="Rettangolo 40">
            <a:extLst>
              <a:ext uri="{FF2B5EF4-FFF2-40B4-BE49-F238E27FC236}">
                <a16:creationId xmlns:a16="http://schemas.microsoft.com/office/drawing/2014/main" id="{4A2677A9-BD64-88B9-7EE4-B4B9A3105C6A}"/>
              </a:ext>
            </a:extLst>
          </p:cNvPr>
          <p:cNvSpPr/>
          <p:nvPr/>
        </p:nvSpPr>
        <p:spPr>
          <a:xfrm>
            <a:off x="8238113" y="1395858"/>
            <a:ext cx="2950362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43" name="Immagine 32">
            <a:extLst>
              <a:ext uri="{FF2B5EF4-FFF2-40B4-BE49-F238E27FC236}">
                <a16:creationId xmlns:a16="http://schemas.microsoft.com/office/drawing/2014/main" id="{3E4DE149-65E4-8C4F-ED6E-E1ACB9634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794" y="2785304"/>
            <a:ext cx="3775834" cy="1739900"/>
          </a:xfrm>
          <a:prstGeom prst="rect">
            <a:avLst/>
          </a:prstGeom>
        </p:spPr>
      </p:pic>
      <p:sp>
        <p:nvSpPr>
          <p:cNvPr id="45" name="Rettangolo 44">
            <a:extLst>
              <a:ext uri="{FF2B5EF4-FFF2-40B4-BE49-F238E27FC236}">
                <a16:creationId xmlns:a16="http://schemas.microsoft.com/office/drawing/2014/main" id="{1635CAD6-1063-CAE0-67FF-8527B0D06E3F}"/>
              </a:ext>
            </a:extLst>
          </p:cNvPr>
          <p:cNvSpPr/>
          <p:nvPr/>
        </p:nvSpPr>
        <p:spPr>
          <a:xfrm>
            <a:off x="8006414" y="2834149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31648218-A880-3936-60F6-FF697EB1B7F1}"/>
              </a:ext>
            </a:extLst>
          </p:cNvPr>
          <p:cNvSpPr/>
          <p:nvPr/>
        </p:nvSpPr>
        <p:spPr>
          <a:xfrm>
            <a:off x="1613958" y="2921847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49" name="Rettangolo 48">
            <a:extLst>
              <a:ext uri="{FF2B5EF4-FFF2-40B4-BE49-F238E27FC236}">
                <a16:creationId xmlns:a16="http://schemas.microsoft.com/office/drawing/2014/main" id="{68EF9920-88A4-75C3-0507-19D0FFC682E2}"/>
              </a:ext>
            </a:extLst>
          </p:cNvPr>
          <p:cNvSpPr/>
          <p:nvPr/>
        </p:nvSpPr>
        <p:spPr>
          <a:xfrm>
            <a:off x="4064794" y="2866048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4117DC62-5C05-EDC4-7C71-8B9B7316778A}"/>
              </a:ext>
            </a:extLst>
          </p:cNvPr>
          <p:cNvSpPr/>
          <p:nvPr/>
        </p:nvSpPr>
        <p:spPr>
          <a:xfrm>
            <a:off x="8006414" y="2834149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52" name="Immagine 32">
            <a:extLst>
              <a:ext uri="{FF2B5EF4-FFF2-40B4-BE49-F238E27FC236}">
                <a16:creationId xmlns:a16="http://schemas.microsoft.com/office/drawing/2014/main" id="{AB64DE44-71C4-2A31-4493-3BABB80618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2785304"/>
            <a:ext cx="3775834" cy="1739900"/>
          </a:xfrm>
          <a:prstGeom prst="rect">
            <a:avLst/>
          </a:prstGeom>
        </p:spPr>
      </p:pic>
      <p:pic>
        <p:nvPicPr>
          <p:cNvPr id="53" name="Immagine 32">
            <a:extLst>
              <a:ext uri="{FF2B5EF4-FFF2-40B4-BE49-F238E27FC236}">
                <a16:creationId xmlns:a16="http://schemas.microsoft.com/office/drawing/2014/main" id="{9194E3BB-6971-3ABE-BBCA-3D80C61ECE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022" y="2785304"/>
            <a:ext cx="3775834" cy="1797806"/>
          </a:xfrm>
          <a:prstGeom prst="rect">
            <a:avLst/>
          </a:prstGeom>
        </p:spPr>
      </p:pic>
      <p:sp>
        <p:nvSpPr>
          <p:cNvPr id="54" name="Rettangolo 53">
            <a:extLst>
              <a:ext uri="{FF2B5EF4-FFF2-40B4-BE49-F238E27FC236}">
                <a16:creationId xmlns:a16="http://schemas.microsoft.com/office/drawing/2014/main" id="{B9D0D25C-3617-C121-7CE6-09A0C820D071}"/>
              </a:ext>
            </a:extLst>
          </p:cNvPr>
          <p:cNvSpPr>
            <a:spLocks noGrp="1"/>
          </p:cNvSpPr>
          <p:nvPr/>
        </p:nvSpPr>
        <p:spPr>
          <a:xfrm>
            <a:off x="4196782" y="300206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5" name="Immagine 32">
            <a:extLst>
              <a:ext uri="{FF2B5EF4-FFF2-40B4-BE49-F238E27FC236}">
                <a16:creationId xmlns:a16="http://schemas.microsoft.com/office/drawing/2014/main" id="{DA7FBA0C-5235-7B32-B859-7A1AF9141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414" y="2785304"/>
            <a:ext cx="3775834" cy="1739900"/>
          </a:xfrm>
          <a:prstGeom prst="rect">
            <a:avLst/>
          </a:prstGeom>
        </p:spPr>
      </p:pic>
      <p:sp>
        <p:nvSpPr>
          <p:cNvPr id="56" name="Rettangolo 55">
            <a:extLst>
              <a:ext uri="{FF2B5EF4-FFF2-40B4-BE49-F238E27FC236}">
                <a16:creationId xmlns:a16="http://schemas.microsoft.com/office/drawing/2014/main" id="{E51BAB18-970F-BB1B-2B21-BF8A51219034}"/>
              </a:ext>
            </a:extLst>
          </p:cNvPr>
          <p:cNvSpPr>
            <a:spLocks noGrp="1"/>
          </p:cNvSpPr>
          <p:nvPr/>
        </p:nvSpPr>
        <p:spPr>
          <a:xfrm>
            <a:off x="8253729" y="2981923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Rettangolo 56">
            <a:extLst>
              <a:ext uri="{FF2B5EF4-FFF2-40B4-BE49-F238E27FC236}">
                <a16:creationId xmlns:a16="http://schemas.microsoft.com/office/drawing/2014/main" id="{4B14EEF0-D750-07CF-0268-0CE2B202DB8E}"/>
              </a:ext>
            </a:extLst>
          </p:cNvPr>
          <p:cNvSpPr/>
          <p:nvPr/>
        </p:nvSpPr>
        <p:spPr>
          <a:xfrm>
            <a:off x="8238112" y="3216923"/>
            <a:ext cx="3182061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753EEE2D-B446-94A6-3647-F7AD935634AB}"/>
              </a:ext>
            </a:extLst>
          </p:cNvPr>
          <p:cNvSpPr>
            <a:spLocks noGrp="1"/>
          </p:cNvSpPr>
          <p:nvPr/>
        </p:nvSpPr>
        <p:spPr>
          <a:xfrm>
            <a:off x="420948" y="297262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15439D1F-3EA4-F8B3-4E36-0B9429C6D7B9}"/>
              </a:ext>
            </a:extLst>
          </p:cNvPr>
          <p:cNvSpPr/>
          <p:nvPr/>
        </p:nvSpPr>
        <p:spPr>
          <a:xfrm>
            <a:off x="1613958" y="3304621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2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D19BAE12-6203-EABD-E2E1-BF8D08D4AC3C}"/>
              </a:ext>
            </a:extLst>
          </p:cNvPr>
          <p:cNvSpPr/>
          <p:nvPr/>
        </p:nvSpPr>
        <p:spPr>
          <a:xfrm>
            <a:off x="4196782" y="3248822"/>
            <a:ext cx="3097590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64" name="Rettangolo 63">
            <a:extLst>
              <a:ext uri="{FF2B5EF4-FFF2-40B4-BE49-F238E27FC236}">
                <a16:creationId xmlns:a16="http://schemas.microsoft.com/office/drawing/2014/main" id="{B297AFB7-6504-4E48-5821-21EA670B9E91}"/>
              </a:ext>
            </a:extLst>
          </p:cNvPr>
          <p:cNvSpPr/>
          <p:nvPr/>
        </p:nvSpPr>
        <p:spPr>
          <a:xfrm>
            <a:off x="8300616" y="3228085"/>
            <a:ext cx="2887859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65" name="Immagine 32">
            <a:extLst>
              <a:ext uri="{FF2B5EF4-FFF2-40B4-BE49-F238E27FC236}">
                <a16:creationId xmlns:a16="http://schemas.microsoft.com/office/drawing/2014/main" id="{FDFE9885-3CB9-BD0B-84EC-65821198C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794" y="4575117"/>
            <a:ext cx="3775834" cy="1739900"/>
          </a:xfrm>
          <a:prstGeom prst="rect">
            <a:avLst/>
          </a:prstGeom>
        </p:spPr>
      </p:pic>
      <p:sp>
        <p:nvSpPr>
          <p:cNvPr id="67" name="Rettangolo 66">
            <a:extLst>
              <a:ext uri="{FF2B5EF4-FFF2-40B4-BE49-F238E27FC236}">
                <a16:creationId xmlns:a16="http://schemas.microsoft.com/office/drawing/2014/main" id="{B393E01A-43CE-A258-B8A0-36A4656F9443}"/>
              </a:ext>
            </a:extLst>
          </p:cNvPr>
          <p:cNvSpPr/>
          <p:nvPr/>
        </p:nvSpPr>
        <p:spPr>
          <a:xfrm>
            <a:off x="8006414" y="4623962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C418949F-F465-0870-FFEA-FD40A543F1F0}"/>
              </a:ext>
            </a:extLst>
          </p:cNvPr>
          <p:cNvSpPr/>
          <p:nvPr/>
        </p:nvSpPr>
        <p:spPr>
          <a:xfrm>
            <a:off x="1670665" y="4711660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A841A0BD-DA93-5E8E-597B-DC49D303AC02}"/>
              </a:ext>
            </a:extLst>
          </p:cNvPr>
          <p:cNvSpPr/>
          <p:nvPr/>
        </p:nvSpPr>
        <p:spPr>
          <a:xfrm>
            <a:off x="4064794" y="4655861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73" name="Rettangolo 72">
            <a:extLst>
              <a:ext uri="{FF2B5EF4-FFF2-40B4-BE49-F238E27FC236}">
                <a16:creationId xmlns:a16="http://schemas.microsoft.com/office/drawing/2014/main" id="{A16EB10A-0836-D5C3-D86C-054F26080BDE}"/>
              </a:ext>
            </a:extLst>
          </p:cNvPr>
          <p:cNvSpPr/>
          <p:nvPr/>
        </p:nvSpPr>
        <p:spPr>
          <a:xfrm>
            <a:off x="8006414" y="4623962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74" name="Immagine 32">
            <a:extLst>
              <a:ext uri="{FF2B5EF4-FFF2-40B4-BE49-F238E27FC236}">
                <a16:creationId xmlns:a16="http://schemas.microsoft.com/office/drawing/2014/main" id="{CCC8926E-3C8C-4B14-D370-EB21F7844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4575117"/>
            <a:ext cx="3775834" cy="1739900"/>
          </a:xfrm>
          <a:prstGeom prst="rect">
            <a:avLst/>
          </a:prstGeom>
        </p:spPr>
      </p:pic>
      <p:pic>
        <p:nvPicPr>
          <p:cNvPr id="75" name="Immagine 32">
            <a:extLst>
              <a:ext uri="{FF2B5EF4-FFF2-40B4-BE49-F238E27FC236}">
                <a16:creationId xmlns:a16="http://schemas.microsoft.com/office/drawing/2014/main" id="{78B47465-D526-5F95-7791-EF2C37D7E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022" y="4575117"/>
            <a:ext cx="3775834" cy="1797806"/>
          </a:xfrm>
          <a:prstGeom prst="rect">
            <a:avLst/>
          </a:prstGeom>
        </p:spPr>
      </p:pic>
      <p:sp>
        <p:nvSpPr>
          <p:cNvPr id="76" name="Rettangolo 75">
            <a:extLst>
              <a:ext uri="{FF2B5EF4-FFF2-40B4-BE49-F238E27FC236}">
                <a16:creationId xmlns:a16="http://schemas.microsoft.com/office/drawing/2014/main" id="{3D76F7B0-B907-95CE-0D87-9B193E8C4B31}"/>
              </a:ext>
            </a:extLst>
          </p:cNvPr>
          <p:cNvSpPr>
            <a:spLocks noGrp="1"/>
          </p:cNvSpPr>
          <p:nvPr/>
        </p:nvSpPr>
        <p:spPr>
          <a:xfrm>
            <a:off x="4230580" y="476244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7" name="Immagine 32">
            <a:extLst>
              <a:ext uri="{FF2B5EF4-FFF2-40B4-BE49-F238E27FC236}">
                <a16:creationId xmlns:a16="http://schemas.microsoft.com/office/drawing/2014/main" id="{176D797B-3563-98CF-314A-276852DB3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414" y="4575117"/>
            <a:ext cx="3775834" cy="1739900"/>
          </a:xfrm>
          <a:prstGeom prst="rect">
            <a:avLst/>
          </a:prstGeom>
        </p:spPr>
      </p:pic>
      <p:sp>
        <p:nvSpPr>
          <p:cNvPr id="78" name="Rettangolo 77">
            <a:extLst>
              <a:ext uri="{FF2B5EF4-FFF2-40B4-BE49-F238E27FC236}">
                <a16:creationId xmlns:a16="http://schemas.microsoft.com/office/drawing/2014/main" id="{E0FECC4E-759E-94BC-28BA-CA458FE10483}"/>
              </a:ext>
            </a:extLst>
          </p:cNvPr>
          <p:cNvSpPr>
            <a:spLocks noGrp="1"/>
          </p:cNvSpPr>
          <p:nvPr/>
        </p:nvSpPr>
        <p:spPr>
          <a:xfrm>
            <a:off x="8238112" y="474337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Rettangolo 78">
            <a:extLst>
              <a:ext uri="{FF2B5EF4-FFF2-40B4-BE49-F238E27FC236}">
                <a16:creationId xmlns:a16="http://schemas.microsoft.com/office/drawing/2014/main" id="{88CEDAAE-20FE-0043-8AC4-42F3FB909370}"/>
              </a:ext>
            </a:extLst>
          </p:cNvPr>
          <p:cNvSpPr/>
          <p:nvPr/>
        </p:nvSpPr>
        <p:spPr>
          <a:xfrm>
            <a:off x="8300615" y="5038635"/>
            <a:ext cx="3150809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1" name="Rettangolo 80">
            <a:extLst>
              <a:ext uri="{FF2B5EF4-FFF2-40B4-BE49-F238E27FC236}">
                <a16:creationId xmlns:a16="http://schemas.microsoft.com/office/drawing/2014/main" id="{B1C474B0-004A-7FDB-94B8-726A9B3A9E54}"/>
              </a:ext>
            </a:extLst>
          </p:cNvPr>
          <p:cNvSpPr>
            <a:spLocks noGrp="1"/>
          </p:cNvSpPr>
          <p:nvPr/>
        </p:nvSpPr>
        <p:spPr>
          <a:xfrm>
            <a:off x="477655" y="476244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Rettangolo 81">
            <a:extLst>
              <a:ext uri="{FF2B5EF4-FFF2-40B4-BE49-F238E27FC236}">
                <a16:creationId xmlns:a16="http://schemas.microsoft.com/office/drawing/2014/main" id="{6442A896-895B-B6F6-DB78-4E1624F3CB3D}"/>
              </a:ext>
            </a:extLst>
          </p:cNvPr>
          <p:cNvSpPr/>
          <p:nvPr/>
        </p:nvSpPr>
        <p:spPr>
          <a:xfrm>
            <a:off x="1670665" y="5094434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3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83" name="Rettangolo 82">
            <a:extLst>
              <a:ext uri="{FF2B5EF4-FFF2-40B4-BE49-F238E27FC236}">
                <a16:creationId xmlns:a16="http://schemas.microsoft.com/office/drawing/2014/main" id="{5D46E711-7540-91A7-FA5C-24DF80F5FECB}"/>
              </a:ext>
            </a:extLst>
          </p:cNvPr>
          <p:cNvSpPr/>
          <p:nvPr/>
        </p:nvSpPr>
        <p:spPr>
          <a:xfrm>
            <a:off x="4238134" y="5038635"/>
            <a:ext cx="3017364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84" name="Rettangolo 83">
            <a:extLst>
              <a:ext uri="{FF2B5EF4-FFF2-40B4-BE49-F238E27FC236}">
                <a16:creationId xmlns:a16="http://schemas.microsoft.com/office/drawing/2014/main" id="{B270E29F-0AAB-E2EF-C2C2-C25442E16F96}"/>
              </a:ext>
            </a:extLst>
          </p:cNvPr>
          <p:cNvSpPr/>
          <p:nvPr/>
        </p:nvSpPr>
        <p:spPr>
          <a:xfrm>
            <a:off x="8347182" y="5016319"/>
            <a:ext cx="279472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</p:spTree>
    <p:extLst>
      <p:ext uri="{BB962C8B-B14F-4D97-AF65-F5344CB8AC3E}">
        <p14:creationId xmlns:p14="http://schemas.microsoft.com/office/powerpoint/2010/main" val="2850165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555DB-5167-3A5B-7762-800A6331C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5012C4DA-5D85-B733-E6C6-9D4C5DA9FA3B}"/>
              </a:ext>
            </a:extLst>
          </p:cNvPr>
          <p:cNvSpPr>
            <a:spLocks noGrp="1"/>
          </p:cNvSpPr>
          <p:nvPr/>
        </p:nvSpPr>
        <p:spPr>
          <a:xfrm>
            <a:off x="261221" y="137433"/>
            <a:ext cx="9699388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Erica presenta criticità operative in ambito ESG che richiedono l’esame </a:t>
            </a:r>
            <a:b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</a:br>
            <a: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di specifiche capacità digitali a supporto degli use case presi in esame.</a:t>
            </a:r>
            <a:endParaRPr sz="2025" b="0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4E9CA1D4-0380-100E-39BE-280D62CCE256}"/>
              </a:ext>
            </a:extLst>
          </p:cNvPr>
          <p:cNvSpPr>
            <a:spLocks noGrp="1"/>
          </p:cNvSpPr>
          <p:nvPr/>
        </p:nvSpPr>
        <p:spPr>
          <a:xfrm>
            <a:off x="4679685" y="6474481"/>
            <a:ext cx="24242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IBM Envizi Quest</a:t>
            </a:r>
          </a:p>
        </p:txBody>
      </p:sp>
      <p:pic>
        <p:nvPicPr>
          <p:cNvPr id="80" name="logo_company">
            <a:extLst>
              <a:ext uri="{FF2B5EF4-FFF2-40B4-BE49-F238E27FC236}">
                <a16:creationId xmlns:a16="http://schemas.microsoft.com/office/drawing/2014/main" id="{03744814-154E-5A96-3A9C-795EB5304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987" y="226487"/>
            <a:ext cx="1830243" cy="523220"/>
          </a:xfrm>
          <a:prstGeom prst="rect">
            <a:avLst/>
          </a:prstGeom>
        </p:spPr>
      </p:pic>
      <p:pic>
        <p:nvPicPr>
          <p:cNvPr id="3" name="Immagine 32">
            <a:extLst>
              <a:ext uri="{FF2B5EF4-FFF2-40B4-BE49-F238E27FC236}">
                <a16:creationId xmlns:a16="http://schemas.microsoft.com/office/drawing/2014/main" id="{1D6675A1-4F80-3DB3-29BA-46D7C1CD76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618" y="974224"/>
            <a:ext cx="3775834" cy="1739900"/>
          </a:xfrm>
          <a:prstGeom prst="rect">
            <a:avLst/>
          </a:prstGeom>
        </p:spPr>
      </p:pic>
      <p:sp>
        <p:nvSpPr>
          <p:cNvPr id="14" name="Rettangolo 13">
            <a:extLst>
              <a:ext uri="{FF2B5EF4-FFF2-40B4-BE49-F238E27FC236}">
                <a16:creationId xmlns:a16="http://schemas.microsoft.com/office/drawing/2014/main" id="{85BFB888-CCB5-614B-A183-742091C6AE42}"/>
              </a:ext>
            </a:extLst>
          </p:cNvPr>
          <p:cNvSpPr/>
          <p:nvPr/>
        </p:nvSpPr>
        <p:spPr>
          <a:xfrm>
            <a:off x="8006414" y="1023069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E257573A-CF7C-FAD2-CB70-E15A56C31629}"/>
              </a:ext>
            </a:extLst>
          </p:cNvPr>
          <p:cNvSpPr/>
          <p:nvPr/>
        </p:nvSpPr>
        <p:spPr>
          <a:xfrm>
            <a:off x="1599782" y="1110767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B3F7D466-B04D-D5CA-0452-D4A112DEC007}"/>
              </a:ext>
            </a:extLst>
          </p:cNvPr>
          <p:cNvSpPr/>
          <p:nvPr/>
        </p:nvSpPr>
        <p:spPr>
          <a:xfrm>
            <a:off x="4277008" y="1054968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pic>
        <p:nvPicPr>
          <p:cNvPr id="31" name="Immagine 32">
            <a:extLst>
              <a:ext uri="{FF2B5EF4-FFF2-40B4-BE49-F238E27FC236}">
                <a16:creationId xmlns:a16="http://schemas.microsoft.com/office/drawing/2014/main" id="{D6BCEC17-58DA-37C6-8123-CDE1D0A4A8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1032130"/>
            <a:ext cx="3775834" cy="1739900"/>
          </a:xfrm>
          <a:prstGeom prst="rect">
            <a:avLst/>
          </a:prstGeom>
        </p:spPr>
      </p:pic>
      <p:pic>
        <p:nvPicPr>
          <p:cNvPr id="32" name="Immagine 32">
            <a:extLst>
              <a:ext uri="{FF2B5EF4-FFF2-40B4-BE49-F238E27FC236}">
                <a16:creationId xmlns:a16="http://schemas.microsoft.com/office/drawing/2014/main" id="{60F815A1-8EA8-17BE-0C70-8A1349348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0716" y="974224"/>
            <a:ext cx="3775834" cy="1797806"/>
          </a:xfrm>
          <a:prstGeom prst="rect">
            <a:avLst/>
          </a:prstGeom>
        </p:spPr>
      </p:pic>
      <p:sp>
        <p:nvSpPr>
          <p:cNvPr id="33" name="Rettangolo 32">
            <a:extLst>
              <a:ext uri="{FF2B5EF4-FFF2-40B4-BE49-F238E27FC236}">
                <a16:creationId xmlns:a16="http://schemas.microsoft.com/office/drawing/2014/main" id="{637445E3-A734-BCF9-0992-C5C0CE503F6E}"/>
              </a:ext>
            </a:extLst>
          </p:cNvPr>
          <p:cNvSpPr>
            <a:spLocks noGrp="1"/>
          </p:cNvSpPr>
          <p:nvPr/>
        </p:nvSpPr>
        <p:spPr>
          <a:xfrm>
            <a:off x="4277008" y="1192009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34" name="Immagine 32">
            <a:extLst>
              <a:ext uri="{FF2B5EF4-FFF2-40B4-BE49-F238E27FC236}">
                <a16:creationId xmlns:a16="http://schemas.microsoft.com/office/drawing/2014/main" id="{37EF3CA5-3469-177E-BD90-C8A50943A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803" y="1017071"/>
            <a:ext cx="3775834" cy="1739900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7D7C192E-565B-D041-1A3F-B33831BA6F34}"/>
              </a:ext>
            </a:extLst>
          </p:cNvPr>
          <p:cNvSpPr>
            <a:spLocks noGrp="1"/>
          </p:cNvSpPr>
          <p:nvPr/>
        </p:nvSpPr>
        <p:spPr>
          <a:xfrm>
            <a:off x="8151558" y="1104644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0A64F8A6-0EB1-AB78-BB4E-CD8C20F32FF5}"/>
              </a:ext>
            </a:extLst>
          </p:cNvPr>
          <p:cNvSpPr/>
          <p:nvPr/>
        </p:nvSpPr>
        <p:spPr>
          <a:xfrm>
            <a:off x="8221134" y="1405843"/>
            <a:ext cx="319904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0BE9BD42-82DE-E60A-4F32-63412C922367}"/>
              </a:ext>
            </a:extLst>
          </p:cNvPr>
          <p:cNvSpPr>
            <a:spLocks noGrp="1"/>
          </p:cNvSpPr>
          <p:nvPr/>
        </p:nvSpPr>
        <p:spPr>
          <a:xfrm>
            <a:off x="406772" y="116154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AFB1AFA9-3822-5B19-5D0E-549FBB80154A}"/>
              </a:ext>
            </a:extLst>
          </p:cNvPr>
          <p:cNvSpPr/>
          <p:nvPr/>
        </p:nvSpPr>
        <p:spPr>
          <a:xfrm>
            <a:off x="1599782" y="1493541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40" name="Rettangolo 39">
            <a:extLst>
              <a:ext uri="{FF2B5EF4-FFF2-40B4-BE49-F238E27FC236}">
                <a16:creationId xmlns:a16="http://schemas.microsoft.com/office/drawing/2014/main" id="{10546082-B588-D9F8-1230-2B3F11B484BC}"/>
              </a:ext>
            </a:extLst>
          </p:cNvPr>
          <p:cNvSpPr/>
          <p:nvPr/>
        </p:nvSpPr>
        <p:spPr>
          <a:xfrm>
            <a:off x="4277008" y="1437742"/>
            <a:ext cx="3017364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41" name="Rettangolo 40">
            <a:extLst>
              <a:ext uri="{FF2B5EF4-FFF2-40B4-BE49-F238E27FC236}">
                <a16:creationId xmlns:a16="http://schemas.microsoft.com/office/drawing/2014/main" id="{4D71904B-AE7A-3F8A-7199-32DD192B6936}"/>
              </a:ext>
            </a:extLst>
          </p:cNvPr>
          <p:cNvSpPr/>
          <p:nvPr/>
        </p:nvSpPr>
        <p:spPr>
          <a:xfrm>
            <a:off x="8238113" y="1395858"/>
            <a:ext cx="2950362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43" name="Immagine 32">
            <a:extLst>
              <a:ext uri="{FF2B5EF4-FFF2-40B4-BE49-F238E27FC236}">
                <a16:creationId xmlns:a16="http://schemas.microsoft.com/office/drawing/2014/main" id="{FAA71801-E55B-1422-ABFF-DF43C8239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794" y="2785304"/>
            <a:ext cx="3775834" cy="1739900"/>
          </a:xfrm>
          <a:prstGeom prst="rect">
            <a:avLst/>
          </a:prstGeom>
        </p:spPr>
      </p:pic>
      <p:sp>
        <p:nvSpPr>
          <p:cNvPr id="45" name="Rettangolo 44">
            <a:extLst>
              <a:ext uri="{FF2B5EF4-FFF2-40B4-BE49-F238E27FC236}">
                <a16:creationId xmlns:a16="http://schemas.microsoft.com/office/drawing/2014/main" id="{69A36AD3-7461-E485-B060-B2C65D19369F}"/>
              </a:ext>
            </a:extLst>
          </p:cNvPr>
          <p:cNvSpPr/>
          <p:nvPr/>
        </p:nvSpPr>
        <p:spPr>
          <a:xfrm>
            <a:off x="8006414" y="2834149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7" name="Rettangolo 46">
            <a:extLst>
              <a:ext uri="{FF2B5EF4-FFF2-40B4-BE49-F238E27FC236}">
                <a16:creationId xmlns:a16="http://schemas.microsoft.com/office/drawing/2014/main" id="{86A76971-A49D-19C0-7079-AA742DC40CB1}"/>
              </a:ext>
            </a:extLst>
          </p:cNvPr>
          <p:cNvSpPr/>
          <p:nvPr/>
        </p:nvSpPr>
        <p:spPr>
          <a:xfrm>
            <a:off x="1613958" y="2921847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49" name="Rettangolo 48">
            <a:extLst>
              <a:ext uri="{FF2B5EF4-FFF2-40B4-BE49-F238E27FC236}">
                <a16:creationId xmlns:a16="http://schemas.microsoft.com/office/drawing/2014/main" id="{C17B1463-0DB4-6A43-9578-87AD19FD4A53}"/>
              </a:ext>
            </a:extLst>
          </p:cNvPr>
          <p:cNvSpPr/>
          <p:nvPr/>
        </p:nvSpPr>
        <p:spPr>
          <a:xfrm>
            <a:off x="4064794" y="2866048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0433F9D-A07B-276D-3610-73FE78D3B03A}"/>
              </a:ext>
            </a:extLst>
          </p:cNvPr>
          <p:cNvSpPr/>
          <p:nvPr/>
        </p:nvSpPr>
        <p:spPr>
          <a:xfrm>
            <a:off x="8006414" y="2834149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52" name="Immagine 32">
            <a:extLst>
              <a:ext uri="{FF2B5EF4-FFF2-40B4-BE49-F238E27FC236}">
                <a16:creationId xmlns:a16="http://schemas.microsoft.com/office/drawing/2014/main" id="{9746C423-F140-8DB0-931A-1476DCBF85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2785304"/>
            <a:ext cx="3775834" cy="1739900"/>
          </a:xfrm>
          <a:prstGeom prst="rect">
            <a:avLst/>
          </a:prstGeom>
        </p:spPr>
      </p:pic>
      <p:pic>
        <p:nvPicPr>
          <p:cNvPr id="53" name="Immagine 32">
            <a:extLst>
              <a:ext uri="{FF2B5EF4-FFF2-40B4-BE49-F238E27FC236}">
                <a16:creationId xmlns:a16="http://schemas.microsoft.com/office/drawing/2014/main" id="{239D7729-E3D7-D40B-BA68-85116E80DF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022" y="2785304"/>
            <a:ext cx="3775834" cy="1797806"/>
          </a:xfrm>
          <a:prstGeom prst="rect">
            <a:avLst/>
          </a:prstGeom>
        </p:spPr>
      </p:pic>
      <p:sp>
        <p:nvSpPr>
          <p:cNvPr id="54" name="Rettangolo 53">
            <a:extLst>
              <a:ext uri="{FF2B5EF4-FFF2-40B4-BE49-F238E27FC236}">
                <a16:creationId xmlns:a16="http://schemas.microsoft.com/office/drawing/2014/main" id="{D6784F60-0AB7-4591-BC40-1E752545AB4C}"/>
              </a:ext>
            </a:extLst>
          </p:cNvPr>
          <p:cNvSpPr>
            <a:spLocks noGrp="1"/>
          </p:cNvSpPr>
          <p:nvPr/>
        </p:nvSpPr>
        <p:spPr>
          <a:xfrm>
            <a:off x="4196782" y="300206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5" name="Immagine 32">
            <a:extLst>
              <a:ext uri="{FF2B5EF4-FFF2-40B4-BE49-F238E27FC236}">
                <a16:creationId xmlns:a16="http://schemas.microsoft.com/office/drawing/2014/main" id="{38D1D53C-2400-A446-9D12-ACB4D2A37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414" y="2785304"/>
            <a:ext cx="3775834" cy="1739900"/>
          </a:xfrm>
          <a:prstGeom prst="rect">
            <a:avLst/>
          </a:prstGeom>
        </p:spPr>
      </p:pic>
      <p:sp>
        <p:nvSpPr>
          <p:cNvPr id="56" name="Rettangolo 55">
            <a:extLst>
              <a:ext uri="{FF2B5EF4-FFF2-40B4-BE49-F238E27FC236}">
                <a16:creationId xmlns:a16="http://schemas.microsoft.com/office/drawing/2014/main" id="{DA7827DD-B80F-D7D3-F9D5-C14C75C8E06C}"/>
              </a:ext>
            </a:extLst>
          </p:cNvPr>
          <p:cNvSpPr>
            <a:spLocks noGrp="1"/>
          </p:cNvSpPr>
          <p:nvPr/>
        </p:nvSpPr>
        <p:spPr>
          <a:xfrm>
            <a:off x="8253729" y="2981923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Rettangolo 56">
            <a:extLst>
              <a:ext uri="{FF2B5EF4-FFF2-40B4-BE49-F238E27FC236}">
                <a16:creationId xmlns:a16="http://schemas.microsoft.com/office/drawing/2014/main" id="{12234E70-4737-8053-EEFE-67A6B404A982}"/>
              </a:ext>
            </a:extLst>
          </p:cNvPr>
          <p:cNvSpPr/>
          <p:nvPr/>
        </p:nvSpPr>
        <p:spPr>
          <a:xfrm>
            <a:off x="8238112" y="3216923"/>
            <a:ext cx="3182061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BAB0317D-201C-C834-777C-2ECEB433ACFF}"/>
              </a:ext>
            </a:extLst>
          </p:cNvPr>
          <p:cNvSpPr>
            <a:spLocks noGrp="1"/>
          </p:cNvSpPr>
          <p:nvPr/>
        </p:nvSpPr>
        <p:spPr>
          <a:xfrm>
            <a:off x="420948" y="297262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2" name="Rettangolo 61">
            <a:extLst>
              <a:ext uri="{FF2B5EF4-FFF2-40B4-BE49-F238E27FC236}">
                <a16:creationId xmlns:a16="http://schemas.microsoft.com/office/drawing/2014/main" id="{AF222B70-5E1C-810E-05EC-1ACA18DFC038}"/>
              </a:ext>
            </a:extLst>
          </p:cNvPr>
          <p:cNvSpPr/>
          <p:nvPr/>
        </p:nvSpPr>
        <p:spPr>
          <a:xfrm>
            <a:off x="1613958" y="3304621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2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63" name="Rettangolo 62">
            <a:extLst>
              <a:ext uri="{FF2B5EF4-FFF2-40B4-BE49-F238E27FC236}">
                <a16:creationId xmlns:a16="http://schemas.microsoft.com/office/drawing/2014/main" id="{AFD5E6FC-82F2-F83E-EC77-EDF7EF45CC3C}"/>
              </a:ext>
            </a:extLst>
          </p:cNvPr>
          <p:cNvSpPr/>
          <p:nvPr/>
        </p:nvSpPr>
        <p:spPr>
          <a:xfrm>
            <a:off x="4196782" y="3248822"/>
            <a:ext cx="3097590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64" name="Rettangolo 63">
            <a:extLst>
              <a:ext uri="{FF2B5EF4-FFF2-40B4-BE49-F238E27FC236}">
                <a16:creationId xmlns:a16="http://schemas.microsoft.com/office/drawing/2014/main" id="{A0181414-CC99-0BB7-255C-99EE53425AB5}"/>
              </a:ext>
            </a:extLst>
          </p:cNvPr>
          <p:cNvSpPr/>
          <p:nvPr/>
        </p:nvSpPr>
        <p:spPr>
          <a:xfrm>
            <a:off x="8300616" y="3228085"/>
            <a:ext cx="2887859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65" name="Immagine 32">
            <a:extLst>
              <a:ext uri="{FF2B5EF4-FFF2-40B4-BE49-F238E27FC236}">
                <a16:creationId xmlns:a16="http://schemas.microsoft.com/office/drawing/2014/main" id="{1DD1205C-8039-ED6C-A0CD-86111A459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4794" y="4575117"/>
            <a:ext cx="3775834" cy="1739900"/>
          </a:xfrm>
          <a:prstGeom prst="rect">
            <a:avLst/>
          </a:prstGeom>
        </p:spPr>
      </p:pic>
      <p:sp>
        <p:nvSpPr>
          <p:cNvPr id="67" name="Rettangolo 66">
            <a:extLst>
              <a:ext uri="{FF2B5EF4-FFF2-40B4-BE49-F238E27FC236}">
                <a16:creationId xmlns:a16="http://schemas.microsoft.com/office/drawing/2014/main" id="{C3D872EA-B286-4191-5045-F6896452E295}"/>
              </a:ext>
            </a:extLst>
          </p:cNvPr>
          <p:cNvSpPr/>
          <p:nvPr/>
        </p:nvSpPr>
        <p:spPr>
          <a:xfrm>
            <a:off x="8006414" y="4623962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1" name="Rettangolo 70">
            <a:extLst>
              <a:ext uri="{FF2B5EF4-FFF2-40B4-BE49-F238E27FC236}">
                <a16:creationId xmlns:a16="http://schemas.microsoft.com/office/drawing/2014/main" id="{DF9421DD-5FBB-64F2-2259-564F7E202B31}"/>
              </a:ext>
            </a:extLst>
          </p:cNvPr>
          <p:cNvSpPr/>
          <p:nvPr/>
        </p:nvSpPr>
        <p:spPr>
          <a:xfrm>
            <a:off x="1670665" y="4711660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sfida numero 1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72" name="Rettangolo 71">
            <a:extLst>
              <a:ext uri="{FF2B5EF4-FFF2-40B4-BE49-F238E27FC236}">
                <a16:creationId xmlns:a16="http://schemas.microsoft.com/office/drawing/2014/main" id="{7EB7180F-F1F6-966C-8DA9-D428226870B0}"/>
              </a:ext>
            </a:extLst>
          </p:cNvPr>
          <p:cNvSpPr/>
          <p:nvPr/>
        </p:nvSpPr>
        <p:spPr>
          <a:xfrm>
            <a:off x="4064794" y="4655861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73" name="Rettangolo 72">
            <a:extLst>
              <a:ext uri="{FF2B5EF4-FFF2-40B4-BE49-F238E27FC236}">
                <a16:creationId xmlns:a16="http://schemas.microsoft.com/office/drawing/2014/main" id="{DE138E3E-105E-9F36-7714-5FF4B17B4283}"/>
              </a:ext>
            </a:extLst>
          </p:cNvPr>
          <p:cNvSpPr/>
          <p:nvPr/>
        </p:nvSpPr>
        <p:spPr>
          <a:xfrm>
            <a:off x="8006414" y="4623962"/>
            <a:ext cx="3229578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  <p:pic>
        <p:nvPicPr>
          <p:cNvPr id="74" name="Immagine 32">
            <a:extLst>
              <a:ext uri="{FF2B5EF4-FFF2-40B4-BE49-F238E27FC236}">
                <a16:creationId xmlns:a16="http://schemas.microsoft.com/office/drawing/2014/main" id="{EFF11067-5B91-13B7-14E5-A2B3FC5D6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9" y="4575117"/>
            <a:ext cx="3775834" cy="1739900"/>
          </a:xfrm>
          <a:prstGeom prst="rect">
            <a:avLst/>
          </a:prstGeom>
        </p:spPr>
      </p:pic>
      <p:pic>
        <p:nvPicPr>
          <p:cNvPr id="75" name="Immagine 32">
            <a:extLst>
              <a:ext uri="{FF2B5EF4-FFF2-40B4-BE49-F238E27FC236}">
                <a16:creationId xmlns:a16="http://schemas.microsoft.com/office/drawing/2014/main" id="{E35D6683-524B-7B26-BDF1-2C4D14E85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022" y="4575117"/>
            <a:ext cx="3775834" cy="1797806"/>
          </a:xfrm>
          <a:prstGeom prst="rect">
            <a:avLst/>
          </a:prstGeom>
        </p:spPr>
      </p:pic>
      <p:sp>
        <p:nvSpPr>
          <p:cNvPr id="76" name="Rettangolo 75">
            <a:extLst>
              <a:ext uri="{FF2B5EF4-FFF2-40B4-BE49-F238E27FC236}">
                <a16:creationId xmlns:a16="http://schemas.microsoft.com/office/drawing/2014/main" id="{D2279A9A-81EC-D5BB-D19B-9504C2F99E50}"/>
              </a:ext>
            </a:extLst>
          </p:cNvPr>
          <p:cNvSpPr>
            <a:spLocks noGrp="1"/>
          </p:cNvSpPr>
          <p:nvPr/>
        </p:nvSpPr>
        <p:spPr>
          <a:xfrm>
            <a:off x="4230580" y="476244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Use case rilevanti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7" name="Immagine 32">
            <a:extLst>
              <a:ext uri="{FF2B5EF4-FFF2-40B4-BE49-F238E27FC236}">
                <a16:creationId xmlns:a16="http://schemas.microsoft.com/office/drawing/2014/main" id="{1CEB272F-73FC-D2DB-AD0A-8CA83C8FA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6414" y="4575117"/>
            <a:ext cx="3775834" cy="1739900"/>
          </a:xfrm>
          <a:prstGeom prst="rect">
            <a:avLst/>
          </a:prstGeom>
        </p:spPr>
      </p:pic>
      <p:sp>
        <p:nvSpPr>
          <p:cNvPr id="78" name="Rettangolo 77">
            <a:extLst>
              <a:ext uri="{FF2B5EF4-FFF2-40B4-BE49-F238E27FC236}">
                <a16:creationId xmlns:a16="http://schemas.microsoft.com/office/drawing/2014/main" id="{CFFD1C7A-6EF1-ED0E-9ED4-A25691FAAA49}"/>
              </a:ext>
            </a:extLst>
          </p:cNvPr>
          <p:cNvSpPr>
            <a:spLocks noGrp="1"/>
          </p:cNvSpPr>
          <p:nvPr/>
        </p:nvSpPr>
        <p:spPr>
          <a:xfrm>
            <a:off x="8238112" y="4743378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125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Capacità digitali necessarie</a:t>
            </a:r>
            <a:endParaRPr sz="1125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Rettangolo 78">
            <a:extLst>
              <a:ext uri="{FF2B5EF4-FFF2-40B4-BE49-F238E27FC236}">
                <a16:creationId xmlns:a16="http://schemas.microsoft.com/office/drawing/2014/main" id="{44B45C89-706B-23E2-5B5C-9D7F74FF46D7}"/>
              </a:ext>
            </a:extLst>
          </p:cNvPr>
          <p:cNvSpPr/>
          <p:nvPr/>
        </p:nvSpPr>
        <p:spPr>
          <a:xfrm>
            <a:off x="8300615" y="5038635"/>
            <a:ext cx="3150809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1" name="Rettangolo 80">
            <a:extLst>
              <a:ext uri="{FF2B5EF4-FFF2-40B4-BE49-F238E27FC236}">
                <a16:creationId xmlns:a16="http://schemas.microsoft.com/office/drawing/2014/main" id="{6870EDDA-EE0A-4CAD-BF54-15F95FF4986B}"/>
              </a:ext>
            </a:extLst>
          </p:cNvPr>
          <p:cNvSpPr>
            <a:spLocks noGrp="1"/>
          </p:cNvSpPr>
          <p:nvPr/>
        </p:nvSpPr>
        <p:spPr>
          <a:xfrm>
            <a:off x="477655" y="4762441"/>
            <a:ext cx="3413760" cy="3086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it-IT" sz="1200" b="1" i="0" u="none" cap="none" spc="0" dirty="0">
                <a:ln>
                  <a:noFill/>
                </a:ln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Obiettivo compliance e reporting</a:t>
            </a:r>
            <a:endParaRPr sz="1200" b="1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Rettangolo 81">
            <a:extLst>
              <a:ext uri="{FF2B5EF4-FFF2-40B4-BE49-F238E27FC236}">
                <a16:creationId xmlns:a16="http://schemas.microsoft.com/office/drawing/2014/main" id="{9DAF6CF9-0604-5ABB-D786-2E6F89533FD0}"/>
              </a:ext>
            </a:extLst>
          </p:cNvPr>
          <p:cNvSpPr/>
          <p:nvPr/>
        </p:nvSpPr>
        <p:spPr>
          <a:xfrm>
            <a:off x="1670665" y="5094434"/>
            <a:ext cx="219721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 principale sfida di dati è segue Testo sfida numero 3 nella matrice a pagina 6 di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report.ppx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</p:txBody>
      </p:sp>
      <p:sp>
        <p:nvSpPr>
          <p:cNvPr id="83" name="Rettangolo 82">
            <a:extLst>
              <a:ext uri="{FF2B5EF4-FFF2-40B4-BE49-F238E27FC236}">
                <a16:creationId xmlns:a16="http://schemas.microsoft.com/office/drawing/2014/main" id="{C35AC10E-3DAF-0DBD-6B26-B2B282C1FBC5}"/>
              </a:ext>
            </a:extLst>
          </p:cNvPr>
          <p:cNvSpPr/>
          <p:nvPr/>
        </p:nvSpPr>
        <p:spPr>
          <a:xfrm>
            <a:off x="4238134" y="5038635"/>
            <a:ext cx="3017364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pop up in app 23 ·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priority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Matrix associato alla sfida numero 1. Se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piu’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di una scelta fatta concatena il testo</a:t>
            </a:r>
          </a:p>
        </p:txBody>
      </p:sp>
      <p:sp>
        <p:nvSpPr>
          <p:cNvPr id="84" name="Rettangolo 83">
            <a:extLst>
              <a:ext uri="{FF2B5EF4-FFF2-40B4-BE49-F238E27FC236}">
                <a16:creationId xmlns:a16="http://schemas.microsoft.com/office/drawing/2014/main" id="{73B2289B-5DAC-AFB3-BBC5-97041E1BCD01}"/>
              </a:ext>
            </a:extLst>
          </p:cNvPr>
          <p:cNvSpPr/>
          <p:nvPr/>
        </p:nvSpPr>
        <p:spPr>
          <a:xfrm>
            <a:off x="8347182" y="5016319"/>
            <a:ext cx="2794725" cy="11008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Testo da foglio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excel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Use case, testo in colonna </a:t>
            </a:r>
            <a:r>
              <a:rPr lang="it-IT" sz="12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it-IT" sz="12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e G. Esponi il testo con bullet e a capo per ogni voce.</a:t>
            </a:r>
          </a:p>
        </p:txBody>
      </p:sp>
    </p:spTree>
    <p:extLst>
      <p:ext uri="{BB962C8B-B14F-4D97-AF65-F5344CB8AC3E}">
        <p14:creationId xmlns:p14="http://schemas.microsoft.com/office/powerpoint/2010/main" val="146465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82292-C7FF-45CD-B9A4-96E342D0C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7510ABB9-4486-2C2F-4CD0-7E5CB09B80CB}"/>
              </a:ext>
            </a:extLst>
          </p:cNvPr>
          <p:cNvSpPr>
            <a:spLocks noGrp="1"/>
          </p:cNvSpPr>
          <p:nvPr/>
        </p:nvSpPr>
        <p:spPr>
          <a:xfrm>
            <a:off x="261221" y="137433"/>
            <a:ext cx="9699388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it-IT" sz="2025" dirty="0">
                <a:solidFill>
                  <a:srgbClr val="073E31"/>
                </a:solidFill>
                <a:latin typeface="Calibri"/>
                <a:ea typeface="Calibri"/>
                <a:cs typeface="Calibri"/>
              </a:rPr>
              <a:t>Conclusioni e raccomandazioni</a:t>
            </a:r>
            <a:endParaRPr sz="2025" b="0" i="0" u="none" cap="none" spc="0" dirty="0">
              <a:ln>
                <a:noFill/>
              </a:ln>
              <a:solidFill>
                <a:srgbClr val="073E3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D2CB0B1B-6965-BB02-18F1-B7CDF2110269}"/>
              </a:ext>
            </a:extLst>
          </p:cNvPr>
          <p:cNvSpPr>
            <a:spLocks noGrp="1"/>
          </p:cNvSpPr>
          <p:nvPr/>
        </p:nvSpPr>
        <p:spPr>
          <a:xfrm>
            <a:off x="4742250" y="6545797"/>
            <a:ext cx="24242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400" b="0" i="0" u="none" cap="none" spc="0">
                <a:ln>
                  <a:noFill/>
                </a:ln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IBM Envizi Quest</a:t>
            </a:r>
          </a:p>
        </p:txBody>
      </p:sp>
      <p:pic>
        <p:nvPicPr>
          <p:cNvPr id="80" name="logo_company">
            <a:extLst>
              <a:ext uri="{FF2B5EF4-FFF2-40B4-BE49-F238E27FC236}">
                <a16:creationId xmlns:a16="http://schemas.microsoft.com/office/drawing/2014/main" id="{29E73FE5-9083-2093-1984-874FBFE08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5987" y="226487"/>
            <a:ext cx="1830243" cy="523220"/>
          </a:xfrm>
          <a:prstGeom prst="rect">
            <a:avLst/>
          </a:prstGeom>
        </p:spPr>
      </p:pic>
      <p:sp>
        <p:nvSpPr>
          <p:cNvPr id="14" name="Rettangolo 13">
            <a:extLst>
              <a:ext uri="{FF2B5EF4-FFF2-40B4-BE49-F238E27FC236}">
                <a16:creationId xmlns:a16="http://schemas.microsoft.com/office/drawing/2014/main" id="{634B23E4-3ABB-7A97-3DCD-5BB37255B9B9}"/>
              </a:ext>
            </a:extLst>
          </p:cNvPr>
          <p:cNvSpPr/>
          <p:nvPr/>
        </p:nvSpPr>
        <p:spPr>
          <a:xfrm>
            <a:off x="8006414" y="1023069"/>
            <a:ext cx="3413760" cy="11884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1" name="Immagine 32">
            <a:extLst>
              <a:ext uri="{FF2B5EF4-FFF2-40B4-BE49-F238E27FC236}">
                <a16:creationId xmlns:a16="http://schemas.microsoft.com/office/drawing/2014/main" id="{AA162990-F264-3D8B-6257-FD84698B0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0173" y="6116317"/>
            <a:ext cx="3775834" cy="1739900"/>
          </a:xfrm>
          <a:prstGeom prst="rect">
            <a:avLst/>
          </a:prstGeom>
        </p:spPr>
      </p:pic>
      <p:pic>
        <p:nvPicPr>
          <p:cNvPr id="4" name="Immagine 50">
            <a:extLst>
              <a:ext uri="{FF2B5EF4-FFF2-40B4-BE49-F238E27FC236}">
                <a16:creationId xmlns:a16="http://schemas.microsoft.com/office/drawing/2014/main" id="{107EA5AC-82E1-251D-3100-975A43A6C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56455"/>
            <a:ext cx="12133528" cy="2235425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CACB28FF-FFF7-B6B2-FD2E-B4BBAFC64981}"/>
              </a:ext>
            </a:extLst>
          </p:cNvPr>
          <p:cNvSpPr>
            <a:spLocks noGrp="1"/>
          </p:cNvSpPr>
          <p:nvPr/>
        </p:nvSpPr>
        <p:spPr>
          <a:xfrm>
            <a:off x="265499" y="1023069"/>
            <a:ext cx="10715767" cy="10287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r>
              <a:rPr lang="it-IT" sz="1600" b="0" dirty="0">
                <a:solidFill>
                  <a:srgbClr val="062D29"/>
                </a:solidFill>
                <a:latin typeface="Calibri"/>
                <a:ea typeface="Calibri"/>
                <a:cs typeface="Calibri"/>
              </a:rPr>
              <a:t>Valutazione </a:t>
            </a:r>
            <a:endParaRPr sz="1600" b="0" dirty="0">
              <a:solidFill>
                <a:srgbClr val="062D29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240360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891</Words>
  <Application>Microsoft Macintosh PowerPoint</Application>
  <PresentationFormat>Widescreen</PresentationFormat>
  <Paragraphs>59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felice petrignano</dc:creator>
  <cp:lastModifiedBy>felice petrignano</cp:lastModifiedBy>
  <cp:revision>3</cp:revision>
  <dcterms:created xsi:type="dcterms:W3CDTF">2026-09-06T12:43:26Z</dcterms:created>
  <dcterms:modified xsi:type="dcterms:W3CDTF">2026-09-06T13:15:18Z</dcterms:modified>
</cp:coreProperties>
</file>