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68b723cb74637" /><Relationship Type="http://schemas.openxmlformats.org/officeDocument/2006/relationships/extended-properties" Target="/docProps/app.xml" Id="R1b1ab17c228e4e14" /><Relationship Type="http://schemas.openxmlformats.org/officeDocument/2006/relationships/officeDocument" Target="/ppt/presentation.xml" Id="Redfb07e0875d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07ec44e88e4644"/>
    <p:sldMasterId xmlns:r="http://schemas.openxmlformats.org/officeDocument/2006/relationships" id="2147483650" r:id="Rc29f179a73d04e8b"/>
  </p:sldMasterIdLst>
  <p:notesMasterIdLst>
    <p:notesMasterId xmlns:r="http://schemas.openxmlformats.org/officeDocument/2006/relationships" r:id="R6f661a525e444e11"/>
  </p:notesMasterIdLst>
  <p:sldIdLst>
    <p:sldId xmlns:r="http://schemas.openxmlformats.org/officeDocument/2006/relationships" id="256" r:id="Re0cff1a978c840c6"/>
    <p:sldId xmlns:r="http://schemas.openxmlformats.org/officeDocument/2006/relationships" id="257" r:id="R2dc9102d06754f76"/>
    <p:sldId xmlns:r="http://schemas.openxmlformats.org/officeDocument/2006/relationships" id="258" r:id="Rb6ce72c738534d0d"/>
    <p:sldId xmlns:r="http://schemas.openxmlformats.org/officeDocument/2006/relationships" id="259" r:id="R4c2f9331490b4292"/>
    <p:sldId xmlns:r="http://schemas.openxmlformats.org/officeDocument/2006/relationships" id="260" r:id="R49ad314413044fc4"/>
    <p:sldId xmlns:r="http://schemas.openxmlformats.org/officeDocument/2006/relationships" id="261" r:id="R887b65f9c2d445ed"/>
    <p:sldId xmlns:r="http://schemas.openxmlformats.org/officeDocument/2006/relationships" id="262" r:id="R9e841b8a6794484e"/>
    <p:sldId xmlns:r="http://schemas.openxmlformats.org/officeDocument/2006/relationships" id="263" r:id="R3aafbc65cbb5432d"/>
    <p:sldId xmlns:r="http://schemas.openxmlformats.org/officeDocument/2006/relationships" id="264" r:id="R488121d67c4f42f6"/>
    <p:sldId xmlns:r="http://schemas.openxmlformats.org/officeDocument/2006/relationships" id="265" r:id="R029329c34a184fa5"/>
    <p:sldId xmlns:r="http://schemas.openxmlformats.org/officeDocument/2006/relationships" id="266" r:id="R573054593f0648f3"/>
    <p:sldId xmlns:r="http://schemas.openxmlformats.org/officeDocument/2006/relationships" id="267" r:id="Rb525379025d64200"/>
    <p:sldId xmlns:r="http://schemas.openxmlformats.org/officeDocument/2006/relationships" id="268" r:id="R6a8b4d0db4ba4a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06ad3eb224a78" /><Relationship Type="http://schemas.openxmlformats.org/officeDocument/2006/relationships/slideMaster" Target="/ppt/slideMasters/slideMaster1.xml" Id="R4a07ec44e88e4644" /><Relationship Type="http://schemas.openxmlformats.org/officeDocument/2006/relationships/slideMaster" Target="/ppt/slideMasters/slideMaster2.xml" Id="Rc29f179a73d04e8b" /><Relationship Type="http://schemas.openxmlformats.org/officeDocument/2006/relationships/notesMaster" Target="/ppt/notesMasters/notesMaster1.xml" Id="R6f661a525e444e11" /><Relationship Type="http://schemas.openxmlformats.org/officeDocument/2006/relationships/presProps" Target="/ppt/presProps.xml" Id="R3b8abb20d7414ce8" /><Relationship Type="http://schemas.openxmlformats.org/officeDocument/2006/relationships/viewProps" Target="/ppt/viewProps.xml" Id="R38c7f3af6b8648d5" /><Relationship Type="http://schemas.openxmlformats.org/officeDocument/2006/relationships/tableStyles" Target="/ppt/tableStyles.xml" Id="R0c7df8d0396840fd" /><Relationship Type="http://schemas.openxmlformats.org/officeDocument/2006/relationships/slide" Target="/ppt/slides/slide1.xml" Id="Re0cff1a978c840c6" /><Relationship Type="http://schemas.openxmlformats.org/officeDocument/2006/relationships/slide" Target="/ppt/slides/slide2.xml" Id="R2dc9102d06754f76" /><Relationship Type="http://schemas.openxmlformats.org/officeDocument/2006/relationships/slide" Target="/ppt/slides/slide3.xml" Id="Rb6ce72c738534d0d" /><Relationship Type="http://schemas.openxmlformats.org/officeDocument/2006/relationships/slide" Target="/ppt/slides/slide4.xml" Id="R4c2f9331490b4292" /><Relationship Type="http://schemas.openxmlformats.org/officeDocument/2006/relationships/slide" Target="/ppt/slides/slide5.xml" Id="R49ad314413044fc4" /><Relationship Type="http://schemas.openxmlformats.org/officeDocument/2006/relationships/slide" Target="/ppt/slides/slide6.xml" Id="R887b65f9c2d445ed" /><Relationship Type="http://schemas.openxmlformats.org/officeDocument/2006/relationships/slide" Target="/ppt/slides/slide7.xml" Id="R9e841b8a6794484e" /><Relationship Type="http://schemas.openxmlformats.org/officeDocument/2006/relationships/slide" Target="/ppt/slides/slide8.xml" Id="R3aafbc65cbb5432d" /><Relationship Type="http://schemas.openxmlformats.org/officeDocument/2006/relationships/slide" Target="/ppt/slides/slide9.xml" Id="R488121d67c4f42f6" /><Relationship Type="http://schemas.openxmlformats.org/officeDocument/2006/relationships/slide" Target="/ppt/slides/slide10.xml" Id="R029329c34a184fa5" /><Relationship Type="http://schemas.openxmlformats.org/officeDocument/2006/relationships/slide" Target="/ppt/slides/slide11.xml" Id="R573054593f0648f3" /><Relationship Type="http://schemas.openxmlformats.org/officeDocument/2006/relationships/slide" Target="/ppt/slides/slide12.xml" Id="Rb525379025d64200" /><Relationship Type="http://schemas.openxmlformats.org/officeDocument/2006/relationships/slide" Target="/ppt/slides/slide13.xml" Id="R6a8b4d0db4ba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f3167259a4d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5c3bb3c2884110" /><Relationship Type="http://schemas.openxmlformats.org/officeDocument/2006/relationships/notesMaster" Target="/ppt/notesMasters/notesMaster1.xml" Id="R6f70797431b7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69913b2d2485d" /><Relationship Type="http://schemas.openxmlformats.org/officeDocument/2006/relationships/notesMaster" Target="/ppt/notesMasters/notesMaster1.xml" Id="Rdfed4ad8ed7144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b658e2da14280" /><Relationship Type="http://schemas.openxmlformats.org/officeDocument/2006/relationships/notesMaster" Target="/ppt/notesMasters/notesMaster1.xml" Id="R57d15105a5c7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fb034e49843ff" /><Relationship Type="http://schemas.openxmlformats.org/officeDocument/2006/relationships/notesMaster" Target="/ppt/notesMasters/notesMaster1.xml" Id="Rf450d10ac2b447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d2f7e4b0f47e1" /><Relationship Type="http://schemas.openxmlformats.org/officeDocument/2006/relationships/notesMaster" Target="/ppt/notesMasters/notesMaster1.xml" Id="R989f0b16d33849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687a8c26de4caf" /><Relationship Type="http://schemas.openxmlformats.org/officeDocument/2006/relationships/notesMaster" Target="/ppt/notesMasters/notesMaster1.xml" Id="R03bf809011584c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90db6e7f374696" /><Relationship Type="http://schemas.openxmlformats.org/officeDocument/2006/relationships/notesMaster" Target="/ppt/notesMasters/notesMaster1.xml" Id="Rab8cc04e372c44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d8f36b696494f" /><Relationship Type="http://schemas.openxmlformats.org/officeDocument/2006/relationships/notesMaster" Target="/ppt/notesMasters/notesMaster1.xml" Id="Ra83ce62d23af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fa40cfc224a64" /><Relationship Type="http://schemas.openxmlformats.org/officeDocument/2006/relationships/notesMaster" Target="/ppt/notesMasters/notesMaster1.xml" Id="R4201ce36ed574f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5162e95afb43a7" /><Relationship Type="http://schemas.openxmlformats.org/officeDocument/2006/relationships/notesMaster" Target="/ppt/notesMasters/notesMaster1.xml" Id="Rcd74e38400f24a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f3028b43f64851" /><Relationship Type="http://schemas.openxmlformats.org/officeDocument/2006/relationships/notesMaster" Target="/ppt/notesMasters/notesMaster1.xml" Id="Raba43a939b484c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0ce64e3784da6" /><Relationship Type="http://schemas.openxmlformats.org/officeDocument/2006/relationships/notesMaster" Target="/ppt/notesMasters/notesMaster1.xml" Id="R2c098931432c49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0acdc63f4d4d81" /><Relationship Type="http://schemas.openxmlformats.org/officeDocument/2006/relationships/notesMaster" Target="/ppt/notesMasters/notesMaster1.xml" Id="R55216246c7cc45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b64b3fa5745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85cf0324ab47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38f170dd1640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71ccd063b94a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bb97ca6af46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64c8ddbe3d42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e4827b56ed40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04ecb3feb741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d21a464e0d4a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56c7ac0da044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fe7ead0b5a467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934cd804e4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EFD511D3-87E7-8465-0830-4D0842B3D22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ottotitolo 2">
            <a:extLst xmlns:a="http://schemas.openxmlformats.org/drawingml/2006/main">
              <a:ext uri="{FF2B5EF4-FFF2-40B4-BE49-F238E27FC236}">
                <a16:creationId xmlns:a16="http://schemas.microsoft.com/office/drawing/2014/main" id="{D07B192F-081F-C17A-873F-FB348B4B05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Fare clic per modificare lo stile del sottotitolo dello schema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D5F24277-58DC-62E7-1394-EF07D3BF15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BE9EB-669B-7643-A38D-8EC263FD96A4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24E9E6F2-652B-BD26-EF9B-5D7FB4CC79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E8A81C07-177A-A0E9-44F6-8DA54F8572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438BE364-F6FB-3362-965A-366EFDC6D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contenuto 2">
            <a:extLst xmlns:a="http://schemas.openxmlformats.org/drawingml/2006/main">
              <a:ext uri="{FF2B5EF4-FFF2-40B4-BE49-F238E27FC236}">
                <a16:creationId xmlns:a16="http://schemas.microsoft.com/office/drawing/2014/main" id="{9051E690-07FE-6B93-4923-E97C2C7B2D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A761A462-3FA8-8BA3-FEA2-B537EE3C5C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88B361B-2998-3543-A04B-0B691C58FE21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F396A9DD-480D-9832-24C0-0026BB010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1C55A1ED-E4C8-CB98-DCC8-DBBD367ABE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AEC5B086-EF93-F933-03EA-257FA1972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testo 2">
            <a:extLst xmlns:a="http://schemas.openxmlformats.org/drawingml/2006/main">
              <a:ext uri="{FF2B5EF4-FFF2-40B4-BE49-F238E27FC236}">
                <a16:creationId xmlns:a16="http://schemas.microsoft.com/office/drawing/2014/main" id="{E70BD9D9-4AEB-1300-0D53-46533121F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6F2D6E85-FDC7-E22D-905B-856BAA8A03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10DDC-19BD-084F-B962-E1D5F7691DB7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A8EE2342-A523-A9B8-D591-26004295E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5E9A7115-1FE8-1F8B-64E8-1E0A5BBFD9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90645A63-AEA6-9CD7-D295-16FB71EA5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contenuto 2">
            <a:extLst xmlns:a="http://schemas.openxmlformats.org/drawingml/2006/main">
              <a:ext uri="{FF2B5EF4-FFF2-40B4-BE49-F238E27FC236}">
                <a16:creationId xmlns:a16="http://schemas.microsoft.com/office/drawing/2014/main" id="{C49BE914-1BF2-A766-736D-17A8ACBE6C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contenuto 3">
            <a:extLst xmlns:a="http://schemas.openxmlformats.org/drawingml/2006/main">
              <a:ext uri="{FF2B5EF4-FFF2-40B4-BE49-F238E27FC236}">
                <a16:creationId xmlns:a16="http://schemas.microsoft.com/office/drawing/2014/main" id="{30BDDD51-A2AB-9B08-37AB-027681A960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5" name="Segnaposto data 4">
            <a:extLst xmlns:a="http://schemas.openxmlformats.org/drawingml/2006/main">
              <a:ext uri="{FF2B5EF4-FFF2-40B4-BE49-F238E27FC236}">
                <a16:creationId xmlns:a16="http://schemas.microsoft.com/office/drawing/2014/main" id="{A7B2232F-3A67-D61D-6412-F76144D5E2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9ECD57-3CD1-0547-AD4A-CE97A773E4FD}" type="datetime1">
              <a:t>07/09/26</a:t>
            </a:fld>
            <a:endParaRPr/>
          </a:p>
        </p:txBody>
      </p:sp>
      <p:sp>
        <p:nvSpPr>
          <p:cNvPr id="6" name="Segnaposto piè di pagina 5">
            <a:extLst xmlns:a="http://schemas.openxmlformats.org/drawingml/2006/main">
              <a:ext uri="{FF2B5EF4-FFF2-40B4-BE49-F238E27FC236}">
                <a16:creationId xmlns:a16="http://schemas.microsoft.com/office/drawing/2014/main" id="{72F6BC8C-4011-1C1E-4501-2F4779935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egnaposto numero diapositiva 6">
            <a:extLst xmlns:a="http://schemas.openxmlformats.org/drawingml/2006/main">
              <a:ext uri="{FF2B5EF4-FFF2-40B4-BE49-F238E27FC236}">
                <a16:creationId xmlns:a16="http://schemas.microsoft.com/office/drawing/2014/main" id="{E099EF3F-9986-2DBD-F8A0-99F8A9A96A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1DFE7519-9CAB-1727-4641-A92C902B4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testo 2">
            <a:extLst xmlns:a="http://schemas.openxmlformats.org/drawingml/2006/main">
              <a:ext uri="{FF2B5EF4-FFF2-40B4-BE49-F238E27FC236}">
                <a16:creationId xmlns:a16="http://schemas.microsoft.com/office/drawing/2014/main" id="{8EE7E49B-C084-EB2C-EA1C-251C5D47E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</p:txBody>
      </p:sp>
      <p:sp>
        <p:nvSpPr>
          <p:cNvPr id="4" name="Segnaposto contenuto 3">
            <a:extLst xmlns:a="http://schemas.openxmlformats.org/drawingml/2006/main">
              <a:ext uri="{FF2B5EF4-FFF2-40B4-BE49-F238E27FC236}">
                <a16:creationId xmlns:a16="http://schemas.microsoft.com/office/drawing/2014/main" id="{4A5F78D1-7C70-5D27-564B-F5633691BEA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5" name="Segnaposto testo 4">
            <a:extLst xmlns:a="http://schemas.openxmlformats.org/drawingml/2006/main">
              <a:ext uri="{FF2B5EF4-FFF2-40B4-BE49-F238E27FC236}">
                <a16:creationId xmlns:a16="http://schemas.microsoft.com/office/drawing/2014/main" id="{E0F43B47-4016-8540-8EE3-DFA1F38564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</p:txBody>
      </p:sp>
      <p:sp>
        <p:nvSpPr>
          <p:cNvPr id="6" name="Segnaposto contenuto 5">
            <a:extLst xmlns:a="http://schemas.openxmlformats.org/drawingml/2006/main">
              <a:ext uri="{FF2B5EF4-FFF2-40B4-BE49-F238E27FC236}">
                <a16:creationId xmlns:a16="http://schemas.microsoft.com/office/drawing/2014/main" id="{47DC8044-0F82-2D7D-33D4-A2CBAD4C09C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7" name="Segnaposto data 6">
            <a:extLst xmlns:a="http://schemas.openxmlformats.org/drawingml/2006/main">
              <a:ext uri="{FF2B5EF4-FFF2-40B4-BE49-F238E27FC236}">
                <a16:creationId xmlns:a16="http://schemas.microsoft.com/office/drawing/2014/main" id="{5167A379-2DCF-2B21-BD58-74584CAAB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7E63AD-1E33-0043-A34F-0825B7315AC5}" type="datetime1">
              <a:t>07/09/26</a:t>
            </a:fld>
            <a:endParaRPr/>
          </a:p>
        </p:txBody>
      </p:sp>
      <p:sp>
        <p:nvSpPr>
          <p:cNvPr id="8" name="Segnaposto piè di pagina 7">
            <a:extLst xmlns:a="http://schemas.openxmlformats.org/drawingml/2006/main">
              <a:ext uri="{FF2B5EF4-FFF2-40B4-BE49-F238E27FC236}">
                <a16:creationId xmlns:a16="http://schemas.microsoft.com/office/drawing/2014/main" id="{5873F0C0-2246-7597-2B2F-C61B3BC92C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egnaposto numero diapositiva 8">
            <a:extLst xmlns:a="http://schemas.openxmlformats.org/drawingml/2006/main">
              <a:ext uri="{FF2B5EF4-FFF2-40B4-BE49-F238E27FC236}">
                <a16:creationId xmlns:a16="http://schemas.microsoft.com/office/drawing/2014/main" id="{D33DE598-B791-BDF0-9DA0-0D70FF414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21956543-2E20-04A8-A3DA-3D899C277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data 2">
            <a:extLst xmlns:a="http://schemas.openxmlformats.org/drawingml/2006/main">
              <a:ext uri="{FF2B5EF4-FFF2-40B4-BE49-F238E27FC236}">
                <a16:creationId xmlns:a16="http://schemas.microsoft.com/office/drawing/2014/main" id="{194ADD50-85F2-941E-17BC-75BC0A1C56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FBF48F-9E4B-3B41-B8E9-B58F974E0127}" type="datetime1">
              <a:t>07/09/26</a:t>
            </a:fld>
            <a:endParaRPr/>
          </a:p>
        </p:txBody>
      </p:sp>
      <p:sp>
        <p:nvSpPr>
          <p:cNvPr id="4" name="Segnaposto piè di pagina 3">
            <a:extLst xmlns:a="http://schemas.openxmlformats.org/drawingml/2006/main">
              <a:ext uri="{FF2B5EF4-FFF2-40B4-BE49-F238E27FC236}">
                <a16:creationId xmlns:a16="http://schemas.microsoft.com/office/drawing/2014/main" id="{A2D8C4EB-24E6-4B17-F4F0-53945449DD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egnaposto numero diapositiva 4">
            <a:extLst xmlns:a="http://schemas.openxmlformats.org/drawingml/2006/main">
              <a:ext uri="{FF2B5EF4-FFF2-40B4-BE49-F238E27FC236}">
                <a16:creationId xmlns:a16="http://schemas.microsoft.com/office/drawing/2014/main" id="{02161609-896C-F865-BFCB-4B0859B9C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gnaposto data 1">
            <a:extLst xmlns:a="http://schemas.openxmlformats.org/drawingml/2006/main">
              <a:ext uri="{FF2B5EF4-FFF2-40B4-BE49-F238E27FC236}">
                <a16:creationId xmlns:a16="http://schemas.microsoft.com/office/drawing/2014/main" id="{72DBD537-23D7-44DF-8674-25CFE1E798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52C611-4AFF-9743-BE8C-DA99FA557CA6}" type="datetime1">
              <a:t>07/09/26</a:t>
            </a:fld>
            <a:endParaRPr/>
          </a:p>
        </p:txBody>
      </p:sp>
      <p:sp>
        <p:nvSpPr>
          <p:cNvPr id="3" name="Segnaposto piè di pagina 2">
            <a:extLst xmlns:a="http://schemas.openxmlformats.org/drawingml/2006/main">
              <a:ext uri="{FF2B5EF4-FFF2-40B4-BE49-F238E27FC236}">
                <a16:creationId xmlns:a16="http://schemas.microsoft.com/office/drawing/2014/main" id="{43516A4B-9829-DBE0-82BB-A18505E74E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egnaposto numero diapositiva 3">
            <a:extLst xmlns:a="http://schemas.openxmlformats.org/drawingml/2006/main">
              <a:ext uri="{FF2B5EF4-FFF2-40B4-BE49-F238E27FC236}">
                <a16:creationId xmlns:a16="http://schemas.microsoft.com/office/drawing/2014/main" id="{2B405508-153B-2250-5F5C-024EF83DC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4998488B-D55A-7C9B-CB9F-16CD7C7F6C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contenuto 2">
            <a:extLst xmlns:a="http://schemas.openxmlformats.org/drawingml/2006/main">
              <a:ext uri="{FF2B5EF4-FFF2-40B4-BE49-F238E27FC236}">
                <a16:creationId xmlns:a16="http://schemas.microsoft.com/office/drawing/2014/main" id="{4EFF8706-C1F4-4719-644E-C4B28B7785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testo 3">
            <a:extLst xmlns:a="http://schemas.openxmlformats.org/drawingml/2006/main">
              <a:ext uri="{FF2B5EF4-FFF2-40B4-BE49-F238E27FC236}">
                <a16:creationId xmlns:a16="http://schemas.microsoft.com/office/drawing/2014/main" id="{D3C9DD72-4457-D90B-FBC5-FC57A770F3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</p:txBody>
      </p:sp>
      <p:sp>
        <p:nvSpPr>
          <p:cNvPr id="5" name="Segnaposto data 4">
            <a:extLst xmlns:a="http://schemas.openxmlformats.org/drawingml/2006/main">
              <a:ext uri="{FF2B5EF4-FFF2-40B4-BE49-F238E27FC236}">
                <a16:creationId xmlns:a16="http://schemas.microsoft.com/office/drawing/2014/main" id="{8AB5AC10-39EB-7B95-65BC-EB3D2BA593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4F72F0-7112-1C41-BA93-92BD78407CA6}" type="datetime1">
              <a:t>07/09/26</a:t>
            </a:fld>
            <a:endParaRPr/>
          </a:p>
        </p:txBody>
      </p:sp>
      <p:sp>
        <p:nvSpPr>
          <p:cNvPr id="6" name="Segnaposto piè di pagina 5">
            <a:extLst xmlns:a="http://schemas.openxmlformats.org/drawingml/2006/main">
              <a:ext uri="{FF2B5EF4-FFF2-40B4-BE49-F238E27FC236}">
                <a16:creationId xmlns:a16="http://schemas.microsoft.com/office/drawing/2014/main" id="{A221C6DA-ABCB-BFE9-ECBE-2C095B5206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egnaposto numero diapositiva 6">
            <a:extLst xmlns:a="http://schemas.openxmlformats.org/drawingml/2006/main">
              <a:ext uri="{FF2B5EF4-FFF2-40B4-BE49-F238E27FC236}">
                <a16:creationId xmlns:a16="http://schemas.microsoft.com/office/drawing/2014/main" id="{4DB0A0C1-6E3C-9FAE-CCEF-AD5DC06C7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DECCFB86-6BD5-F02D-2773-F6B588A40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immagine 2">
            <a:extLst xmlns:a="http://schemas.openxmlformats.org/drawingml/2006/main">
              <a:ext uri="{FF2B5EF4-FFF2-40B4-BE49-F238E27FC236}">
                <a16:creationId xmlns:a16="http://schemas.microsoft.com/office/drawing/2014/main" id="{2C419D55-66BA-4874-5AFA-193EEAC7F33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Segnaposto testo 3">
            <a:extLst xmlns:a="http://schemas.openxmlformats.org/drawingml/2006/main">
              <a:ext uri="{FF2B5EF4-FFF2-40B4-BE49-F238E27FC236}">
                <a16:creationId xmlns:a16="http://schemas.microsoft.com/office/drawing/2014/main" id="{47884217-5E7A-443F-1539-752C3BAE94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</p:txBody>
      </p:sp>
      <p:sp>
        <p:nvSpPr>
          <p:cNvPr id="5" name="Segnaposto data 4">
            <a:extLst xmlns:a="http://schemas.openxmlformats.org/drawingml/2006/main">
              <a:ext uri="{FF2B5EF4-FFF2-40B4-BE49-F238E27FC236}">
                <a16:creationId xmlns:a16="http://schemas.microsoft.com/office/drawing/2014/main" id="{CD5BD52E-67E1-3314-7E9F-DFA70540B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4AF98-B3E8-4B49-BF18-6F6E65A654B8}" type="datetime1">
              <a:t>07/09/26</a:t>
            </a:fld>
            <a:endParaRPr/>
          </a:p>
        </p:txBody>
      </p:sp>
      <p:sp>
        <p:nvSpPr>
          <p:cNvPr id="6" name="Segnaposto piè di pagina 5">
            <a:extLst xmlns:a="http://schemas.openxmlformats.org/drawingml/2006/main">
              <a:ext uri="{FF2B5EF4-FFF2-40B4-BE49-F238E27FC236}">
                <a16:creationId xmlns:a16="http://schemas.microsoft.com/office/drawing/2014/main" id="{99789997-FBD0-FA34-6533-7E9B4E601F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egnaposto numero diapositiva 6">
            <a:extLst xmlns:a="http://schemas.openxmlformats.org/drawingml/2006/main">
              <a:ext uri="{FF2B5EF4-FFF2-40B4-BE49-F238E27FC236}">
                <a16:creationId xmlns:a16="http://schemas.microsoft.com/office/drawing/2014/main" id="{C221FFD4-7CC1-B435-17AA-6B46FBB5A2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1">
            <a:extLst xmlns:a="http://schemas.openxmlformats.org/drawingml/2006/main">
              <a:ext uri="{FF2B5EF4-FFF2-40B4-BE49-F238E27FC236}">
                <a16:creationId xmlns:a16="http://schemas.microsoft.com/office/drawing/2014/main" id="{55DE1EE6-E15E-B352-800E-02385AFEB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testo verticale 2">
            <a:extLst xmlns:a="http://schemas.openxmlformats.org/drawingml/2006/main">
              <a:ext uri="{FF2B5EF4-FFF2-40B4-BE49-F238E27FC236}">
                <a16:creationId xmlns:a16="http://schemas.microsoft.com/office/drawing/2014/main" id="{9D4DB38D-3A49-8021-992E-BEC81911C0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7CA4BD39-7534-FF0C-00DC-67882BE42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6BC78C-2390-B640-A288-ECD6255AFE53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0F737B09-5853-020D-28DC-5B20FB3A5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B415971F-3934-2C7B-7A9B-9D8F452AE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olo verticale 1">
            <a:extLst xmlns:a="http://schemas.openxmlformats.org/drawingml/2006/main">
              <a:ext uri="{FF2B5EF4-FFF2-40B4-BE49-F238E27FC236}">
                <a16:creationId xmlns:a16="http://schemas.microsoft.com/office/drawing/2014/main" id="{0A621D89-4BB0-1186-33ED-755E099DD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testo verticale 2">
            <a:extLst xmlns:a="http://schemas.openxmlformats.org/drawingml/2006/main">
              <a:ext uri="{FF2B5EF4-FFF2-40B4-BE49-F238E27FC236}">
                <a16:creationId xmlns:a16="http://schemas.microsoft.com/office/drawing/2014/main" id="{85F4A964-E04A-DA4D-8905-DD139C25E6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9F49F4D7-D578-43E6-C9DC-70BD9D6E85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17106B-7499-EE43-9DC0-4A13E7AA1A05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4E3111DC-8C69-58F0-338B-5197099AA0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95423605-4927-1A52-27A4-1B06C61B6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a24c96e6743fc" /><Relationship Type="http://schemas.openxmlformats.org/officeDocument/2006/relationships/slideLayout" Target="/ppt/slideLayouts/slideLayout1.xml" Id="Rbc92b136a37e49c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07f191116cb4290" /><Relationship Type="http://schemas.openxmlformats.org/officeDocument/2006/relationships/slideLayout" Target="/ppt/slideLayouts/slideLayout2.xml" Id="R48a2b3c2f19941ee" /><Relationship Type="http://schemas.openxmlformats.org/officeDocument/2006/relationships/slideLayout" Target="/ppt/slideLayouts/slideLayout3.xml" Id="Rf082269b45ec4177" /><Relationship Type="http://schemas.openxmlformats.org/officeDocument/2006/relationships/slideLayout" Target="/ppt/slideLayouts/slideLayout4.xml" Id="Rb8fa88f758244dc0" /><Relationship Type="http://schemas.openxmlformats.org/officeDocument/2006/relationships/slideLayout" Target="/ppt/slideLayouts/slideLayout5.xml" Id="Rccbab2068bfd4da3" /><Relationship Type="http://schemas.openxmlformats.org/officeDocument/2006/relationships/slideLayout" Target="/ppt/slideLayouts/slideLayout6.xml" Id="R51327f157f61465f" /><Relationship Type="http://schemas.openxmlformats.org/officeDocument/2006/relationships/slideLayout" Target="/ppt/slideLayouts/slideLayout7.xml" Id="R211a51c38d7e477b" /><Relationship Type="http://schemas.openxmlformats.org/officeDocument/2006/relationships/slideLayout" Target="/ppt/slideLayouts/slideLayout8.xml" Id="R88f72e773b7a47b2" /><Relationship Type="http://schemas.openxmlformats.org/officeDocument/2006/relationships/slideLayout" Target="/ppt/slideLayouts/slideLayout9.xml" Id="R99bbef0e9c9f4393" /><Relationship Type="http://schemas.openxmlformats.org/officeDocument/2006/relationships/slideLayout" Target="/ppt/slideLayouts/slideLayout10.xml" Id="Raeb2b68ec2db4062" /><Relationship Type="http://schemas.openxmlformats.org/officeDocument/2006/relationships/slideLayout" Target="/ppt/slideLayouts/slideLayout11.xml" Id="R39a57aae1ad04961" /><Relationship Type="http://schemas.openxmlformats.org/officeDocument/2006/relationships/slideLayout" Target="/ppt/slideLayouts/slideLayout12.xml" Id="Rac94930d67c047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2b136a37e49cf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gnaposto titolo 1">
            <a:extLst xmlns:a="http://schemas.openxmlformats.org/drawingml/2006/main">
              <a:ext uri="{FF2B5EF4-FFF2-40B4-BE49-F238E27FC236}">
                <a16:creationId xmlns:a16="http://schemas.microsoft.com/office/drawing/2014/main" id="{2CB61C7D-D075-EF34-4BC0-CFCAD7553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Fare clic per modificare lo stile del titolo dello schema</a:t>
            </a:r>
          </a:p>
        </p:txBody>
      </p:sp>
      <p:sp>
        <p:nvSpPr>
          <p:cNvPr id="3" name="Segnaposto testo 2">
            <a:extLst xmlns:a="http://schemas.openxmlformats.org/drawingml/2006/main">
              <a:ext uri="{FF2B5EF4-FFF2-40B4-BE49-F238E27FC236}">
                <a16:creationId xmlns:a16="http://schemas.microsoft.com/office/drawing/2014/main" id="{9135E3BF-34C6-202F-E5D0-25A0B60C23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Fare clic per modificare gli stili del testo dello schema</a:t>
            </a:r>
          </a:p>
          <a:p xmlns:a="http://schemas.openxmlformats.org/drawingml/2006/main">
            <a:pPr lvl="1">
              <a:buNone/>
            </a:pPr>
            <a:r>
              <a:t>Secondo livello</a:t>
            </a:r>
          </a:p>
          <a:p xmlns:a="http://schemas.openxmlformats.org/drawingml/2006/main">
            <a:pPr lvl="2">
              <a:buNone/>
            </a:pPr>
            <a:r>
              <a:t>Terzo livello</a:t>
            </a:r>
          </a:p>
          <a:p xmlns:a="http://schemas.openxmlformats.org/drawingml/2006/main">
            <a:pPr lvl="3">
              <a:buNone/>
            </a:pPr>
            <a:r>
              <a:t>Quarto livello</a:t>
            </a:r>
          </a:p>
          <a:p xmlns:a="http://schemas.openxmlformats.org/drawingml/2006/main">
            <a:pPr lvl="4">
              <a:buNone/>
            </a:pPr>
            <a:r>
              <a:t>Quinto livello</a:t>
            </a:r>
          </a:p>
        </p:txBody>
      </p:sp>
      <p:sp>
        <p:nvSpPr>
          <p:cNvPr id="4" name="Segnaposto data 3">
            <a:extLst xmlns:a="http://schemas.openxmlformats.org/drawingml/2006/main">
              <a:ext uri="{FF2B5EF4-FFF2-40B4-BE49-F238E27FC236}">
                <a16:creationId xmlns:a16="http://schemas.microsoft.com/office/drawing/2014/main" id="{EBF62C6D-9F3B-C5F0-64BD-D53BB564BD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689D1DF-6CC1-5945-903D-71C24BAE45CC}" type="datetime1">
              <a:t>07/09/26</a:t>
            </a:fld>
            <a:endParaRPr/>
          </a:p>
        </p:txBody>
      </p:sp>
      <p:sp>
        <p:nvSpPr>
          <p:cNvPr id="5" name="Segnaposto piè di pagina 4">
            <a:extLst xmlns:a="http://schemas.openxmlformats.org/drawingml/2006/main">
              <a:ext uri="{FF2B5EF4-FFF2-40B4-BE49-F238E27FC236}">
                <a16:creationId xmlns:a16="http://schemas.microsoft.com/office/drawing/2014/main" id="{62C74670-3879-27B8-B498-328169262B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egnaposto numero diapositiva 5">
            <a:extLst xmlns:a="http://schemas.openxmlformats.org/drawingml/2006/main">
              <a:ext uri="{FF2B5EF4-FFF2-40B4-BE49-F238E27FC236}">
                <a16:creationId xmlns:a16="http://schemas.microsoft.com/office/drawing/2014/main" id="{510500F0-EA30-B164-E0EE-647EDECD39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10D195B-4B33-F444-A14C-732D9DF16EC1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8a2b3c2f19941ee"/>
    <p:sldLayoutId xmlns:r="http://schemas.openxmlformats.org/officeDocument/2006/relationships" id="2147483652" r:id="Rf082269b45ec4177"/>
    <p:sldLayoutId xmlns:r="http://schemas.openxmlformats.org/officeDocument/2006/relationships" id="2147483653" r:id="Rb8fa88f758244dc0"/>
    <p:sldLayoutId xmlns:r="http://schemas.openxmlformats.org/officeDocument/2006/relationships" id="2147483654" r:id="Rccbab2068bfd4da3"/>
    <p:sldLayoutId xmlns:r="http://schemas.openxmlformats.org/officeDocument/2006/relationships" id="2147483655" r:id="R51327f157f61465f"/>
    <p:sldLayoutId xmlns:r="http://schemas.openxmlformats.org/officeDocument/2006/relationships" id="2147483656" r:id="R211a51c38d7e477b"/>
    <p:sldLayoutId xmlns:r="http://schemas.openxmlformats.org/officeDocument/2006/relationships" id="2147483657" r:id="R88f72e773b7a47b2"/>
    <p:sldLayoutId xmlns:r="http://schemas.openxmlformats.org/officeDocument/2006/relationships" id="2147483658" r:id="R99bbef0e9c9f4393"/>
    <p:sldLayoutId xmlns:r="http://schemas.openxmlformats.org/officeDocument/2006/relationships" id="2147483659" r:id="Raeb2b68ec2db4062"/>
    <p:sldLayoutId xmlns:r="http://schemas.openxmlformats.org/officeDocument/2006/relationships" id="2147483660" r:id="R39a57aae1ad04961"/>
    <p:sldLayoutId xmlns:r="http://schemas.openxmlformats.org/officeDocument/2006/relationships" id="2147483661" r:id="Rac94930d67c0479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c728a23c2486d" /><Relationship Type="http://schemas.openxmlformats.org/officeDocument/2006/relationships/image" Target="/ppt/media/image.png" Id="R2c73ff3156f64812" /><Relationship Type="http://schemas.openxmlformats.org/officeDocument/2006/relationships/image" Target="/ppt/media/image2.png" Id="Rda002863396c4eee" /><Relationship Type="http://schemas.openxmlformats.org/officeDocument/2006/relationships/notesSlide" Target="/ppt/notesSlides/notesSlide1.xml" Id="R5cc95b229d4e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c11c29aed48dd" /><Relationship Type="http://schemas.openxmlformats.org/officeDocument/2006/relationships/image" Target="/ppt/media/image3.png" Id="R976295a75c8c4efa" /><Relationship Type="http://schemas.openxmlformats.org/officeDocument/2006/relationships/notesSlide" Target="/ppt/notesSlides/notesSlide2.xml" Id="R5767d0c23af2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79bc56bc84441" /><Relationship Type="http://schemas.openxmlformats.org/officeDocument/2006/relationships/hyperlink" Target="https://www.consilium.europa.eu/en/press/press-releases/2026/02/24/council-signs-off-simplification-of-sustainability-reporting-and-due-diligence-requirements-to-boost-eu-competitiveness/" TargetMode="External" Id="Refdaabdf2ab7439f" /><Relationship Type="http://schemas.openxmlformats.org/officeDocument/2006/relationships/image" Target="/ppt/media/image4.png" Id="R9a7b0864224147de" /><Relationship Type="http://schemas.openxmlformats.org/officeDocument/2006/relationships/notesSlide" Target="/ppt/notesSlides/notesSlide3.xml" Id="R00c70e2e87da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ca21cd9ed446c" /><Relationship Type="http://schemas.openxmlformats.org/officeDocument/2006/relationships/image" Target="/ppt/media/image5.png" Id="R5770c0c4ad2240a0" /><Relationship Type="http://schemas.openxmlformats.org/officeDocument/2006/relationships/notesSlide" Target="/ppt/notesSlides/notesSlide4.xml" Id="R1219ab7b2982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d58b28b654d52" /><Relationship Type="http://schemas.openxmlformats.org/officeDocument/2006/relationships/image" Target="/ppt/media/image6.png" Id="Redabc8eaf7d14898" /><Relationship Type="http://schemas.openxmlformats.org/officeDocument/2006/relationships/notesSlide" Target="/ppt/notesSlides/notesSlide5.xml" Id="R93f79db226e148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62c7b4bc4b7e" /><Relationship Type="http://schemas.openxmlformats.org/officeDocument/2006/relationships/image" Target="/ppt/media/image7.png" Id="Rdbe977c5ddee4ddf" /><Relationship Type="http://schemas.openxmlformats.org/officeDocument/2006/relationships/image" Target="/ppt/media/image8.png" Id="R5e4893c6d6854488" /><Relationship Type="http://schemas.openxmlformats.org/officeDocument/2006/relationships/image" Target="/ppt/media/image9.png" Id="R52b563c6a0104bf7" /><Relationship Type="http://schemas.openxmlformats.org/officeDocument/2006/relationships/image" Target="/ppt/media/image10.png" Id="Re34f9ab2adee4fff" /><Relationship Type="http://schemas.openxmlformats.org/officeDocument/2006/relationships/image" Target="/ppt/media/image11.png" Id="Rc9d94670463c4e3e" /><Relationship Type="http://schemas.openxmlformats.org/officeDocument/2006/relationships/image" Target="/ppt/media/image12.png" Id="Rc045ab945b1c44d1" /><Relationship Type="http://schemas.openxmlformats.org/officeDocument/2006/relationships/image" Target="/ppt/media/image13.png" Id="R5d86a7b0af6b4259" /><Relationship Type="http://schemas.openxmlformats.org/officeDocument/2006/relationships/image" Target="/ppt/media/image14.png" Id="R01457015e0154518" /><Relationship Type="http://schemas.openxmlformats.org/officeDocument/2006/relationships/notesSlide" Target="/ppt/notesSlides/notesSlide6.xml" Id="R46d3df57309f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03d26dee4c18" /><Relationship Type="http://schemas.openxmlformats.org/officeDocument/2006/relationships/image" Target="/ppt/media/image15.png" Id="R6ffa83722f64423b" /><Relationship Type="http://schemas.openxmlformats.org/officeDocument/2006/relationships/image" Target="/ppt/media/image16.png" Id="R5f66b0f3b7084c79" /><Relationship Type="http://schemas.openxmlformats.org/officeDocument/2006/relationships/notesSlide" Target="/ppt/notesSlides/notesSlide7.xml" Id="R289c1c93387e4888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db5cfc4e8124389"/><Relationship Type="http://schemas.openxmlformats.org/officeDocument/2006/relationships/image" Target="/ppt/media/image17.png" Id="R516b96d2bbfa47fd"/><Relationship Type="http://schemas.openxmlformats.org/officeDocument/2006/relationships/image" Target="../media/obiettivo_slide_8.png" Id="Rafc2ac5d51334e49"/><Relationship Type="http://schemas.openxmlformats.org/officeDocument/2006/relationships/notesSlide" Target="/ppt/notesSlides/notesSlide8.xml" Id="Re30258b95f5642b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605f57b5a7594351"/><Relationship Type="http://schemas.openxmlformats.org/officeDocument/2006/relationships/image" Target="/ppt/media/image19.png" Id="R47617b72130340c8"/><Relationship Type="http://schemas.openxmlformats.org/officeDocument/2006/relationships/image" Target="../media/obiettivo_slide_9.png" Id="Rfda2a96467874d48"/><Relationship Type="http://schemas.openxmlformats.org/officeDocument/2006/relationships/notesSlide" Target="/ppt/notesSlides/notesSlide9.xml" Id="R51d52bed2fc84d6e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b78ed4dfab64b47"/><Relationship Type="http://schemas.openxmlformats.org/officeDocument/2006/relationships/image" Target="/ppt/media/image21.png" Id="Rd798ffeb7c694dfe"/><Relationship Type="http://schemas.openxmlformats.org/officeDocument/2006/relationships/image" Target="../media/obiettivo_slide_10.png" Id="Rb9f68a73e7ba4186"/><Relationship Type="http://schemas.openxmlformats.org/officeDocument/2006/relationships/notesSlide" Target="/ppt/notesSlides/notesSlide10.xml" Id="Re31e3b82c3d4451f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e91c5e7bcf140a9"/><Relationship Type="http://schemas.openxmlformats.org/officeDocument/2006/relationships/image" Target="/ppt/media/image23.png" Id="R503dd3edd86a4577"/><Relationship Type="http://schemas.openxmlformats.org/officeDocument/2006/relationships/image" Target="../media/obiettivo_slide_11.png" Id="Rd154daa1ec2c4f10"/><Relationship Type="http://schemas.openxmlformats.org/officeDocument/2006/relationships/notesSlide" Target="/ppt/notesSlides/notesSlide11.xml" Id="Rc8f9fe62e19f43bf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d00f4d49aa24122"/><Relationship Type="http://schemas.openxmlformats.org/officeDocument/2006/relationships/image" Target="/ppt/media/image25.png" Id="Rc29b8dd8b17c4ac1"/><Relationship Type="http://schemas.openxmlformats.org/officeDocument/2006/relationships/image" Target="../media/obiettivo_slide_12.png" Id="R3a7036c794924179"/><Relationship Type="http://schemas.openxmlformats.org/officeDocument/2006/relationships/notesSlide" Target="/ppt/notesSlides/notesSlide12.xml" Id="Rb29d737ef16842de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a176b9a524a51" /><Relationship Type="http://schemas.openxmlformats.org/officeDocument/2006/relationships/image" Target="/ppt/media/image27.png" Id="R1d152e41025d4ce4" /><Relationship Type="http://schemas.openxmlformats.org/officeDocument/2006/relationships/notesSlide" Target="/ppt/notesSlides/notesSlide13.xml" Id="R7f52b19112c046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04" name="Immagin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3ff3156f648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ttangolo 1">
            <a:extLst xmlns:a="http://schemas.openxmlformats.org/drawingml/2006/main">
              <a:ext uri="{FF2B5EF4-FFF2-40B4-BE49-F238E27FC236}">
                <a16:creationId xmlns:a16="http://schemas.microsoft.com/office/drawing/2014/main" id="{19993149-29D6-4782-9C3A-0622FCBA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ttangolo 2">
            <a:extLst xmlns:a="http://schemas.openxmlformats.org/drawingml/2006/main">
              <a:ext uri="{FF2B5EF4-FFF2-40B4-BE49-F238E27FC236}">
                <a16:creationId xmlns:a16="http://schemas.microsoft.com/office/drawing/2014/main" id="{3E665B95-5890-4338-8DC7-90C3392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E31"/>
                </a:solidFill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</a:p>
        </p:txBody>
      </p:sp>
      <p:sp>
        <p:nvSpPr>
          <p:cNvPr id="4" name="Rettangolo 3">
            <a:extLst xmlns:a="http://schemas.openxmlformats.org/drawingml/2006/main">
              <a:ext uri="{FF2B5EF4-FFF2-40B4-BE49-F238E27FC236}">
                <a16:creationId xmlns:a16="http://schemas.microsoft.com/office/drawing/2014/main" id="{B613CB21-2529-427E-BEB1-2A5223B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75" b="0">
                <a:solidFill>
                  <a:srgbClr val="073E31"/>
                </a:solidFill>
              </a:rPr>
              <a:t>Il percorso ESG di Alfago</a:t>
            </a:r>
          </a:p>
        </p:txBody>
      </p:sp>
      <p:sp>
        <p:nvSpPr>
          <p:cNvPr id="5" name="Rettangolo 4">
            <a:extLst xmlns:a="http://schemas.openxmlformats.org/drawingml/2006/main">
              <a:ext uri="{FF2B5EF4-FFF2-40B4-BE49-F238E27FC236}">
                <a16:creationId xmlns:a16="http://schemas.microsoft.com/office/drawing/2014/main" id="{2A22BE27-97B7-4C29-A515-046F06AB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333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173F35"/>
                </a:solidFill>
              </a:rPr>
              <a:t>Sintesi workshop Envizi Quest</a:t>
            </a:r>
          </a:p>
          <a:p xmlns:a="http://schemas.openxmlformats.org/drawingml/2006/main">
            <a:r>
              <a:rPr sz="1500" b="0">
                <a:solidFill>
                  <a:srgbClr val="173F35"/>
                </a:solidFill>
              </a:rPr>
              <a:t>07 settembre 2026</a:t>
            </a:r>
          </a:p>
          <a:p xmlns:a="http://schemas.openxmlformats.org/drawingml/2006/main">
            <a:r>
              <a:rPr sz="1500" b="0">
                <a:solidFill>
                  <a:srgbClr val="173F35"/>
                </a:solidFill>
              </a:rPr>
              <a:t>Felice Petrignano</a:t>
            </a:r>
          </a:p>
          <a:p xmlns:a="http://schemas.openxmlformats.org/drawingml/2006/main">
            <a:r>
              <a:rPr sz="1500" b="0">
                <a:solidFill>
                  <a:srgbClr val="173F35"/>
                </a:solidFill>
              </a:rPr>
              <a:t>AlfaCons</a:t>
            </a:r>
          </a:p>
          <a:p xmlns:a="http://schemas.openxmlformats.org/drawingml/2006/main">
            <a:r>
              <a:rPr sz="1500" b="0">
                <a:solidFill>
                  <a:srgbClr val="173F35"/>
                </a:solidFill>
              </a:rPr>
              <a:t>AlfaSRLCons</a:t>
            </a:r>
          </a:p>
        </p:txBody>
      </p:sp>
      <p:sp>
        <p:nvSpPr>
          <p:cNvPr id="6" name="Rettangolo 5">
            <a:extLst xmlns:a="http://schemas.openxmlformats.org/drawingml/2006/main">
              <a:ext uri="{FF2B5EF4-FFF2-40B4-BE49-F238E27FC236}">
                <a16:creationId xmlns:a16="http://schemas.microsoft.com/office/drawing/2014/main" id="{1F8234F6-664C-4D61-BD7E-72784142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A7165"/>
                </a:solidFill>
              </a:defRPr>
            </a:pPr>
            <a:r>
              <a:rPr sz="975" b="0">
                <a:solidFill>
                  <a:srgbClr val="3A7165"/>
                </a:solidFill>
              </a:rPr>
              <a:t>Incontro di lavoro · 2026</a:t>
            </a:r>
          </a:p>
        </p:txBody>
      </p:sp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814AC71B-5B7F-417B-93EB-6563C5E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 sz="1000" b="0"/>
              <a:t>1</a:t>
            </a:fld>
            <a:endParaRPr sz="1000" b="0"/>
          </a:p>
        </p:txBody>
      </p:sp>
      <p:pic>
        <p:nvPicPr>
          <p:cNvPr id="9911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02863396c4eee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52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C4A756F5-A613-D57D-75B9-A9C1046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308344"/>
            <a:ext cx="6847367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7D7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7D71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9EC7CBF7-47E5-C95C-B8C4-A2801ED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01   Profilo aziendale e maturità dei dati ESG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/>
            </a:r>
            <a:endParaRPr sz="1600">
              <a:latin typeface="Calibri"/>
              <a:ea typeface="Calibri"/>
              <a:cs typeface="Calibri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02   Perimetro internazionale e framework di reporting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03   Obiettivi di business e priorità emerse dal workshop</a:t>
            </a:r>
          </a:p>
          <a:p xmlns:a="http://schemas.openxmlformats.org/drawingml/2006/main">
            <a:r>
              <a:rPr sz="1600"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04   Cinque casi d’uso e possibili applicazioni di IBM Envizi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05   Conclusioni e percorso di adozione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3E44DA30-5198-722C-D289-6C2ECDCBC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pic>
        <p:nvPicPr>
          <p:cNvPr id="11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295a75c8c4efa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211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ttangolo 29">
            <a:extLst xmlns:a="http://schemas.openxmlformats.org/drawingml/2006/main">
              <a:ext uri="{FF2B5EF4-FFF2-40B4-BE49-F238E27FC236}">
                <a16:creationId xmlns:a16="http://schemas.microsoft.com/office/drawing/2014/main" id="{7A9B8F0B-8CA0-4ECB-B4A8-3CF7A5AC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ttangolo 1">
            <a:extLst xmlns:a="http://schemas.openxmlformats.org/drawingml/2006/main">
              <a:ext uri="{FF2B5EF4-FFF2-40B4-BE49-F238E27FC236}">
                <a16:creationId xmlns:a16="http://schemas.microsoft.com/office/drawing/2014/main" id="{E0B46553-72F4-449C-8674-4864433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Profilo di Alfago e maturità dei dati ESG</a:t>
            </a:r>
          </a:p>
        </p:txBody>
      </p:sp>
      <p:sp>
        <p:nvSpPr>
          <p:cNvPr id="3" name="Rettangolo 2">
            <a:extLst xmlns:a="http://schemas.openxmlformats.org/drawingml/2006/main">
              <a:ext uri="{FF2B5EF4-FFF2-40B4-BE49-F238E27FC236}">
                <a16:creationId xmlns:a16="http://schemas.microsoft.com/office/drawing/2014/main" id="{B398A222-6680-4B7D-B59D-09A6285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43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6D6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D6D67"/>
                </a:solidFill>
                <a:latin typeface="Calibri"/>
                <a:ea typeface="Calibri"/>
                <a:cs typeface="Calibri"/>
              </a:rPr>
              <a:t>Profilo aziendale e stato del reporting rilevati durante il workshop</a:t>
            </a:r>
          </a:p>
        </p:txBody>
      </p:sp>
      <p:sp>
        <p:nvSpPr>
          <p:cNvPr id="5" name="Rettangolo con angoli arrotondati 4">
            <a:extLst xmlns:a="http://schemas.openxmlformats.org/drawingml/2006/main">
              <a:ext uri="{FF2B5EF4-FFF2-40B4-BE49-F238E27FC236}">
                <a16:creationId xmlns:a16="http://schemas.microsoft.com/office/drawing/2014/main" id="{DA99990F-E7BE-4984-8CC0-9B4410B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2476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ttangolo 5">
            <a:extLst xmlns:a="http://schemas.openxmlformats.org/drawingml/2006/main">
              <a:ext uri="{FF2B5EF4-FFF2-40B4-BE49-F238E27FC236}">
                <a16:creationId xmlns:a16="http://schemas.microsoft.com/office/drawing/2014/main" id="{43C0ACA2-0EA4-4371-95F7-6214231B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6B"/>
          </a:solidFill>
          <a:ln xmlns:a="http://schemas.openxmlformats.org/drawingml/2006/main" w="0">
            <a:solidFill>
              <a:srgbClr val="1D7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ttangolo 6">
            <a:extLst xmlns:a="http://schemas.openxmlformats.org/drawingml/2006/main">
              <a:ext uri="{FF2B5EF4-FFF2-40B4-BE49-F238E27FC236}">
                <a16:creationId xmlns:a16="http://schemas.microsoft.com/office/drawing/2014/main" id="{81F65B7B-0899-4376-AF38-C1ABDB17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123 mln €</a:t>
            </a:r>
          </a:p>
        </p:txBody>
      </p:sp>
      <p:sp>
        <p:nvSpPr>
          <p:cNvPr id="8" name="Rettangolo 7">
            <a:extLst xmlns:a="http://schemas.openxmlformats.org/drawingml/2006/main">
              <a:ext uri="{FF2B5EF4-FFF2-40B4-BE49-F238E27FC236}">
                <a16:creationId xmlns:a16="http://schemas.microsoft.com/office/drawing/2014/main" id="{85A196D7-0115-4A16-8B42-D555501C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Ricavi 2025</a:t>
            </a:r>
          </a:p>
        </p:txBody>
      </p:sp>
      <p:sp>
        <p:nvSpPr>
          <p:cNvPr id="9" name="Rettangolo con angoli arrotondati 8">
            <a:extLst xmlns:a="http://schemas.openxmlformats.org/drawingml/2006/main">
              <a:ext uri="{FF2B5EF4-FFF2-40B4-BE49-F238E27FC236}">
                <a16:creationId xmlns:a16="http://schemas.microsoft.com/office/drawing/2014/main" id="{D68EE5AB-B93E-401E-8849-8D077170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2476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ttangolo 9">
            <a:extLst xmlns:a="http://schemas.openxmlformats.org/drawingml/2006/main">
              <a:ext uri="{FF2B5EF4-FFF2-40B4-BE49-F238E27FC236}">
                <a16:creationId xmlns:a16="http://schemas.microsoft.com/office/drawing/2014/main" id="{31EF194D-C2B5-465E-8BF4-CC77B239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DD1"/>
          </a:solidFill>
          <a:ln xmlns:a="http://schemas.openxmlformats.org/drawingml/2006/main" w="0">
            <a:solidFill>
              <a:srgbClr val="87BDD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ttangolo 10">
            <a:extLst xmlns:a="http://schemas.openxmlformats.org/drawingml/2006/main">
              <a:ext uri="{FF2B5EF4-FFF2-40B4-BE49-F238E27FC236}">
                <a16:creationId xmlns:a16="http://schemas.microsoft.com/office/drawing/2014/main" id="{6332CF76-290D-4E3E-A07F-529DB8A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09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250</a:t>
            </a:r>
          </a:p>
        </p:txBody>
      </p:sp>
      <p:sp>
        <p:nvSpPr>
          <p:cNvPr id="12" name="Rettangolo 11">
            <a:extLst xmlns:a="http://schemas.openxmlformats.org/drawingml/2006/main">
              <a:ext uri="{FF2B5EF4-FFF2-40B4-BE49-F238E27FC236}">
                <a16:creationId xmlns:a16="http://schemas.microsoft.com/office/drawing/2014/main" id="{3F94FECD-11CD-4DB9-BE6C-BA7E420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Dipendenti</a:t>
            </a:r>
          </a:p>
        </p:txBody>
      </p:sp>
      <p:sp>
        <p:nvSpPr>
          <p:cNvPr id="13" name="Rettangolo con angoli arrotondati 12">
            <a:extLst xmlns:a="http://schemas.openxmlformats.org/drawingml/2006/main">
              <a:ext uri="{FF2B5EF4-FFF2-40B4-BE49-F238E27FC236}">
                <a16:creationId xmlns:a16="http://schemas.microsoft.com/office/drawing/2014/main" id="{FD39F923-B0E3-4E02-A775-7C45A1D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38250"/>
            <a:ext cx="2476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ttangolo 13">
            <a:extLst xmlns:a="http://schemas.openxmlformats.org/drawingml/2006/main">
              <a:ext uri="{FF2B5EF4-FFF2-40B4-BE49-F238E27FC236}">
                <a16:creationId xmlns:a16="http://schemas.microsoft.com/office/drawing/2014/main" id="{BB1DFB0C-D405-4B52-AE85-62E79876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38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B3"/>
          </a:solidFill>
          <a:ln xmlns:a="http://schemas.openxmlformats.org/drawingml/2006/main" w="0">
            <a:solidFill>
              <a:srgbClr val="8B6B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ttangolo 14">
            <a:extLst xmlns:a="http://schemas.openxmlformats.org/drawingml/2006/main">
              <a:ext uri="{FF2B5EF4-FFF2-40B4-BE49-F238E27FC236}">
                <a16:creationId xmlns:a16="http://schemas.microsoft.com/office/drawing/2014/main" id="{99E6EF19-1635-4CB5-B0BD-5CAEF302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6" name="Rettangolo 15">
            <a:extLst xmlns:a="http://schemas.openxmlformats.org/drawingml/2006/main">
              <a:ext uri="{FF2B5EF4-FFF2-40B4-BE49-F238E27FC236}">
                <a16:creationId xmlns:a16="http://schemas.microsoft.com/office/drawing/2014/main" id="{B6F44FA9-9351-468A-9021-0275E10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Sedi nel mondo</a:t>
            </a:r>
          </a:p>
        </p:txBody>
      </p:sp>
      <p:sp>
        <p:nvSpPr>
          <p:cNvPr id="17" name="Rettangolo con angoli arrotondati 16">
            <a:extLst xmlns:a="http://schemas.openxmlformats.org/drawingml/2006/main">
              <a:ext uri="{FF2B5EF4-FFF2-40B4-BE49-F238E27FC236}">
                <a16:creationId xmlns:a16="http://schemas.microsoft.com/office/drawing/2014/main" id="{D994958C-F55B-44E2-87E7-DB5CD1C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ttangolo 17">
            <a:extLst xmlns:a="http://schemas.openxmlformats.org/drawingml/2006/main">
              <a:ext uri="{FF2B5EF4-FFF2-40B4-BE49-F238E27FC236}">
                <a16:creationId xmlns:a16="http://schemas.microsoft.com/office/drawing/2014/main" id="{510671A6-470F-4458-B966-EC6A918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4"/>
          </a:solidFill>
          <a:ln xmlns:a="http://schemas.openxmlformats.org/drawingml/2006/main" w="0">
            <a:solidFill>
              <a:srgbClr val="D39A2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ttangolo 18">
            <a:extLst xmlns:a="http://schemas.openxmlformats.org/drawingml/2006/main">
              <a:ext uri="{FF2B5EF4-FFF2-40B4-BE49-F238E27FC236}">
                <a16:creationId xmlns:a16="http://schemas.microsoft.com/office/drawing/2014/main" id="{C9AE1D89-B61C-4B22-9422-A758890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09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0" name="Rettangolo 19">
            <a:extLst xmlns:a="http://schemas.openxmlformats.org/drawingml/2006/main">
              <a:ext uri="{FF2B5EF4-FFF2-40B4-BE49-F238E27FC236}">
                <a16:creationId xmlns:a16="http://schemas.microsoft.com/office/drawing/2014/main" id="{1416B656-7A4C-4E3C-AEEC-76EF489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Aree geografiche analizzate</a:t>
            </a:r>
          </a:p>
        </p:txBody>
      </p:sp>
      <p:sp>
        <p:nvSpPr>
          <p:cNvPr id="21" name="Rettangolo con angoli arrotondati 20">
            <a:extLst xmlns:a="http://schemas.openxmlformats.org/drawingml/2006/main">
              <a:ext uri="{FF2B5EF4-FFF2-40B4-BE49-F238E27FC236}">
                <a16:creationId xmlns:a16="http://schemas.microsoft.com/office/drawing/2014/main" id="{6A1894CC-CEE9-46DD-BE7B-890A1C0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52197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B9D7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ttangolo 21">
            <a:extLst xmlns:a="http://schemas.openxmlformats.org/drawingml/2006/main">
              <a:ext uri="{FF2B5EF4-FFF2-40B4-BE49-F238E27FC236}">
                <a16:creationId xmlns:a16="http://schemas.microsoft.com/office/drawing/2014/main" id="{C9720DBB-1B1D-4A7D-8E66-BC660559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76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Maturità dei dati</a:t>
            </a:r>
          </a:p>
        </p:txBody>
      </p:sp>
      <p:sp>
        <p:nvSpPr>
          <p:cNvPr id="23" name="Rettangolo 22">
            <a:extLst xmlns:a="http://schemas.openxmlformats.org/drawingml/2006/main">
              <a:ext uri="{FF2B5EF4-FFF2-40B4-BE49-F238E27FC236}">
                <a16:creationId xmlns:a16="http://schemas.microsoft.com/office/drawing/2014/main" id="{31524F09-C277-4E75-9345-2C16243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3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Livello medio: dati da consolidare</a:t>
            </a:r>
          </a:p>
        </p:txBody>
      </p:sp>
      <p:sp>
        <p:nvSpPr>
          <p:cNvPr id="24" name="Rettangolo 23">
            <a:extLst xmlns:a="http://schemas.openxmlformats.org/drawingml/2006/main">
              <a:ext uri="{FF2B5EF4-FFF2-40B4-BE49-F238E27FC236}">
                <a16:creationId xmlns:a16="http://schemas.microsoft.com/office/drawing/2014/main" id="{215B73D2-78F3-44C4-A83B-7A63335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68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L'organizzazione dispone dei principali dati ESG, ma deve renderli completi, affidabili e confrontabili. Cerca una piattaforma per unificare e controllare i dati, calcolare le emissioni e preparare la rendicontazione.</a:t>
            </a:r>
          </a:p>
        </p:txBody>
      </p:sp>
      <p:sp>
        <p:nvSpPr>
          <p:cNvPr id="25" name="Rettangolo con angoli arrotondati 24">
            <a:extLst xmlns:a="http://schemas.openxmlformats.org/drawingml/2006/main">
              <a:ext uri="{FF2B5EF4-FFF2-40B4-BE49-F238E27FC236}">
                <a16:creationId xmlns:a16="http://schemas.microsoft.com/office/drawing/2014/main" id="{C4938FC7-59FC-4F8E-9E9E-6312044B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55626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ttangolo 25">
            <a:extLst xmlns:a="http://schemas.openxmlformats.org/drawingml/2006/main">
              <a:ext uri="{FF2B5EF4-FFF2-40B4-BE49-F238E27FC236}">
                <a16:creationId xmlns:a16="http://schemas.microsoft.com/office/drawing/2014/main" id="{C9DB1B17-9DC5-49AD-8D9D-7BC4C38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2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76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Stato della rendicontazione</a:t>
            </a:r>
          </a:p>
        </p:txBody>
      </p:sp>
      <p:sp>
        <p:nvSpPr>
          <p:cNvPr id="27" name="Rettangolo 26">
            <a:extLst xmlns:a="http://schemas.openxmlformats.org/drawingml/2006/main">
              <a:ext uri="{FF2B5EF4-FFF2-40B4-BE49-F238E27FC236}">
                <a16:creationId xmlns:a16="http://schemas.microsoft.com/office/drawing/2014/main" id="{A3F7209B-E7FC-48E7-9519-BAA936B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75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Percorso di reporting da definire</a:t>
            </a:r>
          </a:p>
        </p:txBody>
      </p:sp>
      <p:sp>
        <p:nvSpPr>
          <p:cNvPr id="28" name="Rettangolo 27">
            <a:extLst xmlns:a="http://schemas.openxmlformats.org/drawingml/2006/main">
              <a:ext uri="{FF2B5EF4-FFF2-40B4-BE49-F238E27FC236}">
                <a16:creationId xmlns:a16="http://schemas.microsoft.com/office/drawing/2014/main" id="{C666ECC1-689C-4D0F-8687-335D82A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5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ttangolo 28">
            <a:extLst xmlns:a="http://schemas.openxmlformats.org/drawingml/2006/main">
              <a:ext uri="{FF2B5EF4-FFF2-40B4-BE49-F238E27FC236}">
                <a16:creationId xmlns:a16="http://schemas.microsoft.com/office/drawing/2014/main" id="{7675F249-00F6-46D9-BAFB-7B677D0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96C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496C66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sp>
        <p:nvSpPr>
          <p:cNvPr id="997" name="csrd_sentence">
            <a:extLst xmlns:a="http://schemas.openxmlformats.org/drawingml/2006/main">
              <a:ext uri="{FF2B5EF4-FFF2-40B4-BE49-F238E27FC236}">
                <a16:creationId xmlns:a16="http://schemas.microsoft.com/office/drawing/2014/main" id="{EB3AA098-1BB2-44D2-A3BC-EC2C395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0000"/>
            <a:ext cx="113538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4D6D67"/>
                </a:solidFill>
                <a:latin typeface="Calibri"/>
                <a:ea typeface="Calibri"/>
                <a:cs typeface="Calibri"/>
              </a:rPr>
              <a:t>Indicativamente non soggetta a CSRD — (dipendenti &lt; 1.000 e fatturato &lt; €450M)   </a:t>
            </a:r>
            <a:r>
              <a:rPr sz="1100" b="1">
                <a:solidFill>
                  <a:srgbClr val="C0500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fdaabdf2ab7439f"/>
              </a:rPr>
              <a:t>Consiglio dell'UE ↗</a:t>
            </a:r>
          </a:p>
        </p:txBody>
      </p:sp>
      <p:sp>
        <p:nvSpPr>
          <p:cNvPr id="996" name="sr_since">
            <a:extLst xmlns:a="http://schemas.openxmlformats.org/drawingml/2006/main">
              <a:ext uri="{FF2B5EF4-FFF2-40B4-BE49-F238E27FC236}">
                <a16:creationId xmlns:a16="http://schemas.microsoft.com/office/drawing/2014/main" id="{DC531418-F325-415A-8D8C-C7AF340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8600"/>
            <a:ext cx="4762500" cy="19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 fontScale="5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1">
                <a:solidFill>
                  <a:srgbClr val="4D6D67"/>
                </a:solidFill>
                <a:latin typeface="Calibri"/>
                <a:ea typeface="Calibri"/>
                <a:cs typeface="Calibri"/>
              </a:rPr>
              <a:t>Bilancio di sostenibilità pubblicato dal 2023</a:t>
            </a:r>
          </a:p>
        </p:txBody>
      </p:sp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D0E90E19-7A66-4034-A1F7-E6AC72D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sz="1000" b="0"/>
              <a:t>3</a:t>
            </a:fld>
            <a:endParaRPr sz="1000" b="0"/>
          </a:p>
        </p:txBody>
      </p:sp>
      <p:pic>
        <p:nvPicPr>
          <p:cNvPr id="9934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b0864224147de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656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ttangolo 26">
            <a:extLst xmlns:a="http://schemas.openxmlformats.org/drawingml/2006/main">
              <a:ext uri="{FF2B5EF4-FFF2-40B4-BE49-F238E27FC236}">
                <a16:creationId xmlns:a16="http://schemas.microsoft.com/office/drawing/2014/main" id="{C59FA235-B852-4E25-8D65-DB0415B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ttangolo 1">
            <a:extLst xmlns:a="http://schemas.openxmlformats.org/drawingml/2006/main">
              <a:ext uri="{FF2B5EF4-FFF2-40B4-BE49-F238E27FC236}">
                <a16:creationId xmlns:a16="http://schemas.microsoft.com/office/drawing/2014/main" id="{71864DE6-C131-4260-A4DD-72E5BDC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776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Perimetro internazionale e complessità del reporting</a:t>
            </a:r>
          </a:p>
        </p:txBody>
      </p:sp>
      <p:sp>
        <p:nvSpPr>
          <p:cNvPr id="3" name="Rettangolo 2">
            <a:extLst xmlns:a="http://schemas.openxmlformats.org/drawingml/2006/main">
              <a:ext uri="{FF2B5EF4-FFF2-40B4-BE49-F238E27FC236}">
                <a16:creationId xmlns:a16="http://schemas.microsoft.com/office/drawing/2014/main" id="{4C22D707-162A-4C36-97D9-AB294257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43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Complessità alta: valute e unità di misura da uniformare</a:t>
            </a:r>
          </a:p>
        </p:txBody>
      </p:sp>
      <p:sp>
        <p:nvSpPr>
          <p:cNvPr id="5" name="Rettangolo con angoli arrotondati 4">
            <a:extLst xmlns:a="http://schemas.openxmlformats.org/drawingml/2006/main">
              <a:ext uri="{FF2B5EF4-FFF2-40B4-BE49-F238E27FC236}">
                <a16:creationId xmlns:a16="http://schemas.microsoft.com/office/drawing/2014/main" id="{00EEEF91-3BA0-45DE-939E-F04AF36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381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ttangolo 5">
            <a:extLst xmlns:a="http://schemas.openxmlformats.org/drawingml/2006/main">
              <a:ext uri="{FF2B5EF4-FFF2-40B4-BE49-F238E27FC236}">
                <a16:creationId xmlns:a16="http://schemas.microsoft.com/office/drawing/2014/main" id="{A24B2597-BBB4-4138-8F11-E31E47FF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6B"/>
          </a:solidFill>
          <a:ln xmlns:a="http://schemas.openxmlformats.org/drawingml/2006/main" w="0">
            <a:solidFill>
              <a:srgbClr val="1D7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ttangolo 6">
            <a:extLst xmlns:a="http://schemas.openxmlformats.org/drawingml/2006/main">
              <a:ext uri="{FF2B5EF4-FFF2-40B4-BE49-F238E27FC236}">
                <a16:creationId xmlns:a16="http://schemas.microsoft.com/office/drawing/2014/main" id="{6BD02F66-9A8C-4C73-8099-DAE632E5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8" name="Rettangolo 7">
            <a:extLst xmlns:a="http://schemas.openxmlformats.org/drawingml/2006/main">
              <a:ext uri="{FF2B5EF4-FFF2-40B4-BE49-F238E27FC236}">
                <a16:creationId xmlns:a16="http://schemas.microsoft.com/office/drawing/2014/main" id="{EE5E8BB7-832E-439B-9994-EE4F75E6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Sedi complessive</a:t>
            </a:r>
          </a:p>
        </p:txBody>
      </p:sp>
      <p:sp>
        <p:nvSpPr>
          <p:cNvPr id="9" name="Rettangolo con angoli arrotondati 8">
            <a:extLst xmlns:a="http://schemas.openxmlformats.org/drawingml/2006/main">
              <a:ext uri="{FF2B5EF4-FFF2-40B4-BE49-F238E27FC236}">
                <a16:creationId xmlns:a16="http://schemas.microsoft.com/office/drawing/2014/main" id="{91256771-04BF-4C6B-A9D3-831AD3A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66800"/>
            <a:ext cx="2095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ttangolo 9">
            <a:extLst xmlns:a="http://schemas.openxmlformats.org/drawingml/2006/main">
              <a:ext uri="{FF2B5EF4-FFF2-40B4-BE49-F238E27FC236}">
                <a16:creationId xmlns:a16="http://schemas.microsoft.com/office/drawing/2014/main" id="{8B17F60C-5063-42FF-A8EF-431B03EB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DD1"/>
          </a:solidFill>
          <a:ln xmlns:a="http://schemas.openxmlformats.org/drawingml/2006/main" w="0">
            <a:solidFill>
              <a:srgbClr val="87BDD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ttangolo 10">
            <a:extLst xmlns:a="http://schemas.openxmlformats.org/drawingml/2006/main">
              <a:ext uri="{FF2B5EF4-FFF2-40B4-BE49-F238E27FC236}">
                <a16:creationId xmlns:a16="http://schemas.microsoft.com/office/drawing/2014/main" id="{DBF4A620-8E68-4D33-9772-6085AB9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38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Rettangolo 11">
            <a:extLst xmlns:a="http://schemas.openxmlformats.org/drawingml/2006/main">
              <a:ext uri="{FF2B5EF4-FFF2-40B4-BE49-F238E27FC236}">
                <a16:creationId xmlns:a16="http://schemas.microsoft.com/office/drawing/2014/main" id="{8FF3356A-B6BD-43F8-A573-9DEEF92F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Uffici</a:t>
            </a:r>
          </a:p>
        </p:txBody>
      </p:sp>
      <p:sp>
        <p:nvSpPr>
          <p:cNvPr id="13" name="Rettangolo con angoli arrotondati 12">
            <a:extLst xmlns:a="http://schemas.openxmlformats.org/drawingml/2006/main">
              <a:ext uri="{FF2B5EF4-FFF2-40B4-BE49-F238E27FC236}">
                <a16:creationId xmlns:a16="http://schemas.microsoft.com/office/drawing/2014/main" id="{1133B84C-A7B6-45C7-A042-F793850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066800"/>
            <a:ext cx="2095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ttangolo 13">
            <a:extLst xmlns:a="http://schemas.openxmlformats.org/drawingml/2006/main">
              <a:ext uri="{FF2B5EF4-FFF2-40B4-BE49-F238E27FC236}">
                <a16:creationId xmlns:a16="http://schemas.microsoft.com/office/drawing/2014/main" id="{0D0D84F7-F602-483C-AA39-CC95D293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BB2"/>
          </a:solidFill>
          <a:ln xmlns:a="http://schemas.openxmlformats.org/drawingml/2006/main" w="0">
            <a:solidFill>
              <a:srgbClr val="42CB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ttangolo 14">
            <a:extLst xmlns:a="http://schemas.openxmlformats.org/drawingml/2006/main">
              <a:ext uri="{FF2B5EF4-FFF2-40B4-BE49-F238E27FC236}">
                <a16:creationId xmlns:a16="http://schemas.microsoft.com/office/drawing/2014/main" id="{2C149092-87BA-4F1B-93DE-455CDFCB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Rettangolo 15">
            <a:extLst xmlns:a="http://schemas.openxmlformats.org/drawingml/2006/main">
              <a:ext uri="{FF2B5EF4-FFF2-40B4-BE49-F238E27FC236}">
                <a16:creationId xmlns:a16="http://schemas.microsoft.com/office/drawing/2014/main" id="{2C4A037B-0EEE-4FE5-9C54-CF19F6E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Stabilimenti</a:t>
            </a:r>
          </a:p>
        </p:txBody>
      </p:sp>
      <p:sp>
        <p:nvSpPr>
          <p:cNvPr id="17" name="Rettangolo con angoli arrotondati 16">
            <a:extLst xmlns:a="http://schemas.openxmlformats.org/drawingml/2006/main">
              <a:ext uri="{FF2B5EF4-FFF2-40B4-BE49-F238E27FC236}">
                <a16:creationId xmlns:a16="http://schemas.microsoft.com/office/drawing/2014/main" id="{A67321A6-9503-4495-8873-FEFC3CF6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66800"/>
            <a:ext cx="2095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ttangolo 17">
            <a:extLst xmlns:a="http://schemas.openxmlformats.org/drawingml/2006/main">
              <a:ext uri="{FF2B5EF4-FFF2-40B4-BE49-F238E27FC236}">
                <a16:creationId xmlns:a16="http://schemas.microsoft.com/office/drawing/2014/main" id="{7A420E01-E649-4DE4-8C45-28E0744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B3"/>
          </a:solidFill>
          <a:ln xmlns:a="http://schemas.openxmlformats.org/drawingml/2006/main" w="0">
            <a:solidFill>
              <a:srgbClr val="8B6B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ttangolo 18">
            <a:extLst xmlns:a="http://schemas.openxmlformats.org/drawingml/2006/main">
              <a:ext uri="{FF2B5EF4-FFF2-40B4-BE49-F238E27FC236}">
                <a16:creationId xmlns:a16="http://schemas.microsoft.com/office/drawing/2014/main" id="{9A3CFAFB-4DB3-4C43-A36F-1BB76B9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Rettangolo 19">
            <a:extLst xmlns:a="http://schemas.openxmlformats.org/drawingml/2006/main">
              <a:ext uri="{FF2B5EF4-FFF2-40B4-BE49-F238E27FC236}">
                <a16:creationId xmlns:a16="http://schemas.microsoft.com/office/drawing/2014/main" id="{6625903A-203F-48A2-97AE-69A985DB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Data center</a:t>
            </a:r>
          </a:p>
        </p:txBody>
      </p:sp>
      <p:sp>
        <p:nvSpPr>
          <p:cNvPr id="21" name="Rettangolo con angoli arrotondati 20">
            <a:extLst xmlns:a="http://schemas.openxmlformats.org/drawingml/2006/main">
              <a:ext uri="{FF2B5EF4-FFF2-40B4-BE49-F238E27FC236}">
                <a16:creationId xmlns:a16="http://schemas.microsoft.com/office/drawing/2014/main" id="{05A29FBC-7814-4DC8-A257-F46934E4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8859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ttangolo 21">
            <a:extLst xmlns:a="http://schemas.openxmlformats.org/drawingml/2006/main">
              <a:ext uri="{FF2B5EF4-FFF2-40B4-BE49-F238E27FC236}">
                <a16:creationId xmlns:a16="http://schemas.microsoft.com/office/drawing/2014/main" id="{02E598D7-1BEB-466A-B775-38D723D4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4"/>
          </a:solidFill>
          <a:ln xmlns:a="http://schemas.openxmlformats.org/drawingml/2006/main" w="0">
            <a:solidFill>
              <a:srgbClr val="D39A2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ttangolo 22">
            <a:extLst xmlns:a="http://schemas.openxmlformats.org/drawingml/2006/main">
              <a:ext uri="{FF2B5EF4-FFF2-40B4-BE49-F238E27FC236}">
                <a16:creationId xmlns:a16="http://schemas.microsoft.com/office/drawing/2014/main" id="{4BF099AD-B8B6-4825-929C-0607133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382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29" lnSpcReduction="10000"/>
          </a:bodyPr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62D29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4" name="Rettangolo 23">
            <a:extLst xmlns:a="http://schemas.openxmlformats.org/drawingml/2006/main">
              <a:ext uri="{FF2B5EF4-FFF2-40B4-BE49-F238E27FC236}">
                <a16:creationId xmlns:a16="http://schemas.microsoft.com/office/drawing/2014/main" id="{85C8275E-9C74-4C49-A234-EE7AD79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335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70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7069"/>
                </a:solidFill>
                <a:latin typeface="Calibri"/>
                <a:ea typeface="Calibri"/>
                <a:cs typeface="Calibri"/>
              </a:rPr>
              <a:t>Altre sedi</a:t>
            </a:r>
          </a:p>
        </p:txBody>
      </p:sp>
      <p:graphicFrame>
        <p:nvGraphicFramePr>
          <p:cNvPr id="9929" name="Tabella 50"/>
          <p:cNvGraphicFramePr/>
          <p:nvPr/>
        </p:nvGraphicFramePr>
        <p:xfrm>
          <a:off xmlns:a="http://schemas.openxmlformats.org/drawingml/2006/main" x="514350" y="2400300"/>
          <a:ext xmlns:a="http://schemas.openxmlformats.org/drawingml/2006/main" cx="111633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1047750"/>
                <a:gridCol w="2857500"/>
                <a:gridCol w="4924425"/>
              </a:tblGrid>
              <a:tr h="412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</a:p>
                  </a:txBody>
                  <a:tcPr marL="114300" marR="95250" marT="76200" marB="76200">
                    <a:solidFill>
                      <a:srgbClr val="06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SEDI</a:t>
                      </a:r>
                    </a:p>
                  </a:txBody>
                  <a:tcPr marL="114300" marR="95250" marT="76200" marB="76200">
                    <a:solidFill>
                      <a:srgbClr val="06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VALUTE</a:t>
                      </a:r>
                    </a:p>
                  </a:txBody>
                  <a:tcPr marL="114300" marR="95250" marT="76200" marB="76200">
                    <a:solidFill>
                      <a:srgbClr val="06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UNITÀ DI MISURA</a:t>
                      </a:r>
                    </a:p>
                  </a:txBody>
                  <a:tcPr marL="114300" marR="95250" marT="76200" marB="76200">
                    <a:solidFill>
                      <a:srgbClr val="062D2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Italia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EUR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km · m³ · 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Europa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EUR e altre valute locali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km · m³ · 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UK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GBP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mi · ft³ · gal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Nord America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USD · CAD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mi · ft³ · gal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Sud America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BRL · ARS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km · m³ · 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Asia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CNY · JPY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km · m³ · 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Africa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ZAR · NGN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kWh · km · m³ · L</a:t>
                      </a:r>
                    </a:p>
                  </a:txBody>
                  <a:tcPr marL="114300" marR="95250" marT="66675" marB="66675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Australia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62D29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114300" marR="95250" marT="66675" marB="66675"/>
                </a:tc>
              </a:tr>
            </a:tbl>
          </a:graphicData>
        </a:graphic>
      </p:graphicFrame>
      <p:sp>
        <p:nvSpPr>
          <p:cNvPr id="26" name="Rettangolo 25">
            <a:extLst xmlns:a="http://schemas.openxmlformats.org/drawingml/2006/main">
              <a:ext uri="{FF2B5EF4-FFF2-40B4-BE49-F238E27FC236}">
                <a16:creationId xmlns:a16="http://schemas.microsoft.com/office/drawing/2014/main" id="{75CF8151-C6E1-48D3-8F84-7886A305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96C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496C66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A3EE4A0B-BBB4-4559-B4E7-79BEC8E8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 sz="1000" b="0"/>
              <a:t>4</a:t>
            </a:fld>
            <a:endParaRPr sz="1000" b="0"/>
          </a:p>
        </p:txBody>
      </p:sp>
      <p:sp>
        <p:nvSpPr>
          <p:cNvPr id="9903" name="verifica-sedi">
            <a:extLst xmlns:a="http://schemas.openxmlformats.org/drawingml/2006/main">
              <a:ext uri="{FF2B5EF4-FFF2-40B4-BE49-F238E27FC236}">
                <a16:creationId xmlns:a16="http://schemas.microsoft.com/office/drawing/2014/main" id="{0D21F40E-8A5D-4680-8656-D3BA0B0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A4B14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8A4B14"/>
                </a:solidFill>
                <a:latin typeface="Calibri"/>
                <a:ea typeface="Calibri"/>
                <a:cs typeface="Calibri"/>
              </a:rPr>
              <a:t>Dato da confermare: 11 sedi nel riepilogo, 13 nella tabella geografica. Verificare anche il perimetro delle 6 aree.</a:t>
            </a:r>
          </a:p>
        </p:txBody>
      </p:sp>
      <p:pic>
        <p:nvPicPr>
          <p:cNvPr id="9933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0c0c4ad2240a0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274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ttangolo 41">
            <a:extLst xmlns:a="http://schemas.openxmlformats.org/drawingml/2006/main">
              <a:ext uri="{FF2B5EF4-FFF2-40B4-BE49-F238E27FC236}">
                <a16:creationId xmlns:a16="http://schemas.microsoft.com/office/drawing/2014/main" id="{EC60CD55-5779-480D-81AD-E8FEE34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ttangolo 1">
            <a:extLst xmlns:a="http://schemas.openxmlformats.org/drawingml/2006/main">
              <a:ext uri="{FF2B5EF4-FFF2-40B4-BE49-F238E27FC236}">
                <a16:creationId xmlns:a16="http://schemas.microsoft.com/office/drawing/2014/main" id="{7B27EF54-F76A-44D0-987A-56B9065C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Framework ESG e coerenza della rendicontazione</a:t>
            </a:r>
          </a:p>
        </p:txBody>
      </p:sp>
      <p:sp>
        <p:nvSpPr>
          <p:cNvPr id="3" name="Rettangolo 2">
            <a:extLst xmlns:a="http://schemas.openxmlformats.org/drawingml/2006/main">
              <a:ext uri="{FF2B5EF4-FFF2-40B4-BE49-F238E27FC236}">
                <a16:creationId xmlns:a16="http://schemas.microsoft.com/office/drawing/2014/main" id="{BD6DDBF2-4D47-4D08-9666-ECC8D9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43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4D6D67"/>
                </a:solidFill>
                <a:latin typeface="Calibri"/>
                <a:ea typeface="Calibri"/>
                <a:cs typeface="Calibri"/>
              </a:rPr>
              <a:t>Framework dichiarati nel questionario Envizi Quest di Alfago</a:t>
            </a:r>
          </a:p>
        </p:txBody>
      </p:sp>
      <p:sp>
        <p:nvSpPr>
          <p:cNvPr id="41" name="Rettangolo 40">
            <a:extLst xmlns:a="http://schemas.openxmlformats.org/drawingml/2006/main">
              <a:ext uri="{FF2B5EF4-FFF2-40B4-BE49-F238E27FC236}">
                <a16:creationId xmlns:a16="http://schemas.microsoft.com/office/drawing/2014/main" id="{B99C37AF-EEEF-4455-81A4-405DBB3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96C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496C66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graphicFrame>
        <p:nvGraphicFramePr>
          <p:cNvPr id="9908" name="Tabella 10"/>
          <p:cNvGraphicFramePr/>
          <p:nvPr/>
        </p:nvGraphicFramePr>
        <p:xfrm>
          <a:off xmlns:a="http://schemas.openxmlformats.org/drawingml/2006/main" x="552893" y="1190625"/>
          <a:ext xmlns:a="http://schemas.openxmlformats.org/drawingml/2006/main" cx="10696350" cy="5692954"/>
        </p:xfrm>
        <a:graphic xmlns:a="http://schemas.openxmlformats.org/drawingml/2006/main"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139270"/>
                <a:gridCol w="1263147"/>
                <a:gridCol w="5709684"/>
                <a:gridCol w="903767"/>
                <a:gridCol w="680482"/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cap="all"/>
                        <a:t>GHG E CLIMA</a:t>
                      </a:r>
                      <a:endParaRPr sz="1000" b="1" i="0" cap="all">
                        <a:solidFill>
                          <a:srgbClr val="39EFB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33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/>
                        <a:t>GHG </a:t>
                      </a:r>
                      <a:r>
                        <a:rPr sz="1000" b="1"/>
                        <a:t>Protocol</a:t>
                      </a:r>
                      <a:r>
                        <a:rPr sz="1000" b="1"/>
                        <a:t> – Scope 1, 2, 3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Calcolo delle emissioni Scope 1, 2 e delle principali categorie Scope 3.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64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/>
                        <a:t>TCFD</a:t>
                      </a:r>
                      <a:r>
                        <a:rPr sz="1000" b="1" cap="all"/>
                        <a:t>legacy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Raccomandazioni sulla disclosure climatica confluite in IFRS S1 e S2.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74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/>
                        <a:t>CDP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Questionario ambientale su clima, acqua e foreste per investitori e clienti.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☑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72329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cap="all"/>
                        <a:t>Standard internazionali e framework volontari o adottati dalle giurisdizioni</a:t>
                      </a:r>
                      <a:endParaRPr sz="1000" b="1" i="0" cap="all">
                        <a:solidFill>
                          <a:srgbClr val="39EFB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19047" marT="19840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400" b="1" i="0" cap="all">
                        <a:solidFill>
                          <a:srgbClr val="39EFB4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9047" marR="19047" marT="19840" marB="7936" anchor="ctr"/>
                </a:tc>
              </a:tr>
              <a:tr h="3041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/>
                        <a:t>GRI Standards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Standard globali per rendicontare gli impatti economici, ambientali e sociali.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☑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33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SASB Standards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Indicatori ESG finanziariamente rilevanti, specifici per settore.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☑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45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UN </a:t>
                      </a:r>
                      <a:r>
                        <a:rPr sz="1000"/>
                        <a:t>Sustainable</a:t>
                      </a:r>
                      <a:r>
                        <a:rPr sz="1000"/>
                        <a:t> Development Goals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17 obiettivi ONU per collegare le attività aziendali all’agenda globale.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12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IFRS S1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Informativa sui rischi e sulle opportunità ESG rilevanti per gli investitori.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22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IFRS S2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Informativa climatica su governance, strategia, rischi, metriche e obiettivi.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72329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cap="all"/>
                        <a:t>Finanza &amp; Mercati</a:t>
                      </a:r>
                      <a:endParaRPr sz="1000" b="1" i="0" cap="all">
                        <a:solidFill>
                          <a:srgbClr val="39EFB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19047" marT="19840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400" b="1" i="0" cap="all">
                        <a:solidFill>
                          <a:srgbClr val="39EFB4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9047" marR="19047" marT="19840" marB="7936" anchor="ctr"/>
                </a:tc>
              </a:tr>
              <a:tr h="2712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SFDR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UE – Servizi finanziari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Disclosure di sostenibilità degli operatori finanziari e dei prodotti di investimento.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9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GRESB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Globale – Real estate e infrastrutture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Valutazione delle performance ESG di immobili e infrastrutture.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72329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cap="all"/>
                        <a:t>Regionali &amp; Settoriali</a:t>
                      </a:r>
                      <a:endParaRPr sz="1000" b="1" i="0" cap="all">
                        <a:solidFill>
                          <a:srgbClr val="39EFB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19047" marT="19840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400" b="1" i="0" cap="all">
                        <a:solidFill>
                          <a:srgbClr val="39EFB4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9047" marR="19047" marT="19840" marB="7936" anchor="ctr"/>
                </a:tc>
              </a:tr>
              <a:tr h="2783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SECR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Regno Unito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Reporting britannico su consumi energetici ed emissioni per le imprese interessate.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74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ENERGY STAR</a:t>
                      </a: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Nord America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/>
                        <a:t>Certificazione EPA di efficienza energetica per edifici e prodotti.</a:t>
                      </a: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☐</a:t>
                      </a: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43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2832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NABERS</a:t>
                      </a:r>
                      <a:endParaRPr sz="1000" b="1">
                        <a:solidFill>
                          <a:srgbClr val="E8F5EF"/>
                        </a:solidFill>
                      </a:endParaRPr>
                    </a:p>
                    <a:p>
                      <a:pPr algn="l">
                        <a:buNone/>
                      </a:pPr>
                      <a:endParaRPr sz="1000" b="1" i="0">
                        <a:solidFill>
                          <a:srgbClr val="E8F5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Australia</a:t>
                      </a:r>
                      <a:endParaRPr sz="1000" b="0">
                        <a:solidFill>
                          <a:srgbClr val="7A9E92"/>
                        </a:solidFill>
                      </a:endParaRPr>
                    </a:p>
                    <a:p>
                      <a:pPr algn="l">
                        <a:buNone/>
                      </a:pPr>
                      <a:endParaRPr sz="1000" b="0" i="0">
                        <a:solidFill>
                          <a:srgbClr val="7A9E9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Valutazione australiana delle prestazioni ambientali degli edifici commerciali.</a:t>
                      </a:r>
                      <a:endParaRPr sz="1000" b="0">
                        <a:solidFill>
                          <a:srgbClr val="7A9E92"/>
                        </a:solidFill>
                      </a:endParaRPr>
                    </a:p>
                  </a:txBody>
                  <a:tcPr marL="19047" marR="23808" marT="13888" marB="138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/>
                        <a:t>☐</a:t>
                      </a:r>
                      <a:endParaRPr sz="1400" b="0">
                        <a:solidFill>
                          <a:srgbClr val="F2FFF9"/>
                        </a:solidFill>
                      </a:endParaRPr>
                    </a:p>
                    <a:p>
                      <a:pPr algn="ctr">
                        <a:buNone/>
                      </a:pP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/>
                        <a:t>☐</a:t>
                      </a:r>
                      <a:endParaRPr sz="1400" b="0">
                        <a:solidFill>
                          <a:srgbClr val="F2FFF9"/>
                        </a:solidFill>
                      </a:endParaRPr>
                    </a:p>
                    <a:p>
                      <a:pPr algn="ctr">
                        <a:buNone/>
                      </a:pPr>
                      <a:endParaRPr sz="1400" b="0" i="0">
                        <a:solidFill>
                          <a:srgbClr val="F2FFF9"/>
                        </a:solidFill>
                        <a:latin typeface="Times"/>
                        <a:ea typeface="Times"/>
                        <a:cs typeface="Times"/>
                      </a:endParaRPr>
                    </a:p>
                  </a:txBody>
                  <a:tcPr marL="15872" marR="15872" marT="115936" marB="793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3F4EEDCE-85B5-45F7-A774-701360D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000" b="0"/>
              <a:t>5</a:t>
            </a:fld>
            <a:endParaRPr sz="1000" b="0"/>
          </a:p>
        </p:txBody>
      </p:sp>
      <p:pic>
        <p:nvPicPr>
          <p:cNvPr id="9910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bc8eaf7d14898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170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10" name="Immagin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977c5ddee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656455"/>
            <a:ext cx="12133528" cy="2235425"/>
          </a:xfrm>
          <a:prstGeom xmlns:a="http://schemas.openxmlformats.org/drawingml/2006/main" prst="rect">
            <a:avLst/>
          </a:prstGeom>
        </p:spPr>
      </p:pic>
      <p:sp>
        <p:nvSpPr>
          <p:cNvPr id="2" name="Rettangolo 1">
            <a:extLst xmlns:a="http://schemas.openxmlformats.org/drawingml/2006/main">
              <a:ext uri="{FF2B5EF4-FFF2-40B4-BE49-F238E27FC236}">
                <a16:creationId xmlns:a16="http://schemas.microsoft.com/office/drawing/2014/main" id="{E19DAE74-0069-4330-8C8C-F7D5235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21" y="275545"/>
            <a:ext cx="96993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Obiettivi in ordine di priorità</a:t>
            </a:r>
          </a:p>
        </p:txBody>
      </p:sp>
      <p:sp>
        <p:nvSpPr>
          <p:cNvPr id="19" name="CasellaDiTesto 18">
            <a:extLst xmlns:a="http://schemas.openxmlformats.org/drawingml/2006/main">
              <a:ext uri="{FF2B5EF4-FFF2-40B4-BE49-F238E27FC236}">
                <a16:creationId xmlns:a16="http://schemas.microsoft.com/office/drawing/2014/main" id="{0B0DA487-ED6A-BE4A-2358-F3DF654C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958" y="6550223"/>
            <a:ext cx="242422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9C6F991D-01AE-48AF-BECD-1638F9B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 sz="1000" b="0"/>
              <a:t>6</a:t>
            </a:fld>
            <a:endParaRPr sz="1000" b="0"/>
          </a:p>
        </p:txBody>
      </p:sp>
      <p:pic>
        <p:nvPicPr>
          <p:cNvPr id="9932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57015e0154518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  <p:grpSp>
        <p:nvGrpSpPr>
          <p:cNvPr id="11001" name="blocco_obiettivo_1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19" name="icon_obiettivo_1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9d94670463c4e3e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239629" y="1340475"/>
              <a:ext cx="3775834" cy="1739900"/>
            </a:xfrm>
            <a:prstGeom xmlns:a="http://schemas.openxmlformats.org/drawingml/2006/main" prst="rect">
              <a:avLst/>
            </a:prstGeom>
          </p:spPr>
        </p:pic>
        <p:sp>
          <p:nvSpPr>
            <p:cNvPr id="8" name="titolo_obiettivo_1">
              <a:extLst xmlns:a="http://schemas.openxmlformats.org/drawingml/2006/main">
                <a:ext uri="{FF2B5EF4-FFF2-40B4-BE49-F238E27FC236}">
                  <a16:creationId xmlns:a16="http://schemas.microsoft.com/office/drawing/2014/main" id="{1457C7FE-5107-4501-AD49-1A882933E9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3053" y="1417749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{{RANK_1}}  {{OBIETTIVO_1}}</a:t>
              </a:r>
            </a:p>
          </p:txBody>
        </p:sp>
        <p:sp>
          <p:nvSpPr>
            <p:cNvPr id="39" name="note_obiettivo_1">
              <a:extLst xmlns:a="http://schemas.openxmlformats.org/drawingml/2006/main">
                <a:ext uri="{FF2B5EF4-FFF2-40B4-BE49-F238E27FC236}">
                  <a16:creationId xmlns:a16="http://schemas.microsoft.com/office/drawing/2014/main" id="{21C8A1F4-C75F-6E2D-18CF-A2A934806E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79884" y="1627632"/>
              <a:ext cx="2278114" cy="1384995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{{NOTE_OBIETTIVO_1}}</a:t>
              </a:r>
            </a:p>
          </p:txBody>
        </p:sp>
      </p:grpSp>
      <p:grpSp>
        <p:nvGrpSpPr>
          <p:cNvPr id="11002" name="blocco_obiettivo_2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21" name="icon_obiettivo_2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d86a7b0af6b425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4081663" y="1413698"/>
              <a:ext cx="4038600" cy="1676400"/>
            </a:xfrm>
            <a:prstGeom xmlns:a="http://schemas.openxmlformats.org/drawingml/2006/main" prst="rect">
              <a:avLst/>
            </a:prstGeom>
          </p:spPr>
        </p:pic>
        <p:sp>
          <p:nvSpPr>
            <p:cNvPr id="4" name="titolo_obiettivo_2">
              <a:extLst xmlns:a="http://schemas.openxmlformats.org/drawingml/2006/main">
                <a:ext uri="{FF2B5EF4-FFF2-40B4-BE49-F238E27FC236}">
                  <a16:creationId xmlns:a16="http://schemas.microsoft.com/office/drawing/2014/main" id="{F7D6BA53-79B6-4F05-A63B-3B573FCF58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99234" y="1467753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{{RANK_2}}  {{OBIETTIVO_2}}</a:t>
              </a:r>
            </a:p>
          </p:txBody>
        </p:sp>
        <p:sp>
          <p:nvSpPr>
            <p:cNvPr id="42" name="note_obiettivo_2">
              <a:extLst xmlns:a="http://schemas.openxmlformats.org/drawingml/2006/main">
                <a:ext uri="{FF2B5EF4-FFF2-40B4-BE49-F238E27FC236}">
                  <a16:creationId xmlns:a16="http://schemas.microsoft.com/office/drawing/2014/main" id="{B73CECA0-FF4B-9B27-801A-988BBF9ECE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3320" y="1682496"/>
              <a:ext cx="2278114" cy="1384995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{{NOTE_OBIETTIVO_2}}</a:t>
              </a:r>
            </a:p>
          </p:txBody>
        </p:sp>
      </p:grpSp>
      <p:grpSp>
        <p:nvGrpSpPr>
          <p:cNvPr id="11003" name="blocco_obiettivo_3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20" name="icon_obiettivo_3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045ab945b1c44d1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8138437" y="1396534"/>
              <a:ext cx="3975100" cy="1790700"/>
            </a:xfrm>
            <a:prstGeom xmlns:a="http://schemas.openxmlformats.org/drawingml/2006/main" prst="rect">
              <a:avLst/>
            </a:prstGeom>
          </p:spPr>
        </p:pic>
        <p:sp>
          <p:nvSpPr>
            <p:cNvPr id="6" name="titolo_obiettivo_3">
              <a:extLst xmlns:a="http://schemas.openxmlformats.org/drawingml/2006/main">
                <a:ext uri="{FF2B5EF4-FFF2-40B4-BE49-F238E27FC236}">
                  <a16:creationId xmlns:a16="http://schemas.microsoft.com/office/drawing/2014/main" id="{B28E0820-69E0-40E1-86BC-CE2E4442C1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90560" y="1466020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{{RANK_3}}  {{OBIETTIVO_3}}</a:t>
              </a:r>
            </a:p>
          </p:txBody>
        </p:sp>
        <p:sp>
          <p:nvSpPr>
            <p:cNvPr id="44" name="note_obiettivo_3">
              <a:extLst xmlns:a="http://schemas.openxmlformats.org/drawingml/2006/main">
                <a:ext uri="{FF2B5EF4-FFF2-40B4-BE49-F238E27FC236}">
                  <a16:creationId xmlns:a16="http://schemas.microsoft.com/office/drawing/2014/main" id="{B365B65C-6A9F-491F-CE70-45B63F8EA3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77410" y="1682496"/>
              <a:ext cx="2278114" cy="1384995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{{NOTE_OBIETTIVO_3}}</a:t>
              </a:r>
            </a:p>
          </p:txBody>
        </p:sp>
      </p:grpSp>
      <p:grpSp>
        <p:nvGrpSpPr>
          <p:cNvPr id="11004" name="blocco_obiettivo_4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11" name="icon_obiettivo_4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e4893c6d6854488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127277" y="3270912"/>
              <a:ext cx="3888186" cy="1727200"/>
            </a:xfrm>
            <a:prstGeom xmlns:a="http://schemas.openxmlformats.org/drawingml/2006/main" prst="rect">
              <a:avLst/>
            </a:prstGeom>
          </p:spPr>
        </p:pic>
        <p:sp>
          <p:nvSpPr>
            <p:cNvPr id="10" name="titolo_obiettivo_4">
              <a:extLst xmlns:a="http://schemas.openxmlformats.org/drawingml/2006/main">
                <a:ext uri="{FF2B5EF4-FFF2-40B4-BE49-F238E27FC236}">
                  <a16:creationId xmlns:a16="http://schemas.microsoft.com/office/drawing/2014/main" id="{3105BE0D-8F32-4EBD-AA1E-F7C0CF412D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9629" y="3318940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{{RANK_4}}  {{OBIETTIVO_4}}</a:t>
              </a:r>
            </a:p>
          </p:txBody>
        </p:sp>
        <p:sp>
          <p:nvSpPr>
            <p:cNvPr id="46" name="note_obiettivo_4">
              <a:extLst xmlns:a="http://schemas.openxmlformats.org/drawingml/2006/main">
                <a:ext uri="{FF2B5EF4-FFF2-40B4-BE49-F238E27FC236}">
                  <a16:creationId xmlns:a16="http://schemas.microsoft.com/office/drawing/2014/main" id="{46D51444-06D3-6549-7722-523C841C29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6935" y="3529584"/>
              <a:ext cx="2278114" cy="1384995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endParaRPr/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{{NOTE_OBIETTIVO_4}}</a:t>
              </a:r>
            </a:p>
          </p:txBody>
        </p:sp>
      </p:grpSp>
      <p:grpSp>
        <p:nvGrpSpPr>
          <p:cNvPr id="11005" name="blocco_obiettivo_5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17" name="icon_obiettivo_5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34f9ab2adee4ff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4137003" y="3347112"/>
              <a:ext cx="3937000" cy="1651000"/>
            </a:xfrm>
            <a:prstGeom xmlns:a="http://schemas.openxmlformats.org/drawingml/2006/main" prst="rect">
              <a:avLst/>
            </a:prstGeom>
          </p:spPr>
        </p:pic>
        <p:sp>
          <p:nvSpPr>
            <p:cNvPr id="12" name="titolo_obiettivo_5">
              <a:extLst xmlns:a="http://schemas.openxmlformats.org/drawingml/2006/main">
                <a:ext uri="{FF2B5EF4-FFF2-40B4-BE49-F238E27FC236}">
                  <a16:creationId xmlns:a16="http://schemas.microsoft.com/office/drawing/2014/main" id="{C3226317-E9F3-4A41-B4C1-91B77C2DB7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3851" y="3323842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{{RANK_5}}  {{OBIETTIVO_5}}</a:t>
              </a:r>
            </a:p>
          </p:txBody>
        </p:sp>
        <p:sp>
          <p:nvSpPr>
            <p:cNvPr id="48" name="note_obiettivo_5">
              <a:extLst xmlns:a="http://schemas.openxmlformats.org/drawingml/2006/main">
                <a:ext uri="{FF2B5EF4-FFF2-40B4-BE49-F238E27FC236}">
                  <a16:creationId xmlns:a16="http://schemas.microsoft.com/office/drawing/2014/main" id="{C8265D83-E2F5-FD13-221A-92D55AFD4B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42947" y="3502152"/>
              <a:ext cx="2278114" cy="1384995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endParaRPr/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{{NOTE_OBIETTIVO_5}}</a:t>
              </a:r>
            </a:p>
          </p:txBody>
        </p:sp>
      </p:grpSp>
      <p:grpSp>
        <p:nvGrpSpPr>
          <p:cNvPr id="11006" name="blocco_obiettivo_6"/>
          <p:cNvGrpSpPr/>
          <p:nvPr/>
        </p:nvGrpSpPr>
        <p:grpSpPr>
          <ns0:xfrm xmlns:ns0="http://schemas.openxmlformats.org/drawingml/2006/main">
            <ns0:off x="0" y="0"/>
            <ns0:ext cx="12192000" cy="6858000"/>
            <ns0:chOff x="0" y="0"/>
            <ns0:chExt cx="12192000" cy="6858000"/>
          </ns0:xfrm>
        </p:grpSpPr>
        <p:pic>
          <p:nvPicPr>
            <p:cNvPr id="9912" name="icon_obiettivo_6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2b563c6a0104bf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8079339" y="3316046"/>
              <a:ext cx="3975100" cy="1638300"/>
            </a:xfrm>
            <a:prstGeom xmlns:a="http://schemas.openxmlformats.org/drawingml/2006/main" prst="rect">
              <a:avLst/>
            </a:prstGeom>
          </p:spPr>
        </p:pic>
        <p:sp>
          <p:nvSpPr>
            <p:cNvPr id="27" name="titolo_obiettivo_6">
              <a:extLst xmlns:a="http://schemas.openxmlformats.org/drawingml/2006/main">
                <a:ext uri="{FF2B5EF4-FFF2-40B4-BE49-F238E27FC236}">
                  <a16:creationId xmlns:a16="http://schemas.microsoft.com/office/drawing/2014/main" id="{58CB44CE-90AA-6895-22F7-F0DF438A1A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53729" y="3360510"/>
              <a:ext cx="3413760" cy="3086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sz="1125" b="1" i="0" u="none" cap="none" spc="0">
                  <a:ln>
                    <a:noFill/>
                  </a:ln>
                  <a:solidFill>
                    <a:srgbClr val="073E31"/>
                  </a:solidFill>
                  <a:latin typeface="Calibri"/>
                  <a:ea typeface="Calibri"/>
                  <a:cs typeface="Calibri"/>
                </a:rPr>
                <a:t>{{RANK_6}}  {{OBIETTIVO_6}}</a:t>
              </a:r>
            </a:p>
          </p:txBody>
        </p:sp>
        <p:sp>
          <p:nvSpPr>
            <p:cNvPr id="50" name="note_obiettivo_6">
              <a:extLst xmlns:a="http://schemas.openxmlformats.org/drawingml/2006/main">
                <a:ext uri="{FF2B5EF4-FFF2-40B4-BE49-F238E27FC236}">
                  <a16:creationId xmlns:a16="http://schemas.microsoft.com/office/drawing/2014/main" id="{9ABF16E6-DC55-20A7-1EB6-25EA100C66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93184" y="3679584"/>
              <a:ext cx="2278114" cy="1169551"/>
            </a:xfrm>
            <a:prstGeom xmlns:a="http://schemas.openxmlformats.org/drawingml/2006/main" prst="rect">
              <a:avLst/>
            </a:prstGeom>
            <a:noFill xmlns:a="http://schemas.openxmlformats.org/drawingml/2006/main"/>
          </p:spPr>
          <p:txBody>
            <a:bodyPr xmlns:a="http://schemas.openxmlformats.org/drawingml/2006/main" wrap="square" anchor="ctr">
              <a:spAutoFit/>
            </a:bodyPr>
            <a:lstStyle xmlns:a="http://schemas.openxmlformats.org/drawingml/2006/main"/>
            <a:p xmlns:a="http://schemas.openxmlformats.org/drawingml/2006/main">
              <a:endParaRPr/>
              <a:r>
                <a:rPr sz="1100" b="0" i="0" u="none" cap="none" spc="0">
                  <a:ln>
                    <a:noFill/>
                  </a:ln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{{NOTE_OBIETTIVO_6}}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0165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ttangolo 12">
            <a:extLst xmlns:a="http://schemas.openxmlformats.org/drawingml/2006/main">
              <a:ext uri="{FF2B5EF4-FFF2-40B4-BE49-F238E27FC236}">
                <a16:creationId xmlns:a16="http://schemas.microsoft.com/office/drawing/2014/main" id="{3DBA6725-3A41-4930-A38A-8CAA4A8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817"/>
            <a:ext cx="932823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emerse: dati dei fornitori e gestione dei framework ESG</a:t>
            </a:r>
          </a:p>
        </p:txBody>
      </p:sp>
      <p:sp>
        <p:nvSpPr>
          <p:cNvPr id="15" name="Rettangolo 14">
            <a:extLst xmlns:a="http://schemas.openxmlformats.org/drawingml/2006/main">
              <a:ext uri="{FF2B5EF4-FFF2-40B4-BE49-F238E27FC236}">
                <a16:creationId xmlns:a16="http://schemas.microsoft.com/office/drawing/2014/main" id="{13F9951E-718D-E874-8C0D-50EA7491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2676"/>
            <a:ext cx="3262423" cy="5226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1. Dati ESG dei fornitori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Emissioni, obiettivi, conformità e continuità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R:10  C:9  Totale:19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73E31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2. Framework e standard ESG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CSRD/ESRS, GRI, IFRS S1/S2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R:10  C:9  Totale:19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73E31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3. Workflow ed evidenze per l’assurance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R:9  C:9  Totale:18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73E31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4. Calcoli GHG Scope 1, 2 e 3 tracciabili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R:8  C:7  Totale:15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73E31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5. Registro delle modifiche ai dati ESG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R:7  C:7  Totale:14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73E31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Altri elementi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6. Impronta carbonica dei prodotti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R:9  C:5  Totale:14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7. Informazioni materiali e gap negli standard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R:3  C:10  Totale:13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8. Completezza e puntualità dei dati</a:t>
            </a:r>
          </a:p>
          <a:p xmlns:a="http://schemas.openxmlformats.org/drawingml/2006/main">
            <a:pPr marL="228600" indent="0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  <a:defRPr sz="11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R:5  C:5  Totale:10</a:t>
            </a:r>
          </a:p>
        </p:txBody>
      </p:sp>
      <p:sp>
        <p:nvSpPr>
          <p:cNvPr id="23" name="CasellaDiTesto 22">
            <a:extLst xmlns:a="http://schemas.openxmlformats.org/drawingml/2006/main">
              <a:ext uri="{FF2B5EF4-FFF2-40B4-BE49-F238E27FC236}">
                <a16:creationId xmlns:a16="http://schemas.microsoft.com/office/drawing/2014/main" id="{E7A37AA7-B8C8-B015-55D9-26B4A2F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958" y="6550223"/>
            <a:ext cx="242422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pic>
        <p:nvPicPr>
          <p:cNvPr id="9907" name="matrix_slide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a83722f6442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4289" y="1499190"/>
            <a:ext cx="7176976" cy="4742121"/>
          </a:xfrm>
          <a:prstGeom xmlns:a="http://schemas.openxmlformats.org/drawingml/2006/main" prst="rect">
            <a:avLst/>
          </a:prstGeom>
        </p:spPr>
      </p:pic>
      <p:sp>
        <p:nvSpPr>
          <p:cNvPr id="9901" name="pageNum">
            <a:extLst xmlns:a="http://schemas.openxmlformats.org/drawingml/2006/main">
              <a:ext uri="{FF2B5EF4-FFF2-40B4-BE49-F238E27FC236}">
                <a16:creationId xmlns:a16="http://schemas.microsoft.com/office/drawing/2014/main" id="{FFC6599E-B7BA-4152-9A45-79C0DE1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6400000"/>
            <a:ext cx="1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 sz="1000" b="0"/>
              <a:t>7</a:t>
            </a:fld>
            <a:endParaRPr sz="1000" b="0"/>
          </a:p>
        </p:txBody>
      </p:sp>
      <p:pic>
        <p:nvPicPr>
          <p:cNvPr id="99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6b0f3b7084c79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382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B25BF3F0-A30B-AF7D-4B1D-7B2DF0C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{{RANK}}: {{SFIDA}}</a:t>
            </a:r>
          </a:p>
        </p:txBody>
      </p:sp>
      <p:sp>
        <p:nvSpPr>
          <p:cNvPr id="5" name="CasellaDiTesto 4">
            <a:extLst xmlns:a="http://schemas.openxmlformats.org/drawingml/2006/main">
              <a:ext uri="{FF2B5EF4-FFF2-40B4-BE49-F238E27FC236}">
                <a16:creationId xmlns:a16="http://schemas.microsoft.com/office/drawing/2014/main" id="{265724DB-0187-8E5A-2A6A-A0EC82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Calibri"/>
                <a:ea typeface="Calibri"/>
                <a:cs typeface="Calibri"/>
              </a:rPr>
              <a:t>Obiettivo: {{OBIETTIVO}}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2A7F9510-87C1-778F-EEEB-83BF0058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1776000"/>
            <a:ext cx="5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{{TESTO_SX}}</a:t>
            </a:r>
          </a:p>
        </p:txBody>
      </p:sp>
      <p:sp>
        <p:nvSpPr>
          <p:cNvPr id="601" name="col_dx_1">
            <a:extLst xmlns:a="http://schemas.openxmlformats.org/drawingml/2006/main">
              <a:ext uri="{FF2B5EF4-FFF2-40B4-BE49-F238E27FC236}">
                <a16:creationId xmlns:a16="http://schemas.microsoft.com/office/drawing/2014/main" id="{C8A80C92-52F6-4EAA-B373-657AECAA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776000"/>
            <a:ext cx="57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{{TESTO_DX}}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F5C8DBB2-72EF-C781-9C64-A1964881E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pic>
        <p:nvPicPr>
          <p:cNvPr id="6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b96d2bbfa47fd"/>
          <a:stretch xmlns:a="http://schemas.openxmlformats.org/drawingml/2006/main"/>
        </p:blipFill>
        <p:spPr>
          <a:xfrm xmlns:a="http://schemas.openxmlformats.org/drawingml/2006/main">
            <a:off x="10004425" y="228600"/>
            <a:ext cx="1803400" cy="676275"/>
          </a:xfrm>
          <a:prstGeom xmlns:a="http://schemas.openxmlformats.org/drawingml/2006/main" prst="rect">
            <a:avLst/>
          </a:prstGeom>
        </p:spPr>
      </p:pic>
      <p:pic>
        <p:nvPicPr>
          <p:cNvPr id="610" name="icon_obiettiv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2ac5d51334e49"/>
          <a:stretch xmlns:a="http://schemas.openxmlformats.org/drawingml/2006/main"/>
        </p:blipFill>
        <p:spPr>
          <a:xfrm xmlns:a="http://schemas.openxmlformats.org/drawingml/2006/main">
            <a:off x="438150" y="857250"/>
            <a:ext cx="1905000" cy="858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164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194F0EF8-08F2-2F16-6DFC-BF5F347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{{RANK}}: {{SFIDA}}</a:t>
            </a:r>
          </a:p>
        </p:txBody>
      </p:sp>
      <p:sp>
        <p:nvSpPr>
          <p:cNvPr id="5" name="CasellaDiTesto 4">
            <a:extLst xmlns:a="http://schemas.openxmlformats.org/drawingml/2006/main">
              <a:ext uri="{FF2B5EF4-FFF2-40B4-BE49-F238E27FC236}">
                <a16:creationId xmlns:a16="http://schemas.microsoft.com/office/drawing/2014/main" id="{E38A3C35-F510-AA06-EC28-20FB448D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Calibri"/>
                <a:ea typeface="Calibri"/>
                <a:cs typeface="Calibri"/>
              </a:rPr>
              <a:t>Obiettivo: {{OBIETTIVO}}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E135FA35-B014-F546-A83D-7D3C0243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1776000"/>
            <a:ext cx="5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{{TESTO_SX}}</a:t>
            </a:r>
          </a:p>
        </p:txBody>
      </p:sp>
      <p:sp>
        <p:nvSpPr>
          <p:cNvPr id="601" name="col_dx_2">
            <a:extLst xmlns:a="http://schemas.openxmlformats.org/drawingml/2006/main">
              <a:ext uri="{FF2B5EF4-FFF2-40B4-BE49-F238E27FC236}">
                <a16:creationId xmlns:a16="http://schemas.microsoft.com/office/drawing/2014/main" id="{E2E626E1-D3D0-4EE2-BEF1-4DB579D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776000"/>
            <a:ext cx="57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{{TESTO_DX}}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1241C196-E746-39AD-25B6-52000EDE8B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pic>
        <p:nvPicPr>
          <p:cNvPr id="6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17b72130340c8"/>
          <a:stretch xmlns:a="http://schemas.openxmlformats.org/drawingml/2006/main"/>
        </p:blipFill>
        <p:spPr>
          <a:xfrm xmlns:a="http://schemas.openxmlformats.org/drawingml/2006/main">
            <a:off x="10004425" y="228600"/>
            <a:ext cx="1803400" cy="676275"/>
          </a:xfrm>
          <a:prstGeom xmlns:a="http://schemas.openxmlformats.org/drawingml/2006/main" prst="rect">
            <a:avLst/>
          </a:prstGeom>
        </p:spPr>
      </p:pic>
      <p:pic>
        <p:nvPicPr>
          <p:cNvPr id="610" name="icon_obiettiv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2a96467874d48"/>
          <a:stretch xmlns:a="http://schemas.openxmlformats.org/drawingml/2006/main"/>
        </p:blipFill>
        <p:spPr>
          <a:xfrm xmlns:a="http://schemas.openxmlformats.org/drawingml/2006/main">
            <a:off x="438150" y="857250"/>
            <a:ext cx="1905000" cy="858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031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8E1A523D-CC47-EDD6-3AD5-36BD7603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{{RANK}}: {{SFIDA}}</a:t>
            </a:r>
          </a:p>
        </p:txBody>
      </p:sp>
      <p:sp>
        <p:nvSpPr>
          <p:cNvPr id="5" name="CasellaDiTesto 4">
            <a:extLst xmlns:a="http://schemas.openxmlformats.org/drawingml/2006/main">
              <a:ext uri="{FF2B5EF4-FFF2-40B4-BE49-F238E27FC236}">
                <a16:creationId xmlns:a16="http://schemas.microsoft.com/office/drawing/2014/main" id="{852AD8A7-ADEB-80E9-2FBA-CD2B46D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Calibri"/>
                <a:ea typeface="Calibri"/>
                <a:cs typeface="Calibri"/>
              </a:rPr>
              <a:t>Obiettivo: {{OBIETTIVO}}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1DD662B6-DA2A-0D84-75AC-9428966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1776000"/>
            <a:ext cx="5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{{TESTO_SX}}</a:t>
            </a:r>
          </a:p>
        </p:txBody>
      </p:sp>
      <p:sp>
        <p:nvSpPr>
          <p:cNvPr id="601" name="col_dx_3">
            <a:extLst xmlns:a="http://schemas.openxmlformats.org/drawingml/2006/main">
              <a:ext uri="{FF2B5EF4-FFF2-40B4-BE49-F238E27FC236}">
                <a16:creationId xmlns:a16="http://schemas.microsoft.com/office/drawing/2014/main" id="{54F9153E-556B-4DB0-A549-83C5514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776000"/>
            <a:ext cx="57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{{TESTO_DX}}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28C4B109-E7E1-F168-2DD5-D0964F7F4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pic>
        <p:nvPicPr>
          <p:cNvPr id="6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8ffeb7c694dfe"/>
          <a:stretch xmlns:a="http://schemas.openxmlformats.org/drawingml/2006/main"/>
        </p:blipFill>
        <p:spPr>
          <a:xfrm xmlns:a="http://schemas.openxmlformats.org/drawingml/2006/main">
            <a:off x="10004425" y="228600"/>
            <a:ext cx="1803400" cy="676275"/>
          </a:xfrm>
          <a:prstGeom xmlns:a="http://schemas.openxmlformats.org/drawingml/2006/main" prst="rect">
            <a:avLst/>
          </a:prstGeom>
        </p:spPr>
      </p:pic>
      <p:pic>
        <p:nvPicPr>
          <p:cNvPr id="610" name="icon_obiettiv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68a73e7ba4186"/>
          <a:stretch xmlns:a="http://schemas.openxmlformats.org/drawingml/2006/main"/>
        </p:blipFill>
        <p:spPr>
          <a:xfrm xmlns:a="http://schemas.openxmlformats.org/drawingml/2006/main">
            <a:off x="438150" y="857250"/>
            <a:ext cx="1905000" cy="858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589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52E70255-807A-6753-D5DA-C0D84F64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{{RANK}}: {{SFIDA}}</a:t>
            </a:r>
          </a:p>
        </p:txBody>
      </p:sp>
      <p:sp>
        <p:nvSpPr>
          <p:cNvPr id="5" name="CasellaDiTesto 4">
            <a:extLst xmlns:a="http://schemas.openxmlformats.org/drawingml/2006/main">
              <a:ext uri="{FF2B5EF4-FFF2-40B4-BE49-F238E27FC236}">
                <a16:creationId xmlns:a16="http://schemas.microsoft.com/office/drawing/2014/main" id="{04358F44-50BD-D3B0-2BE2-2325101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Calibri"/>
                <a:ea typeface="Calibri"/>
                <a:cs typeface="Calibri"/>
              </a:rPr>
              <a:t>Obiettivo: {{OBIETTIVO}}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0E4C2AE7-20BA-916A-FEA7-35622B7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1776000"/>
            <a:ext cx="5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{{TESTO_SX}}</a:t>
            </a:r>
          </a:p>
        </p:txBody>
      </p:sp>
      <p:sp>
        <p:nvSpPr>
          <p:cNvPr id="601" name="col_dx_4">
            <a:extLst xmlns:a="http://schemas.openxmlformats.org/drawingml/2006/main">
              <a:ext uri="{FF2B5EF4-FFF2-40B4-BE49-F238E27FC236}">
                <a16:creationId xmlns:a16="http://schemas.microsoft.com/office/drawing/2014/main" id="{91B530A6-3F87-40AC-A53C-2444B22F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776000"/>
            <a:ext cx="57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{{TESTO_DX}}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93FF2294-F0E7-42FF-7AA4-18E3ACC8B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pic>
        <p:nvPicPr>
          <p:cNvPr id="6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dd3edd86a4577"/>
          <a:stretch xmlns:a="http://schemas.openxmlformats.org/drawingml/2006/main"/>
        </p:blipFill>
        <p:spPr>
          <a:xfrm xmlns:a="http://schemas.openxmlformats.org/drawingml/2006/main">
            <a:off x="10004425" y="228600"/>
            <a:ext cx="1803400" cy="676275"/>
          </a:xfrm>
          <a:prstGeom xmlns:a="http://schemas.openxmlformats.org/drawingml/2006/main" prst="rect">
            <a:avLst/>
          </a:prstGeom>
        </p:spPr>
      </p:pic>
      <p:pic>
        <p:nvPicPr>
          <p:cNvPr id="610" name="icon_obiettiv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daa1ec2c4f10"/>
          <a:stretch xmlns:a="http://schemas.openxmlformats.org/drawingml/2006/main"/>
        </p:blipFill>
        <p:spPr>
          <a:xfrm xmlns:a="http://schemas.openxmlformats.org/drawingml/2006/main">
            <a:off x="438150" y="857250"/>
            <a:ext cx="1905000" cy="858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83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BFC571B9-5531-A882-51D2-427B8220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Priorità {{RANK}}: {{SFIDA}}</a:t>
            </a:r>
          </a:p>
        </p:txBody>
      </p:sp>
      <p:sp>
        <p:nvSpPr>
          <p:cNvPr id="5" name="CasellaDiTesto 4">
            <a:extLst xmlns:a="http://schemas.openxmlformats.org/drawingml/2006/main">
              <a:ext uri="{FF2B5EF4-FFF2-40B4-BE49-F238E27FC236}">
                <a16:creationId xmlns:a16="http://schemas.microsoft.com/office/drawing/2014/main" id="{08CE6C2F-FF02-DA8D-0DB3-DFAC232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Calibri"/>
                <a:ea typeface="Calibri"/>
                <a:cs typeface="Calibri"/>
              </a:rPr>
              <a:t>Obiettivo: {{OBIETTIVO}}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241BABBB-5AB6-AB15-6AE1-CA3BBFE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1776000"/>
            <a:ext cx="5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{{TESTO_SX}}</a:t>
            </a:r>
          </a:p>
        </p:txBody>
      </p:sp>
      <p:sp>
        <p:nvSpPr>
          <p:cNvPr id="601" name="col_dx_5">
            <a:extLst xmlns:a="http://schemas.openxmlformats.org/drawingml/2006/main">
              <a:ext uri="{FF2B5EF4-FFF2-40B4-BE49-F238E27FC236}">
                <a16:creationId xmlns:a16="http://schemas.microsoft.com/office/drawing/2014/main" id="{5017C706-579D-442F-898A-E867AD5C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776000"/>
            <a:ext cx="57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{{TESTO_DX}}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59B0DDD9-9A15-D4C4-7A55-17399BE22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pic>
        <p:nvPicPr>
          <p:cNvPr id="609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b8dd8b17c4ac1"/>
          <a:stretch xmlns:a="http://schemas.openxmlformats.org/drawingml/2006/main"/>
        </p:blipFill>
        <p:spPr>
          <a:xfrm xmlns:a="http://schemas.openxmlformats.org/drawingml/2006/main">
            <a:off x="10004425" y="228600"/>
            <a:ext cx="1803400" cy="676275"/>
          </a:xfrm>
          <a:prstGeom xmlns:a="http://schemas.openxmlformats.org/drawingml/2006/main" prst="rect">
            <a:avLst/>
          </a:prstGeom>
        </p:spPr>
      </p:pic>
      <p:pic>
        <p:nvPicPr>
          <p:cNvPr id="610" name="icon_obiettiv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036c794924179"/>
          <a:stretch xmlns:a="http://schemas.openxmlformats.org/drawingml/2006/main"/>
        </p:blipFill>
        <p:spPr>
          <a:xfrm xmlns:a="http://schemas.openxmlformats.org/drawingml/2006/main">
            <a:off x="438150" y="857250"/>
            <a:ext cx="1905000" cy="858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96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sellaDiTesto 3">
            <a:extLst xmlns:a="http://schemas.openxmlformats.org/drawingml/2006/main">
              <a:ext uri="{FF2B5EF4-FFF2-40B4-BE49-F238E27FC236}">
                <a16:creationId xmlns:a16="http://schemas.microsoft.com/office/drawing/2014/main" id="{C4A756F5-A613-D57D-75B9-A9C1046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86" y="308344"/>
            <a:ext cx="68473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Conclusioni e prossimi passi</a:t>
            </a:r>
          </a:p>
        </p:txBody>
      </p:sp>
      <p:sp>
        <p:nvSpPr>
          <p:cNvPr id="6" name="CasellaDiTesto 5">
            <a:extLst xmlns:a="http://schemas.openxmlformats.org/drawingml/2006/main">
              <a:ext uri="{FF2B5EF4-FFF2-40B4-BE49-F238E27FC236}">
                <a16:creationId xmlns:a16="http://schemas.microsoft.com/office/drawing/2014/main" id="{9EC7CBF7-47E5-C95C-B8C4-A2801ED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11287125" cy="471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Cinque esigenze prioritarie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Il workshop concentra le priorità su dati dei fornitori, framework ESG, workflow, calcolo delle emissioni e storico delle modifiche. Gli obiettivi principali sono compliance e reporting, clienti e gare.</a:t>
            </a:r>
            <a:endParaRPr sz="1600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600"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Valutazione della soluzione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Approfondire l’aderenza dei moduli IBM Envizi ai casi d’uso emersi, verificando funzionalità disponibili, integrazioni e qualità dei dati necessari.</a:t>
            </a:r>
          </a:p>
          <a:p xmlns:a="http://schemas.openxmlformats.org/drawingml/2006/main">
            <a:r>
              <a:rPr sz="1600"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Percorso proposto</a:t>
            </a:r>
          </a:p>
          <a:p xmlns:a="http://schemas.openxmlformats.org/drawingml/2006/main">
            <a:pPr>
              <a:buNone/>
              <a:defRPr sz="1725" b="0">
                <a:solidFill>
                  <a:srgbClr val="123E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23E35"/>
                </a:solidFill>
                <a:latin typeface="Calibri"/>
                <a:ea typeface="Calibri"/>
                <a:cs typeface="Calibri"/>
              </a:rPr>
              <a:t>Definire perimetro, responsabili e fonti dati. Selezionare un caso pilota tra le priorità e concordare criteri di successo, tempi e costi prima di estendere l’adozione.</a:t>
            </a:r>
          </a:p>
        </p:txBody>
      </p:sp>
      <p:sp>
        <p:nvSpPr>
          <p:cNvPr id="2" name="Segnaposto numero diapositiva 1">
            <a:extLst xmlns:a="http://schemas.openxmlformats.org/drawingml/2006/main">
              <a:ext uri="{FF2B5EF4-FFF2-40B4-BE49-F238E27FC236}">
                <a16:creationId xmlns:a16="http://schemas.microsoft.com/office/drawing/2014/main" id="{3E44DA30-5198-722C-D289-6C2ECDCBC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pic>
        <p:nvPicPr>
          <p:cNvPr id="11" name="logo_compan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52e41025d4ce4"/>
          <a:stretch xmlns:a="http://schemas.openxmlformats.org/drawingml/2006/main"/>
        </p:blipFill>
        <p:spPr>
          <a:xfrm xmlns:a="http://schemas.openxmlformats.org/drawingml/2006/main">
            <a:off x="8858250" y="6229350"/>
            <a:ext cx="1619250" cy="42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21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2026-09-07T12:41:07.6940000Z</dcterms:created>
  <dcterms:modified xsi:type="dcterms:W3CDTF">2026-09-07T12:41:07.6940000Z</dcterms:modified>
</coreProperties>
</file>