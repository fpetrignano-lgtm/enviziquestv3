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3" r:id="rId4"/>
    <p:sldId id="262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61"/>
  </p:normalViewPr>
  <p:slideViewPr>
    <p:cSldViewPr snapToGrid="0">
      <p:cViewPr varScale="1">
        <p:scale>
          <a:sx n="151" d="100"/>
          <a:sy n="151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44F2-CB9F-D9B3-0EAD-DB1CC5DE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E60D-86AD-0FAA-7BAC-318FC7DE1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E68DD-DA94-1A8A-F8DC-0BC9D7564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A7482-02BD-AC5D-EBE1-72ECD886DC9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31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9993149-29D6-4782-9C3A-0622FCBA43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E665B95-5890-4338-8DC7-90C339223A0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73E31"/>
                </a:solidFill>
              </a:defRPr>
            </a:pPr>
            <a:r>
              <a:rPr sz="1725" b="1">
                <a:solidFill>
                  <a:srgbClr val="073E31"/>
                </a:solidFill>
              </a:rPr>
              <a:t>IBM Envizi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613CB21-2529-427E-BEB1-2A5223B833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857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0">
                <a:solidFill>
                  <a:srgbClr val="073E31"/>
                </a:solidFill>
              </a:defRPr>
            </a:pPr>
            <a:r>
              <a:rPr lang="it-IT" sz="3675" b="0" dirty="0">
                <a:solidFill>
                  <a:srgbClr val="073E31"/>
                </a:solidFill>
              </a:rPr>
              <a:t>Il percorso </a:t>
            </a:r>
            <a:r>
              <a:rPr sz="3675" b="0" dirty="0">
                <a:solidFill>
                  <a:srgbClr val="073E31"/>
                </a:solidFill>
              </a:rPr>
              <a:t>ESG </a:t>
            </a:r>
            <a:r>
              <a:rPr lang="it-IT" sz="3675" b="0" dirty="0">
                <a:solidFill>
                  <a:srgbClr val="073E31"/>
                </a:solidFill>
              </a:rPr>
              <a:t> di </a:t>
            </a:r>
            <a:r>
              <a:rPr lang="it-IT" sz="3675" dirty="0">
                <a:solidFill>
                  <a:srgbClr val="073E31"/>
                </a:solidFill>
              </a:rPr>
              <a:t>(</a:t>
            </a:r>
            <a:r>
              <a:rPr lang="it-IT" sz="3675" dirty="0" err="1">
                <a:solidFill>
                  <a:srgbClr val="073E31"/>
                </a:solidFill>
              </a:rPr>
              <a:t>nome_azienda</a:t>
            </a:r>
            <a:r>
              <a:rPr lang="it-IT" sz="3675" dirty="0">
                <a:solidFill>
                  <a:srgbClr val="073E31"/>
                </a:solidFill>
              </a:rPr>
              <a:t>)</a:t>
            </a:r>
            <a:endParaRPr sz="3675" b="0" dirty="0">
              <a:solidFill>
                <a:srgbClr val="073E31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A22BE27-97B7-4C29-A515-046F06AB08BE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4333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b="0" dirty="0">
                <a:solidFill>
                  <a:srgbClr val="173F35"/>
                </a:solidFill>
              </a:rPr>
              <a:t>Sintesi workshop </a:t>
            </a:r>
            <a:r>
              <a:rPr lang="it-IT" sz="1500" b="0" dirty="0" err="1">
                <a:solidFill>
                  <a:srgbClr val="173F35"/>
                </a:solidFill>
              </a:rPr>
              <a:t>Envizi</a:t>
            </a:r>
            <a:r>
              <a:rPr lang="it-IT" sz="1500" dirty="0">
                <a:solidFill>
                  <a:srgbClr val="173F35"/>
                </a:solidFill>
              </a:rPr>
              <a:t> Quest (data) (luogo)</a:t>
            </a: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r>
              <a:rPr lang="it-IT" sz="1500" dirty="0">
                <a:solidFill>
                  <a:srgbClr val="173F35"/>
                </a:solidFill>
              </a:rPr>
              <a:t>(</a:t>
            </a:r>
            <a:r>
              <a:rPr lang="it-IT" sz="1500" dirty="0" err="1">
                <a:solidFill>
                  <a:srgbClr val="173F35"/>
                </a:solidFill>
              </a:rPr>
              <a:t>nome_consulente</a:t>
            </a:r>
            <a:r>
              <a:rPr lang="it-IT" sz="1500" dirty="0">
                <a:solidFill>
                  <a:srgbClr val="173F35"/>
                </a:solidFill>
              </a:rPr>
              <a:t>) IBM </a:t>
            </a:r>
            <a:r>
              <a:rPr lang="it-IT" sz="1500" dirty="0" err="1">
                <a:solidFill>
                  <a:srgbClr val="173F35"/>
                </a:solidFill>
              </a:rPr>
              <a:t>Envizi</a:t>
            </a:r>
            <a:endParaRPr lang="it-IT" sz="150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lang="it-IT" sz="1500" b="0" dirty="0">
              <a:solidFill>
                <a:srgbClr val="173F35"/>
              </a:solidFill>
            </a:endParaRPr>
          </a:p>
          <a:p>
            <a:pPr algn="l">
              <a:buNone/>
              <a:defRPr sz="1500" b="0">
                <a:solidFill>
                  <a:srgbClr val="173F35"/>
                </a:solidFill>
              </a:defRPr>
            </a:pPr>
            <a:endParaRPr sz="1500" b="0" dirty="0">
              <a:solidFill>
                <a:srgbClr val="173F35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8234F6-664C-4D61-BD7E-72784142C19B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3A7165"/>
                </a:solidFill>
              </a:defRPr>
            </a:pPr>
            <a:r>
              <a:rPr sz="975" b="0">
                <a:solidFill>
                  <a:srgbClr val="3A7165"/>
                </a:solidFill>
              </a:rPr>
              <a:t>Incontro di lavoro · 2026</a:t>
            </a:r>
          </a:p>
        </p:txBody>
      </p:sp>
    </p:spTree>
    <p:extLst>
      <p:ext uri="{BB962C8B-B14F-4D97-AF65-F5344CB8AC3E}">
        <p14:creationId xmlns:p14="http://schemas.microsoft.com/office/powerpoint/2010/main" val="149765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D1A2-FE47-9C2D-2DD3-4EDE436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54F5A39C-0D5F-D9D7-A474-99092D67C0E4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700" b="0" dirty="0">
                <a:solidFill>
                  <a:srgbClr val="073E31"/>
                </a:solidFill>
              </a:rPr>
              <a:t>(</a:t>
            </a:r>
            <a:r>
              <a:rPr lang="it-IT" sz="2700" b="0" dirty="0" err="1">
                <a:solidFill>
                  <a:srgbClr val="073E31"/>
                </a:solidFill>
              </a:rPr>
              <a:t>nome_azienda</a:t>
            </a:r>
            <a:r>
              <a:rPr lang="it-IT" sz="2700" b="0" dirty="0">
                <a:solidFill>
                  <a:srgbClr val="073E31"/>
                </a:solidFill>
              </a:rPr>
              <a:t>) (stato valutazione ESG)</a:t>
            </a:r>
            <a:endParaRPr sz="2700" b="0" dirty="0">
              <a:solidFill>
                <a:srgbClr val="073E31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789260C-C06C-50F7-DCF8-C9504775E986}"/>
              </a:ext>
            </a:extLst>
          </p:cNvPr>
          <p:cNvSpPr>
            <a:spLocks noGrp="1"/>
          </p:cNvSpPr>
          <p:nvPr/>
        </p:nvSpPr>
        <p:spPr>
          <a:xfrm>
            <a:off x="533399" y="1138127"/>
            <a:ext cx="6443133" cy="222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Nome_azienda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) è un (Settore) 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presente principalmente in (presenza mercati)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Nell’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anno (anno) ha registrato (dato fatturato o altro secondo settore selezionato)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Numero dipendenti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Indicativamente (fuori o dentro)  perimetro CSRD sulla base dei dati inseriti.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La valutazione deve essere verificata considerando perimetro societario, consolidamento, fatturato netto e specificità dell'organizzazione.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Dati organizzativi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Numero Sedi totali (numero-Sedi)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di cui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Sedi uffici 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(stabilimenti o altro selezionato per settore) (numero)</a:t>
            </a:r>
          </a:p>
          <a:p>
            <a:pPr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Distribuite in Italia (Numero) Europa (Numero) USA (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NumeroI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Asia (Numero) Africa (Numero) 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B48459-8B8D-B690-E274-417F5F862590}"/>
              </a:ext>
            </a:extLst>
          </p:cNvPr>
          <p:cNvSpPr>
            <a:spLocks noGrp="1"/>
          </p:cNvSpPr>
          <p:nvPr/>
        </p:nvSpPr>
        <p:spPr>
          <a:xfrm rot="10800000" flipV="1">
            <a:off x="8357191" y="113812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(Eventuale frase commento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A stato CSRD) 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4BC052D-65E4-906D-EE27-0443921237A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A2B2FA1-C667-A34B-C960-957BF47BB86E}"/>
              </a:ext>
            </a:extLst>
          </p:cNvPr>
          <p:cNvSpPr>
            <a:spLocks noGrp="1"/>
          </p:cNvSpPr>
          <p:nvPr/>
        </p:nvSpPr>
        <p:spPr>
          <a:xfrm rot="10800000" flipV="1">
            <a:off x="8357190" y="4008327"/>
            <a:ext cx="3834809" cy="978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Immagine mondo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italia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o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europa</a:t>
            </a: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Con distribuzione sedi come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Nella visualizzazione in applicazione</a:t>
            </a:r>
            <a:endParaRPr sz="1600" dirty="0">
              <a:solidFill>
                <a:srgbClr val="477268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74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19DAE74-0069-4330-8C8C-F7D523592735}"/>
              </a:ext>
            </a:extLst>
          </p:cNvPr>
          <p:cNvSpPr>
            <a:spLocks noGrp="1"/>
          </p:cNvSpPr>
          <p:nvPr/>
        </p:nvSpPr>
        <p:spPr>
          <a:xfrm>
            <a:off x="457199" y="381000"/>
            <a:ext cx="1117481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73E31"/>
                </a:solidFill>
              </a:defRPr>
            </a:pP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2025" b="0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nome_azienda</a:t>
            </a: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) ha identificato i seguenti obiettivi di business prioritari </a:t>
            </a:r>
            <a:r>
              <a:rPr lang="it-IT" sz="2025" dirty="0">
                <a:solidFill>
                  <a:srgbClr val="073E31"/>
                </a:solidFill>
                <a:latin typeface="Calibri"/>
                <a:cs typeface="Calibri"/>
              </a:rPr>
              <a:t>per</a:t>
            </a:r>
            <a:r>
              <a:rPr kumimoji="0" lang="it-IT" sz="2025" b="0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ESG reporting</a:t>
            </a: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2837E2B-BF5E-4600-BEAA-1C836AB5CBB0}"/>
              </a:ext>
            </a:extLst>
          </p:cNvPr>
          <p:cNvSpPr>
            <a:spLocks noGrp="1"/>
          </p:cNvSpPr>
          <p:nvPr/>
        </p:nvSpPr>
        <p:spPr>
          <a:xfrm>
            <a:off x="457200" y="8191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Dati 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segnali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di scenario per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orientare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 le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scelte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477268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D6BA53-79B6-4F05-A63B-3B573FCF5882}"/>
              </a:ext>
            </a:extLst>
          </p:cNvPr>
          <p:cNvSpPr>
            <a:spLocks noGrp="1"/>
          </p:cNvSpPr>
          <p:nvPr/>
        </p:nvSpPr>
        <p:spPr>
          <a:xfrm>
            <a:off x="487680" y="120015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lang="it-IT" sz="1125" b="1" dirty="0">
                <a:solidFill>
                  <a:srgbClr val="073E31"/>
                </a:solidFill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Clienti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gare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3315A4F-E3EB-49E4-904E-A946E2127DEA}"/>
              </a:ext>
            </a:extLst>
          </p:cNvPr>
          <p:cNvSpPr>
            <a:spLocks noGrp="1"/>
          </p:cNvSpPr>
          <p:nvPr/>
        </p:nvSpPr>
        <p:spPr>
          <a:xfrm>
            <a:off x="4876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28E0820-69E0-40E1-86BC-CE2E4442C18B}"/>
              </a:ext>
            </a:extLst>
          </p:cNvPr>
          <p:cNvSpPr>
            <a:spLocks noGrp="1"/>
          </p:cNvSpPr>
          <p:nvPr/>
        </p:nvSpPr>
        <p:spPr>
          <a:xfrm>
            <a:off x="4450080" y="120015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Compliance e reporting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lang="it-IT" sz="1125" b="1" dirty="0">
              <a:solidFill>
                <a:srgbClr val="073E31"/>
              </a:solidFill>
              <a:latin typeface="Calibri"/>
              <a:cs typeface="Calibri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563404A-E596-4B4D-B704-67911B9205D0}"/>
              </a:ext>
            </a:extLst>
          </p:cNvPr>
          <p:cNvSpPr>
            <a:spLocks noGrp="1"/>
          </p:cNvSpPr>
          <p:nvPr/>
        </p:nvSpPr>
        <p:spPr>
          <a:xfrm>
            <a:off x="44500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457C7FE-5107-4501-AD49-1A882933E90F}"/>
              </a:ext>
            </a:extLst>
          </p:cNvPr>
          <p:cNvSpPr>
            <a:spLocks noGrp="1"/>
          </p:cNvSpPr>
          <p:nvPr/>
        </p:nvSpPr>
        <p:spPr>
          <a:xfrm>
            <a:off x="8412480" y="120015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Accesso al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credito</a:t>
            </a:r>
            <a:endParaRPr kumimoji="0" lang="it-IT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4762489-2876-4882-9687-E2D461634415}"/>
              </a:ext>
            </a:extLst>
          </p:cNvPr>
          <p:cNvSpPr>
            <a:spLocks noGrp="1"/>
          </p:cNvSpPr>
          <p:nvPr/>
        </p:nvSpPr>
        <p:spPr>
          <a:xfrm>
            <a:off x="84124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105BE0D-8F32-4EBD-AA1E-F7C0CF412DE0}"/>
              </a:ext>
            </a:extLst>
          </p:cNvPr>
          <p:cNvSpPr>
            <a:spLocks noGrp="1"/>
          </p:cNvSpPr>
          <p:nvPr/>
        </p:nvSpPr>
        <p:spPr>
          <a:xfrm>
            <a:off x="487680" y="308610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Efficienza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energia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costi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B409D4E-E24C-4510-9E03-83D985FCA058}"/>
              </a:ext>
            </a:extLst>
          </p:cNvPr>
          <p:cNvSpPr>
            <a:spLocks noGrp="1"/>
          </p:cNvSpPr>
          <p:nvPr/>
        </p:nvSpPr>
        <p:spPr>
          <a:xfrm>
            <a:off x="487680" y="339471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173F35"/>
                </a:solidFill>
                <a:effectLst/>
                <a:uLnTx/>
                <a:uFillTx/>
                <a:latin typeface="Calibri"/>
                <a:cs typeface="Calibri"/>
              </a:rPr>
              <a:t>(nota_efficiency)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3226317-E9F3-4A41-B4C1-91B77C2DB7A8}"/>
              </a:ext>
            </a:extLst>
          </p:cNvPr>
          <p:cNvSpPr>
            <a:spLocks noGrp="1"/>
          </p:cNvSpPr>
          <p:nvPr/>
        </p:nvSpPr>
        <p:spPr>
          <a:xfrm>
            <a:off x="4450080" y="308610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Resilienza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della supply chain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08D0622-901E-4C2F-9D39-751F97EBC149}"/>
              </a:ext>
            </a:extLst>
          </p:cNvPr>
          <p:cNvSpPr>
            <a:spLocks noGrp="1"/>
          </p:cNvSpPr>
          <p:nvPr/>
        </p:nvSpPr>
        <p:spPr>
          <a:xfrm>
            <a:off x="4450080" y="339471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(nota_supply)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9F0A8FF-3C4F-4E22-B84D-982C5423A568}"/>
              </a:ext>
            </a:extLst>
          </p:cNvPr>
          <p:cNvSpPr>
            <a:spLocks noGrp="1"/>
          </p:cNvSpPr>
          <p:nvPr/>
        </p:nvSpPr>
        <p:spPr>
          <a:xfrm>
            <a:off x="8412480" y="3086100"/>
            <a:ext cx="341376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3E31"/>
                </a:solidFill>
              </a:defRPr>
            </a:pP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it-IT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lang="it-IT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/6)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Reputazione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attrazione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talenti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12D1D90-C000-4B39-844E-850BB217ADA0}"/>
              </a:ext>
            </a:extLst>
          </p:cNvPr>
          <p:cNvSpPr>
            <a:spLocks noGrp="1"/>
          </p:cNvSpPr>
          <p:nvPr/>
        </p:nvSpPr>
        <p:spPr>
          <a:xfrm>
            <a:off x="8412480" y="339471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6C0D0E0-CD8E-4385-9583-25FC71ECEED0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6191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477268"/>
                </a:solidFill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477268"/>
                </a:solidFill>
                <a:effectLst/>
                <a:uLnTx/>
                <a:uFillTx/>
                <a:latin typeface="Calibri"/>
                <a:cs typeface="Calibri"/>
              </a:rPr>
              <a:t>Fonti: Commissione europea, EBA, IEA, CDP, PwC · dati 2025–26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C840598-3398-5CA5-4B42-52A4374FDFC3}"/>
              </a:ext>
            </a:extLst>
          </p:cNvPr>
          <p:cNvSpPr>
            <a:spLocks noGrp="1"/>
          </p:cNvSpPr>
          <p:nvPr/>
        </p:nvSpPr>
        <p:spPr>
          <a:xfrm>
            <a:off x="8412480" y="339471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(nota_reputation)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B0DA487-ED6A-BE4A-2358-F3DF654C78D5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397154D-841F-E1C8-29A8-9C2BD943590A}"/>
              </a:ext>
            </a:extLst>
          </p:cNvPr>
          <p:cNvSpPr>
            <a:spLocks noGrp="1"/>
          </p:cNvSpPr>
          <p:nvPr/>
        </p:nvSpPr>
        <p:spPr>
          <a:xfrm>
            <a:off x="84124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(nota_credit)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344B5E1-F5F5-80C6-7DC3-2575A03821F9}"/>
              </a:ext>
            </a:extLst>
          </p:cNvPr>
          <p:cNvSpPr>
            <a:spLocks noGrp="1"/>
          </p:cNvSpPr>
          <p:nvPr/>
        </p:nvSpPr>
        <p:spPr>
          <a:xfrm>
            <a:off x="44500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(nota_compliance)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BA581DD-8CBC-CBBC-0902-716E14D0E681}"/>
              </a:ext>
            </a:extLst>
          </p:cNvPr>
          <p:cNvSpPr>
            <a:spLocks noGrp="1"/>
          </p:cNvSpPr>
          <p:nvPr/>
        </p:nvSpPr>
        <p:spPr>
          <a:xfrm>
            <a:off x="487680" y="1508760"/>
            <a:ext cx="3413760" cy="1440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73F35"/>
                </a:solidFill>
              </a:defRPr>
            </a:pPr>
            <a:r>
              <a:rPr lang="it-IT" sz="900" dirty="0">
                <a:solidFill>
                  <a:srgbClr val="173F35"/>
                </a:solidFill>
                <a:latin typeface="Calibri"/>
                <a:cs typeface="Calibri"/>
              </a:rPr>
              <a:t>(nota_customers)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173F35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49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3DBA6725-3A41-4930-A38A-8CAA4A89353A}"/>
              </a:ext>
            </a:extLst>
          </p:cNvPr>
          <p:cNvSpPr>
            <a:spLocks noGrp="1"/>
          </p:cNvSpPr>
          <p:nvPr/>
        </p:nvSpPr>
        <p:spPr>
          <a:xfrm>
            <a:off x="533400" y="333817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0">
                <a:solidFill>
                  <a:srgbClr val="073E31"/>
                </a:solidFill>
              </a:defRPr>
            </a:pPr>
            <a:r>
              <a:rPr lang="it-IT" sz="2700" b="0" dirty="0">
                <a:solidFill>
                  <a:srgbClr val="073E31"/>
                </a:solidFill>
              </a:rPr>
              <a:t>(</a:t>
            </a:r>
            <a:r>
              <a:rPr lang="it-IT" sz="2700" b="0" dirty="0" err="1">
                <a:solidFill>
                  <a:srgbClr val="073E31"/>
                </a:solidFill>
              </a:rPr>
              <a:t>nome_azienda</a:t>
            </a:r>
            <a:r>
              <a:rPr lang="it-IT" sz="2700" b="0" dirty="0">
                <a:solidFill>
                  <a:srgbClr val="073E31"/>
                </a:solidFill>
              </a:rPr>
              <a:t>) ha condiviso </a:t>
            </a:r>
            <a:r>
              <a:rPr lang="it-IT" sz="2700" dirty="0">
                <a:solidFill>
                  <a:srgbClr val="073E31"/>
                </a:solidFill>
              </a:rPr>
              <a:t>le principali esigenze a supporto degli obiettivi di business  su cui intervenire </a:t>
            </a:r>
            <a:endParaRPr sz="2700" b="0" dirty="0">
              <a:solidFill>
                <a:srgbClr val="073E31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3F9951E-718D-E874-8C0D-50EA7491004A}"/>
              </a:ext>
            </a:extLst>
          </p:cNvPr>
          <p:cNvSpPr>
            <a:spLocks noGrp="1"/>
          </p:cNvSpPr>
          <p:nvPr/>
        </p:nvSpPr>
        <p:spPr>
          <a:xfrm>
            <a:off x="533400" y="1382676"/>
            <a:ext cx="3262423" cy="522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(Elenco elementi valutati per rilevanza e criticità)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ogni elemento ha un numero d’ordine in base al punteggio </a:t>
            </a:r>
            <a:b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</a:b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dato da (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R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  + (C </a:t>
            </a:r>
            <a:r>
              <a:rPr lang="it-IT" sz="1600" dirty="0" err="1">
                <a:solidFill>
                  <a:srgbClr val="477268"/>
                </a:solidFill>
                <a:latin typeface="Calibri"/>
                <a:cs typeface="Calibri"/>
              </a:rPr>
              <a:t>N</a:t>
            </a: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endParaRPr lang="it-IT" sz="1600" dirty="0">
              <a:solidFill>
                <a:srgbClr val="477268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477268"/>
                </a:solidFill>
              </a:defRPr>
            </a:pPr>
            <a:r>
              <a:rPr lang="it-IT" sz="1600" dirty="0">
                <a:solidFill>
                  <a:srgbClr val="477268"/>
                </a:solidFill>
                <a:latin typeface="Calibri"/>
                <a:cs typeface="Calibri"/>
              </a:rPr>
              <a:t>(ogni elemento è rappresentato in matrice con un cerchio che contiene un numero che è lo stesso dell’ordine dell’elenco elementi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59BC664-7A30-9987-EDFB-4EABED89085E}"/>
              </a:ext>
            </a:extLst>
          </p:cNvPr>
          <p:cNvSpPr/>
          <p:nvPr/>
        </p:nvSpPr>
        <p:spPr>
          <a:xfrm>
            <a:off x="4274289" y="1499190"/>
            <a:ext cx="7176976" cy="4742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2BE31BF-D443-A75D-62C1-DD0728926472}"/>
              </a:ext>
            </a:extLst>
          </p:cNvPr>
          <p:cNvSpPr/>
          <p:nvPr/>
        </p:nvSpPr>
        <p:spPr>
          <a:xfrm>
            <a:off x="7836195" y="1499192"/>
            <a:ext cx="3604438" cy="239232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93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0929929-73F8-D13A-37E7-8EC30C5FB007}"/>
              </a:ext>
            </a:extLst>
          </p:cNvPr>
          <p:cNvSpPr txBox="1"/>
          <p:nvPr/>
        </p:nvSpPr>
        <p:spPr>
          <a:xfrm>
            <a:off x="5094566" y="6187869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</a:t>
            </a:r>
            <a:r>
              <a:rPr lang="it-IT" dirty="0"/>
              <a:t>-Rilevanza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F39F2FC-65DA-112F-9F37-12F6FA1AE11B}"/>
              </a:ext>
            </a:extLst>
          </p:cNvPr>
          <p:cNvSpPr txBox="1"/>
          <p:nvPr/>
        </p:nvSpPr>
        <p:spPr>
          <a:xfrm>
            <a:off x="4323319" y="6187869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B23838-7154-2E3D-C2E4-18F9C1A14B29}"/>
              </a:ext>
            </a:extLst>
          </p:cNvPr>
          <p:cNvSpPr txBox="1"/>
          <p:nvPr/>
        </p:nvSpPr>
        <p:spPr>
          <a:xfrm>
            <a:off x="10940903" y="618089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652DB28-5536-CA9A-4632-042616BADAED}"/>
              </a:ext>
            </a:extLst>
          </p:cNvPr>
          <p:cNvSpPr txBox="1"/>
          <p:nvPr/>
        </p:nvSpPr>
        <p:spPr>
          <a:xfrm>
            <a:off x="3880885" y="5861346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D28903F-304C-4805-0773-98A4792E5A1D}"/>
              </a:ext>
            </a:extLst>
          </p:cNvPr>
          <p:cNvSpPr txBox="1"/>
          <p:nvPr/>
        </p:nvSpPr>
        <p:spPr>
          <a:xfrm>
            <a:off x="3856076" y="1488557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7A37AA7-B8C8-B015-55D9-26B4A2F8AEE3}"/>
              </a:ext>
            </a:extLst>
          </p:cNvPr>
          <p:cNvSpPr txBox="1"/>
          <p:nvPr/>
        </p:nvSpPr>
        <p:spPr>
          <a:xfrm>
            <a:off x="4688958" y="6550223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IBM </a:t>
            </a:r>
            <a:r>
              <a:rPr lang="it-IT" sz="1400" dirty="0" err="1"/>
              <a:t>Envizi</a:t>
            </a:r>
            <a:r>
              <a:rPr lang="it-IT" sz="1400" dirty="0"/>
              <a:t> Quest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08BB0F0-8076-706F-C0FE-7F20345FA9C8}"/>
              </a:ext>
            </a:extLst>
          </p:cNvPr>
          <p:cNvSpPr txBox="1"/>
          <p:nvPr/>
        </p:nvSpPr>
        <p:spPr>
          <a:xfrm rot="16200000">
            <a:off x="3374956" y="4734048"/>
            <a:ext cx="142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C-Criticità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3F267A7-CF6B-4EA4-81A2-49A06C8B4E24}"/>
              </a:ext>
            </a:extLst>
          </p:cNvPr>
          <p:cNvSpPr/>
          <p:nvPr/>
        </p:nvSpPr>
        <p:spPr>
          <a:xfrm>
            <a:off x="7836195" y="3898088"/>
            <a:ext cx="3604438" cy="235385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  <a:alpha val="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311E74D-D1B8-3477-DB58-5F8C9850C512}"/>
              </a:ext>
            </a:extLst>
          </p:cNvPr>
          <p:cNvSpPr txBox="1"/>
          <p:nvPr/>
        </p:nvSpPr>
        <p:spPr>
          <a:xfrm>
            <a:off x="3994301" y="3696218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A99FD45-538F-D2EA-917B-F75FD3750819}"/>
              </a:ext>
            </a:extLst>
          </p:cNvPr>
          <p:cNvSpPr txBox="1"/>
          <p:nvPr/>
        </p:nvSpPr>
        <p:spPr>
          <a:xfrm>
            <a:off x="7704077" y="6206451"/>
            <a:ext cx="49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64BA65B-78FE-6658-8365-6FE0244F2D51}"/>
              </a:ext>
            </a:extLst>
          </p:cNvPr>
          <p:cNvSpPr txBox="1"/>
          <p:nvPr/>
        </p:nvSpPr>
        <p:spPr>
          <a:xfrm>
            <a:off x="10157844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Trasformare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9C33150-793E-61B0-EB65-35A0F8A52541}"/>
              </a:ext>
            </a:extLst>
          </p:cNvPr>
          <p:cNvSpPr txBox="1"/>
          <p:nvPr/>
        </p:nvSpPr>
        <p:spPr>
          <a:xfrm>
            <a:off x="10224587" y="3898088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Mantenere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D356A0C-D82D-7A5B-880C-98D97EA28171}"/>
              </a:ext>
            </a:extLst>
          </p:cNvPr>
          <p:cNvSpPr txBox="1"/>
          <p:nvPr/>
        </p:nvSpPr>
        <p:spPr>
          <a:xfrm>
            <a:off x="4271137" y="1480090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Migliorare</a:t>
            </a:r>
          </a:p>
        </p:txBody>
      </p:sp>
      <p:cxnSp>
        <p:nvCxnSpPr>
          <p:cNvPr id="35" name="Connettore dritto 34">
            <a:extLst>
              <a:ext uri="{FF2B5EF4-FFF2-40B4-BE49-F238E27FC236}">
                <a16:creationId xmlns:a16="http://schemas.microsoft.com/office/drawing/2014/main" id="{1CB06FBC-AF45-3BA2-3101-0E8C55A6102E}"/>
              </a:ext>
            </a:extLst>
          </p:cNvPr>
          <p:cNvCxnSpPr/>
          <p:nvPr/>
        </p:nvCxnSpPr>
        <p:spPr>
          <a:xfrm>
            <a:off x="4274289" y="3898088"/>
            <a:ext cx="39295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D7E114B-A3B1-3DDA-671D-56482B61D06B}"/>
              </a:ext>
            </a:extLst>
          </p:cNvPr>
          <p:cNvSpPr txBox="1"/>
          <p:nvPr/>
        </p:nvSpPr>
        <p:spPr>
          <a:xfrm>
            <a:off x="4273081" y="3898359"/>
            <a:ext cx="153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Monitorare</a:t>
            </a:r>
          </a:p>
        </p:txBody>
      </p:sp>
    </p:spTree>
    <p:extLst>
      <p:ext uri="{BB962C8B-B14F-4D97-AF65-F5344CB8AC3E}">
        <p14:creationId xmlns:p14="http://schemas.microsoft.com/office/powerpoint/2010/main" val="13539720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378</Words>
  <Application>Microsoft Macintosh PowerPoint</Application>
  <DocSecurity>0</DocSecurity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6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Felice Petrignano</cp:lastModifiedBy>
  <cp:revision>6</cp:revision>
  <dcterms:created xsi:type="dcterms:W3CDTF">2026-08-30T12:31:50Z</dcterms:created>
  <dcterms:modified xsi:type="dcterms:W3CDTF">2026-08-31T16:21:59Z</dcterms:modified>
</cp:coreProperties>
</file>