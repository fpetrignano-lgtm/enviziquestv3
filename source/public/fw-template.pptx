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5FF79F-38EB-A045-8267-88F63144EF72}" type="datetimeFigureOut">
              <a:rPr lang="it-IT" smtClean="0"/>
              <a:t>06/09/26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6A51F5-C749-6B46-987B-FDE8C4FBBB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0800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9A6288-BCF6-EC1E-94A9-341E7D3D77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90AFBFF-69F2-FD64-55FE-68DF264139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94686BA-5E9F-4FBC-9FEF-13F1893B5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5AF60-5C37-974F-9422-A088869EF9D7}" type="datetimeFigureOut">
              <a:rPr lang="it-IT" smtClean="0"/>
              <a:t>06/09/26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61DCDF-72A4-1C4C-A91F-5C4E05C84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BEF3292-9FC8-8524-2086-0AE9451B5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7DA25-8438-EA4B-97CD-3A3448C4D18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37417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C3D0DDA-0079-839C-ABFA-C5E246184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F689359-44CE-7AD1-CC6C-69F3DA7FB5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16C1411-2093-C0EB-C874-6189B8431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5AF60-5C37-974F-9422-A088869EF9D7}" type="datetimeFigureOut">
              <a:rPr lang="it-IT" smtClean="0"/>
              <a:t>06/09/26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FA931E5-2F0C-9028-1F99-82EA29AC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4451B41-A69B-3FE3-BA6B-4B9688A35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7DA25-8438-EA4B-97CD-3A3448C4D18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96280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829CB09-73A0-4746-0E25-BE36DB41E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0BEEEAA-6B4F-080D-A9BF-BE51406F6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4172181-98A2-00AC-E279-3BDAD422B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5AF60-5C37-974F-9422-A088869EF9D7}" type="datetimeFigureOut">
              <a:rPr lang="it-IT" smtClean="0"/>
              <a:t>06/09/26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6A2EE64-2DBC-562D-929A-7C15F7ECB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4123CE3-08A0-E3F3-4AD3-A6E585EB6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7DA25-8438-EA4B-97CD-3A3448C4D18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46941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BA7CBE-232B-B074-6BC8-E5CD8DC0D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21A1CE8-8D24-D89E-CE6B-B79CE087EB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8837E4D-7F26-6DDD-164F-9EF667E48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5AD50E8-74FD-8046-52A2-8070D4EE6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5AF60-5C37-974F-9422-A088869EF9D7}" type="datetimeFigureOut">
              <a:rPr lang="it-IT" smtClean="0"/>
              <a:t>06/09/26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B85DCA0-D176-CE34-65B0-3473FF9F7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5389272-6158-F407-DB50-041E8892B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7DA25-8438-EA4B-97CD-3A3448C4D18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36018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C2185DF-F6BE-B8E3-57A3-16E828ECD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243C930-E4D7-3720-DF09-16FEBD6BD9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038DBCC-D266-D967-0F47-79CFD381DC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E3931E81-3603-4546-0B85-EB836D551A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47534AD9-4774-8DFB-7614-2E67C66228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CAA71BC6-90EE-95AE-2982-0998C2D34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5AF60-5C37-974F-9422-A088869EF9D7}" type="datetimeFigureOut">
              <a:rPr lang="it-IT" smtClean="0"/>
              <a:t>06/09/26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2E6B32DA-2423-03C9-22F9-A1D5E42EA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6219648E-A5FA-5E6D-558E-1CB1F1A45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7DA25-8438-EA4B-97CD-3A3448C4D18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05579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4B75FD6-70C3-68EE-6F6E-57A159042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B572FAE-B352-58CD-B073-96BEC01E0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5AF60-5C37-974F-9422-A088869EF9D7}" type="datetimeFigureOut">
              <a:rPr lang="it-IT" smtClean="0"/>
              <a:t>06/09/26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7F4B10E-5C08-2B04-94EC-8918A4434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02CC724-8D47-62B9-7A64-E6A4EE0A4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7DA25-8438-EA4B-97CD-3A3448C4D18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16210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5A037C31-56AC-2BF7-E924-274869897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5AF60-5C37-974F-9422-A088869EF9D7}" type="datetimeFigureOut">
              <a:rPr lang="it-IT" smtClean="0"/>
              <a:t>06/09/26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3161FC28-BF62-F1A7-1807-830C07F30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06DF603-B2BE-B4FD-6FAB-D0A5230B9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7DA25-8438-EA4B-97CD-3A3448C4D18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18674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5B2463D-38D1-1D93-3E88-8B55A62EB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5A0708-8C84-7B53-CDB2-504D49C64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DFD0C51-8492-7233-DB01-39E378805A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166BBD3-A2DC-C597-73D3-AF21B1B17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5AF60-5C37-974F-9422-A088869EF9D7}" type="datetimeFigureOut">
              <a:rPr lang="it-IT" smtClean="0"/>
              <a:t>06/09/26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F85B2E8-C230-6DC5-1CE1-FE46D6F2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75326EF-5A6C-675C-58A0-5768E0CDE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7DA25-8438-EA4B-97CD-3A3448C4D18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44075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A5A5FD9-84F9-ADBA-558A-6BC8B2D82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E7655CBF-D29C-0539-4B31-C49C7EF3EB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5E668B5-B051-1D7C-4BD9-6D8DF1DFA7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150EF6B-0602-90EC-CBE4-4B49692FF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5AF60-5C37-974F-9422-A088869EF9D7}" type="datetimeFigureOut">
              <a:rPr lang="it-IT" smtClean="0"/>
              <a:t>06/09/26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715EA8A-84FD-3325-0794-F868C457A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947E546-49EB-59FE-6494-4E2804955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7DA25-8438-EA4B-97CD-3A3448C4D18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15918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6C42633-F7B4-27D3-B9E5-5823DF5A2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2ABBCAD-860B-858C-06A1-F47625CF22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54A65A2-AC51-8253-549D-91038F320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5AF60-5C37-974F-9422-A088869EF9D7}" type="datetimeFigureOut">
              <a:rPr lang="it-IT" smtClean="0"/>
              <a:t>06/09/26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41C2BFC-E823-C583-DFB9-5F085D8F8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C925EA4-73D3-7C7A-9DC2-C480C5832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7DA25-8438-EA4B-97CD-3A3448C4D18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14864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D35A6421-4CA3-BBA6-9D33-8082881272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84B626A-C7E9-85FF-DA47-B155EECB45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7686E98-F842-DB82-B30E-A841C3E7A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5AF60-5C37-974F-9422-A088869EF9D7}" type="datetimeFigureOut">
              <a:rPr lang="it-IT" smtClean="0"/>
              <a:t>06/09/26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BCC8E96-EDC5-8A73-077C-F4B383F20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8300C5B-B0FC-9E70-5E41-0B7B497B7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7DA25-8438-EA4B-97CD-3A3448C4D18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85228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1461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C188FBDD-0125-905D-F81C-6DC44542F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052B1FF-D252-96B9-9C70-4F7E98F0E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B8D9AD5-A0ED-808C-0D15-BC407E0079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15AF60-5C37-974F-9422-A088869EF9D7}" type="datetimeFigureOut">
              <a:rPr lang="it-IT" smtClean="0"/>
              <a:t>06/09/26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31DD242-505C-93BB-F4BC-75B0559F80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2EAB2CC-BAF8-BF49-9EC1-A72B155055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D7DA25-8438-EA4B-97CD-3A3448C4D18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39465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ttangolo 41">
            <a:extLst>
              <a:ext uri="{FF2B5EF4-FFF2-40B4-BE49-F238E27FC236}">
                <a16:creationId xmlns:a16="http://schemas.microsoft.com/office/drawing/2014/main" id="{EC60CD55-5779-480D-81AD-E8FEE347DCAF}"/>
              </a:ext>
            </a:extLst>
          </p:cNvPr>
          <p:cNvSpPr>
            <a:spLocks noGrp="1"/>
          </p:cNvSpPr>
          <p:nvPr/>
        </p:nvSpPr>
        <p:spPr>
          <a:xfrm>
            <a:off x="0" y="28575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it-IT" dirty="0"/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7B27EF54-F76A-44D0-987A-56B9065C72F0}"/>
              </a:ext>
            </a:extLst>
          </p:cNvPr>
          <p:cNvSpPr>
            <a:spLocks noGrp="1"/>
          </p:cNvSpPr>
          <p:nvPr/>
        </p:nvSpPr>
        <p:spPr>
          <a:xfrm>
            <a:off x="419100" y="285750"/>
            <a:ext cx="9334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670"/>
          </a:bodyPr>
          <a:lstStyle/>
          <a:p>
            <a:r>
              <a:rPr sz="1875" b="1">
                <a:solidFill>
                  <a:srgbClr val="1D776B"/>
                </a:solidFill>
                <a:latin typeface="Calibri"/>
                <a:ea typeface="Calibri"/>
                <a:cs typeface="Calibri"/>
              </a:rPr>
              <a:t>Erica usa più framework ESG ed è necessario allineare le risposte in modo coerente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BD6DDBF2-4D47-4D08-9666-ECC8D986152B}"/>
              </a:ext>
            </a:extLst>
          </p:cNvPr>
          <p:cNvSpPr>
            <a:spLocks noGrp="1"/>
          </p:cNvSpPr>
          <p:nvPr/>
        </p:nvSpPr>
        <p:spPr>
          <a:xfrm>
            <a:off x="419100" y="714375"/>
            <a:ext cx="98107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r>
              <a:rPr sz="1200" b="0">
                <a:solidFill>
                  <a:srgbClr val="4D6D67"/>
                </a:solidFill>
                <a:latin typeface="Calibri"/>
                <a:ea typeface="Calibri"/>
                <a:cs typeface="Calibri"/>
              </a:rPr>
              <a:t>Framework dichiarati nel questionario Envizi Quest — Erica</a:t>
            </a:r>
          </a:p>
        </p:txBody>
      </p:sp>
      <p:pic>
        <p:nvPicPr>
          <p:cNvPr id="45" name="Immagine 4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191750" y="228600"/>
            <a:ext cx="1571625" cy="523875"/>
          </a:xfrm>
          <a:prstGeom prst="rect">
            <a:avLst/>
          </a:prstGeom>
        </p:spPr>
      </p:pic>
      <p:sp>
        <p:nvSpPr>
          <p:cNvPr id="41" name="Rettangolo 40">
            <a:extLst>
              <a:ext uri="{FF2B5EF4-FFF2-40B4-BE49-F238E27FC236}">
                <a16:creationId xmlns:a16="http://schemas.microsoft.com/office/drawing/2014/main" id="{B99C37AF-EEEF-4455-81A4-405DBB395731}"/>
              </a:ext>
            </a:extLst>
          </p:cNvPr>
          <p:cNvSpPr>
            <a:spLocks noGrp="1"/>
          </p:cNvSpPr>
          <p:nvPr/>
        </p:nvSpPr>
        <p:spPr>
          <a:xfrm>
            <a:off x="4810125" y="6534150"/>
            <a:ext cx="25717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111" lnSpcReduction="10000"/>
          </a:bodyPr>
          <a:lstStyle/>
          <a:p>
            <a:pPr algn="ctr">
              <a:defRPr sz="900" b="0">
                <a:solidFill>
                  <a:srgbClr val="496C6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496C66"/>
                </a:solidFill>
                <a:latin typeface="Calibri"/>
                <a:ea typeface="Calibri"/>
                <a:cs typeface="Calibri"/>
              </a:rPr>
              <a:t>IBM Envizi Quest</a:t>
            </a:r>
          </a:p>
        </p:txBody>
      </p:sp>
      <p:graphicFrame>
        <p:nvGraphicFramePr>
          <p:cNvPr id="11" name="Tabella 10">
            <a:extLst>
              <a:ext uri="{FF2B5EF4-FFF2-40B4-BE49-F238E27FC236}">
                <a16:creationId xmlns:a16="http://schemas.microsoft.com/office/drawing/2014/main" id="{7E3F670A-A723-8077-4ADC-04A7AAD540A2}"/>
              </a:ext>
            </a:extLst>
          </p:cNvPr>
          <p:cNvGraphicFramePr>
            <a:graphicFrameLocks noGrp="1"/>
          </p:cNvGraphicFramePr>
          <p:nvPr/>
        </p:nvGraphicFramePr>
        <p:xfrm>
          <a:off x="552893" y="1190625"/>
          <a:ext cx="10696350" cy="5692954"/>
        </p:xfrm>
        <a:graphic>
          <a:graphicData uri="http://schemas.openxmlformats.org/drawingml/2006/table">
            <a:tbl>
              <a:tblPr>
                <a:tableStyleId>{2A488322-F2BA-4B5B-9748-0D474271808F}</a:tableStyleId>
              </a:tblPr>
              <a:tblGrid>
                <a:gridCol w="2139270">
                  <a:extLst>
                    <a:ext uri="{9D8B030D-6E8A-4147-A177-3AD203B41FA5}">
                      <a16:colId xmlns:a16="http://schemas.microsoft.com/office/drawing/2014/main" val="373150728"/>
                    </a:ext>
                  </a:extLst>
                </a:gridCol>
                <a:gridCol w="1263147">
                  <a:extLst>
                    <a:ext uri="{9D8B030D-6E8A-4147-A177-3AD203B41FA5}">
                      <a16:colId xmlns:a16="http://schemas.microsoft.com/office/drawing/2014/main" val="1702168359"/>
                    </a:ext>
                  </a:extLst>
                </a:gridCol>
                <a:gridCol w="5709684">
                  <a:extLst>
                    <a:ext uri="{9D8B030D-6E8A-4147-A177-3AD203B41FA5}">
                      <a16:colId xmlns:a16="http://schemas.microsoft.com/office/drawing/2014/main" val="1082573729"/>
                    </a:ext>
                  </a:extLst>
                </a:gridCol>
                <a:gridCol w="903767">
                  <a:extLst>
                    <a:ext uri="{9D8B030D-6E8A-4147-A177-3AD203B41FA5}">
                      <a16:colId xmlns:a16="http://schemas.microsoft.com/office/drawing/2014/main" val="1993122827"/>
                    </a:ext>
                  </a:extLst>
                </a:gridCol>
                <a:gridCol w="680482">
                  <a:extLst>
                    <a:ext uri="{9D8B030D-6E8A-4147-A177-3AD203B41FA5}">
                      <a16:colId xmlns:a16="http://schemas.microsoft.com/office/drawing/2014/main" val="2514778863"/>
                    </a:ext>
                  </a:extLst>
                </a:gridCol>
              </a:tblGrid>
              <a:tr h="0">
                <a:tc gridSpan="5"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1" cap="all" dirty="0">
                          <a:effectLst/>
                        </a:rPr>
                        <a:t>GHG E CLIMA</a:t>
                      </a:r>
                      <a:endParaRPr lang="it-IT" sz="1000" b="1" i="0" cap="all" dirty="0">
                        <a:solidFill>
                          <a:srgbClr val="39EFB4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047" marR="23808" marT="13888" marB="138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it-IT" sz="1000" b="0" i="0" dirty="0">
                        <a:solidFill>
                          <a:srgbClr val="7A9E92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047" marR="23808" marT="13888" marB="138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it-IT" sz="1000" b="0" i="0" dirty="0">
                        <a:solidFill>
                          <a:srgbClr val="7A9E92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047" marR="23808" marT="13888" marB="138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it-IT" sz="1400" b="0" i="0" dirty="0">
                        <a:solidFill>
                          <a:srgbClr val="F2FFF9"/>
                        </a:solidFill>
                        <a:effectLst/>
                        <a:latin typeface="Times"/>
                      </a:endParaRPr>
                    </a:p>
                  </a:txBody>
                  <a:tcPr marL="15872" marR="15872" marT="43936" marB="79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it-IT" sz="1400" b="0" i="0" dirty="0">
                        <a:solidFill>
                          <a:srgbClr val="F2FFF9"/>
                        </a:solidFill>
                        <a:effectLst/>
                        <a:latin typeface="Times"/>
                      </a:endParaRPr>
                    </a:p>
                  </a:txBody>
                  <a:tcPr marL="15872" marR="15872" marT="43936" marB="79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7925403"/>
                  </a:ext>
                </a:extLst>
              </a:tr>
              <a:tr h="2633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00" b="1" dirty="0">
                          <a:effectLst/>
                        </a:rPr>
                        <a:t>GHG </a:t>
                      </a:r>
                      <a:r>
                        <a:rPr lang="it-IT" sz="1000" b="1" dirty="0" err="1">
                          <a:effectLst/>
                        </a:rPr>
                        <a:t>Protocol</a:t>
                      </a:r>
                      <a:r>
                        <a:rPr lang="it-IT" sz="1000" b="1" dirty="0">
                          <a:effectLst/>
                        </a:rPr>
                        <a:t> – Scope 1, 2, 3</a:t>
                      </a:r>
                      <a:endParaRPr lang="it-IT" sz="1000" b="1" i="0" dirty="0">
                        <a:solidFill>
                          <a:srgbClr val="E8F5E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047" marR="23808" marT="13888" marB="138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00" dirty="0">
                          <a:effectLst/>
                        </a:rPr>
                        <a:t>Globale</a:t>
                      </a:r>
                      <a:endParaRPr lang="it-IT" sz="1000" b="0" i="0" dirty="0">
                        <a:solidFill>
                          <a:srgbClr val="7A9E92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047" marR="23808" marT="13888" marB="138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00" dirty="0">
                          <a:effectLst/>
                        </a:rPr>
                        <a:t>Calcolo Scope 1, 2 e principali categorie Scope 3 con fattori gestiti centralmente.</a:t>
                      </a:r>
                      <a:endParaRPr lang="it-IT" sz="1000" b="0" i="0" dirty="0">
                        <a:solidFill>
                          <a:srgbClr val="7A9E92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047" marR="23808" marT="13888" marB="138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☐</a:t>
                      </a:r>
                      <a:endParaRPr lang="it-IT" sz="1400" b="0" i="0" dirty="0">
                        <a:solidFill>
                          <a:srgbClr val="F2FFF9"/>
                        </a:solidFill>
                        <a:effectLst/>
                        <a:latin typeface="Times"/>
                      </a:endParaRPr>
                    </a:p>
                  </a:txBody>
                  <a:tcPr marL="15872" marR="15872" marT="43936" marB="79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☐</a:t>
                      </a:r>
                      <a:endParaRPr lang="it-IT" sz="1400" b="0" i="0" dirty="0">
                        <a:solidFill>
                          <a:srgbClr val="F2FFF9"/>
                        </a:solidFill>
                        <a:effectLst/>
                        <a:latin typeface="Times"/>
                      </a:endParaRPr>
                    </a:p>
                  </a:txBody>
                  <a:tcPr marL="15872" marR="15872" marT="43936" marB="79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62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00" b="1" dirty="0" err="1">
                          <a:effectLst/>
                        </a:rPr>
                        <a:t>TCFD</a:t>
                      </a:r>
                      <a:r>
                        <a:rPr lang="it-IT" sz="1000" b="1" cap="all" dirty="0" err="1">
                          <a:effectLst/>
                        </a:rPr>
                        <a:t>legacy</a:t>
                      </a:r>
                      <a:endParaRPr lang="it-IT" sz="1000" b="1" i="0" dirty="0">
                        <a:solidFill>
                          <a:srgbClr val="E8F5E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047" marR="23808" marT="13888" marB="138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00">
                          <a:effectLst/>
                        </a:rPr>
                        <a:t>Globale</a:t>
                      </a:r>
                      <a:endParaRPr lang="it-IT" sz="1000" b="0" i="0">
                        <a:solidFill>
                          <a:srgbClr val="7A9E92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047" marR="23808" marT="13888" marB="138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00" dirty="0">
                          <a:effectLst/>
                        </a:rPr>
                        <a:t>Framework ampiamente adottato in passato per la disclosure climatica; le sue raccomandazioni sono oggi incorporate in IFRS S1 e S2.</a:t>
                      </a:r>
                      <a:endParaRPr lang="it-IT" sz="1000" b="0" i="0" dirty="0">
                        <a:solidFill>
                          <a:srgbClr val="7A9E92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047" marR="23808" marT="13888" marB="138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>
                          <a:effectLst/>
                        </a:rPr>
                        <a:t>☐</a:t>
                      </a:r>
                      <a:endParaRPr lang="it-IT" sz="1400" b="0" i="0" dirty="0">
                        <a:solidFill>
                          <a:srgbClr val="F2FFF9"/>
                        </a:solidFill>
                        <a:effectLst/>
                        <a:latin typeface="Times"/>
                      </a:endParaRPr>
                    </a:p>
                  </a:txBody>
                  <a:tcPr marL="15872" marR="15872" marT="43936" marB="79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>
                          <a:effectLst/>
                        </a:rPr>
                        <a:t>☐</a:t>
                      </a:r>
                      <a:endParaRPr lang="it-IT" sz="1400" b="0" i="0" dirty="0">
                        <a:solidFill>
                          <a:srgbClr val="F2FFF9"/>
                        </a:solidFill>
                        <a:effectLst/>
                        <a:latin typeface="Times"/>
                      </a:endParaRPr>
                    </a:p>
                  </a:txBody>
                  <a:tcPr marL="15872" marR="15872" marT="43936" marB="79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2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00" b="1" dirty="0">
                          <a:effectLst/>
                        </a:rPr>
                        <a:t>CDP</a:t>
                      </a:r>
                      <a:endParaRPr lang="it-IT" sz="1000" b="1" i="0" dirty="0">
                        <a:solidFill>
                          <a:srgbClr val="E8F5E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047" marR="23808" marT="13888" marB="138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00" dirty="0">
                          <a:effectLst/>
                        </a:rPr>
                        <a:t>Globale</a:t>
                      </a:r>
                      <a:endParaRPr lang="it-IT" sz="1000" b="0" i="0" dirty="0">
                        <a:solidFill>
                          <a:srgbClr val="7A9E92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047" marR="23808" marT="13888" marB="138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00" dirty="0">
                          <a:effectLst/>
                        </a:rPr>
                        <a:t>Questionario annuale di rendicontazione ambientale richiesto da investitori e clienti; facilita la trasparenza su clima, acqua e foreste.</a:t>
                      </a:r>
                      <a:endParaRPr lang="it-IT" sz="1000" b="0" i="0" dirty="0">
                        <a:solidFill>
                          <a:srgbClr val="7A9E92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047" marR="23808" marT="13888" marB="138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☐</a:t>
                      </a:r>
                      <a:endParaRPr lang="it-IT" sz="1400" b="0" i="0" dirty="0">
                        <a:solidFill>
                          <a:srgbClr val="F2FFF9"/>
                        </a:solidFill>
                        <a:effectLst/>
                        <a:latin typeface="Times"/>
                      </a:endParaRPr>
                    </a:p>
                  </a:txBody>
                  <a:tcPr marL="15872" marR="15872" marT="43936" marB="79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☐</a:t>
                      </a:r>
                      <a:endParaRPr lang="it-IT" sz="1400" b="0" i="0" dirty="0">
                        <a:solidFill>
                          <a:srgbClr val="F2FFF9"/>
                        </a:solidFill>
                        <a:effectLst/>
                        <a:latin typeface="Times"/>
                      </a:endParaRPr>
                    </a:p>
                  </a:txBody>
                  <a:tcPr marL="15872" marR="15872" marT="43936" marB="79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752">
                <a:tc gridSpan="5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00" b="1" cap="all" dirty="0">
                          <a:effectLst/>
                        </a:rPr>
                        <a:t>Standard internazionali e framework volontari o adottati dalle giurisdizioni</a:t>
                      </a:r>
                      <a:endParaRPr lang="it-IT" sz="1000" b="1" i="0" cap="all" dirty="0">
                        <a:solidFill>
                          <a:srgbClr val="39EFB4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047" marR="19047" marT="19840" marB="79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it-IT" sz="1400" b="1" i="0" cap="all" dirty="0">
                        <a:solidFill>
                          <a:srgbClr val="39EFB4"/>
                        </a:solidFill>
                        <a:effectLst/>
                        <a:latin typeface="Times"/>
                      </a:endParaRPr>
                    </a:p>
                  </a:txBody>
                  <a:tcPr marL="19047" marR="19047" marT="19840" marB="7936" anchor="ctr"/>
                </a:tc>
                <a:extLst>
                  <a:ext uri="{0D108BD9-81ED-4DB2-BD59-A6C34878D82A}">
                    <a16:rowId xmlns:a16="http://schemas.microsoft.com/office/drawing/2014/main" val="2297724542"/>
                  </a:ext>
                </a:extLst>
              </a:tr>
              <a:tr h="3755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00" b="1" dirty="0">
                          <a:effectLst/>
                        </a:rPr>
                        <a:t>GRI Standards</a:t>
                      </a:r>
                      <a:endParaRPr lang="it-IT" sz="1000" b="1" i="0" dirty="0">
                        <a:solidFill>
                          <a:srgbClr val="E8F5E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047" marR="23808" marT="13888" marB="138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00" dirty="0">
                          <a:effectLst/>
                        </a:rPr>
                        <a:t>Globale</a:t>
                      </a:r>
                      <a:endParaRPr lang="it-IT" sz="1000" b="0" i="0" dirty="0">
                        <a:solidFill>
                          <a:srgbClr val="7A9E92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047" marR="23808" marT="13888" marB="138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00" dirty="0">
                          <a:effectLst/>
                        </a:rPr>
                        <a:t>Standard globale per la rendicontazione di sostenibilità; copre temi economici, ambientali e sociali con indicatori comparabili.</a:t>
                      </a:r>
                      <a:endParaRPr lang="it-IT" sz="1000" b="0" i="0" dirty="0">
                        <a:solidFill>
                          <a:srgbClr val="7A9E92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047" marR="23808" marT="13888" marB="138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>
                          <a:effectLst/>
                        </a:rPr>
                        <a:t>☐</a:t>
                      </a:r>
                      <a:endParaRPr lang="it-IT" sz="1400" b="0" i="0" dirty="0">
                        <a:solidFill>
                          <a:srgbClr val="F2FFF9"/>
                        </a:solidFill>
                        <a:effectLst/>
                        <a:latin typeface="Times"/>
                      </a:endParaRPr>
                    </a:p>
                  </a:txBody>
                  <a:tcPr marL="15872" marR="15872" marT="43936" marB="79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>
                          <a:effectLst/>
                        </a:rPr>
                        <a:t>☐</a:t>
                      </a:r>
                      <a:endParaRPr lang="it-IT" sz="1400" b="0" i="0" dirty="0">
                        <a:solidFill>
                          <a:srgbClr val="F2FFF9"/>
                        </a:solidFill>
                        <a:effectLst/>
                        <a:latin typeface="Times"/>
                      </a:endParaRPr>
                    </a:p>
                  </a:txBody>
                  <a:tcPr marL="15872" marR="15872" marT="43936" marB="79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33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00" dirty="0">
                          <a:effectLst/>
                        </a:rPr>
                        <a:t>SASB Standards</a:t>
                      </a:r>
                      <a:endParaRPr lang="it-IT" sz="1000" b="1" i="0" dirty="0">
                        <a:solidFill>
                          <a:srgbClr val="E8F5E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047" marR="23808" marT="13888" marB="138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00" dirty="0">
                          <a:effectLst/>
                        </a:rPr>
                        <a:t>Globale</a:t>
                      </a:r>
                      <a:endParaRPr lang="it-IT" sz="1000" b="0" i="0" dirty="0">
                        <a:solidFill>
                          <a:srgbClr val="7A9E92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047" marR="23808" marT="13888" marB="138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00" dirty="0">
                          <a:effectLst/>
                        </a:rPr>
                        <a:t>Standard settoriali che identificano gli indicatori ESG finanziariamente rilevanti per ogni industria.</a:t>
                      </a:r>
                      <a:endParaRPr lang="it-IT" sz="1000" b="0" i="0" dirty="0">
                        <a:solidFill>
                          <a:srgbClr val="7A9E92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047" marR="23808" marT="13888" marB="138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>
                          <a:effectLst/>
                        </a:rPr>
                        <a:t>☐</a:t>
                      </a:r>
                      <a:endParaRPr lang="it-IT" sz="1400" b="0" i="0">
                        <a:solidFill>
                          <a:srgbClr val="F2FFF9"/>
                        </a:solidFill>
                        <a:effectLst/>
                        <a:latin typeface="Times"/>
                      </a:endParaRPr>
                    </a:p>
                  </a:txBody>
                  <a:tcPr marL="15872" marR="15872" marT="43936" marB="79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>
                          <a:effectLst/>
                        </a:rPr>
                        <a:t>☐</a:t>
                      </a:r>
                      <a:endParaRPr lang="it-IT" sz="1400" b="0" i="0" dirty="0">
                        <a:solidFill>
                          <a:srgbClr val="F2FFF9"/>
                        </a:solidFill>
                        <a:effectLst/>
                        <a:latin typeface="Times"/>
                      </a:endParaRPr>
                    </a:p>
                  </a:txBody>
                  <a:tcPr marL="15872" marR="15872" marT="43936" marB="79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6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00" dirty="0">
                          <a:effectLst/>
                        </a:rPr>
                        <a:t>UN </a:t>
                      </a:r>
                      <a:r>
                        <a:rPr lang="it-IT" sz="1000" dirty="0" err="1">
                          <a:effectLst/>
                        </a:rPr>
                        <a:t>Sustainable</a:t>
                      </a:r>
                      <a:r>
                        <a:rPr lang="it-IT" sz="1000" dirty="0">
                          <a:effectLst/>
                        </a:rPr>
                        <a:t> Development Goals</a:t>
                      </a:r>
                      <a:endParaRPr lang="it-IT" sz="1000" b="1" i="0" dirty="0">
                        <a:solidFill>
                          <a:srgbClr val="E8F5E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047" marR="23808" marT="13888" marB="138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00" dirty="0">
                          <a:effectLst/>
                        </a:rPr>
                        <a:t>Globale</a:t>
                      </a:r>
                      <a:endParaRPr lang="it-IT" sz="1000" b="0" i="0" dirty="0">
                        <a:solidFill>
                          <a:srgbClr val="7A9E92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047" marR="23808" marT="13888" marB="138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00">
                          <a:effectLst/>
                        </a:rPr>
                        <a:t>I 17 Obiettivi di Sviluppo Sostenibile delle Nazioni Unite; usati per collegare le attività aziendali all'agenda globale.</a:t>
                      </a:r>
                      <a:endParaRPr lang="it-IT" sz="1000" b="0" i="0" dirty="0">
                        <a:solidFill>
                          <a:srgbClr val="7A9E92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047" marR="23808" marT="13888" marB="138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>
                          <a:effectLst/>
                        </a:rPr>
                        <a:t>☐</a:t>
                      </a:r>
                      <a:endParaRPr lang="it-IT" sz="1400" b="0" i="0">
                        <a:solidFill>
                          <a:srgbClr val="F2FFF9"/>
                        </a:solidFill>
                        <a:effectLst/>
                        <a:latin typeface="Times"/>
                      </a:endParaRPr>
                    </a:p>
                  </a:txBody>
                  <a:tcPr marL="15872" marR="15872" marT="43936" marB="79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>
                          <a:effectLst/>
                        </a:rPr>
                        <a:t>☐</a:t>
                      </a:r>
                      <a:endParaRPr lang="it-IT" sz="1400" b="0" i="0" dirty="0">
                        <a:solidFill>
                          <a:srgbClr val="F2FFF9"/>
                        </a:solidFill>
                        <a:effectLst/>
                        <a:latin typeface="Times"/>
                      </a:endParaRPr>
                    </a:p>
                  </a:txBody>
                  <a:tcPr marL="15872" marR="15872" marT="43936" marB="79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485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00" dirty="0">
                          <a:effectLst/>
                        </a:rPr>
                        <a:t>IFRS S1</a:t>
                      </a:r>
                      <a:endParaRPr lang="it-IT" sz="1000" b="1" i="0" dirty="0">
                        <a:solidFill>
                          <a:srgbClr val="E8F5E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047" marR="23808" marT="13888" marB="138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00" dirty="0">
                          <a:effectLst/>
                        </a:rPr>
                        <a:t>Globale</a:t>
                      </a:r>
                      <a:endParaRPr lang="it-IT" sz="1000" b="0" i="0" dirty="0">
                        <a:solidFill>
                          <a:srgbClr val="7A9E92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047" marR="23808" marT="13888" marB="138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00" dirty="0">
                          <a:effectLst/>
                        </a:rPr>
                        <a:t>Standard ISSB per la disclosure generale di rischi e opportunità ESG rilevanti per gli investitori.</a:t>
                      </a:r>
                      <a:endParaRPr lang="it-IT" sz="1000" b="0" i="0" dirty="0">
                        <a:solidFill>
                          <a:srgbClr val="7A9E92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047" marR="23808" marT="13888" marB="138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>
                          <a:effectLst/>
                        </a:rPr>
                        <a:t>☑</a:t>
                      </a:r>
                      <a:endParaRPr lang="it-IT" sz="1400" b="0" i="0">
                        <a:solidFill>
                          <a:srgbClr val="F2FFF9"/>
                        </a:solidFill>
                        <a:effectLst/>
                        <a:latin typeface="Times"/>
                      </a:endParaRPr>
                    </a:p>
                  </a:txBody>
                  <a:tcPr marL="15872" marR="15872" marT="115936" marB="79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>
                          <a:effectLst/>
                        </a:rPr>
                        <a:t>☑</a:t>
                      </a:r>
                      <a:endParaRPr lang="it-IT" sz="1400" b="0" i="0" dirty="0">
                        <a:solidFill>
                          <a:srgbClr val="F2FFF9"/>
                        </a:solidFill>
                        <a:effectLst/>
                        <a:latin typeface="Times"/>
                      </a:endParaRPr>
                    </a:p>
                  </a:txBody>
                  <a:tcPr marL="15872" marR="15872" marT="115936" marB="79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839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00" dirty="0">
                          <a:effectLst/>
                        </a:rPr>
                        <a:t>IFRS S2</a:t>
                      </a:r>
                      <a:endParaRPr lang="it-IT" sz="1000" b="1" i="0" dirty="0">
                        <a:solidFill>
                          <a:srgbClr val="E8F5E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047" marR="23808" marT="13888" marB="138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00" dirty="0">
                          <a:effectLst/>
                        </a:rPr>
                        <a:t>Globale</a:t>
                      </a:r>
                      <a:endParaRPr lang="it-IT" sz="1000" b="0" i="0" dirty="0">
                        <a:solidFill>
                          <a:srgbClr val="7A9E92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047" marR="23808" marT="13888" marB="138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00" dirty="0">
                          <a:effectLst/>
                        </a:rPr>
                        <a:t>Standard ISSB specifico per il clima; richiede disclosure su governance, strategia, gestione del rischio e metriche climatiche.</a:t>
                      </a:r>
                      <a:endParaRPr lang="it-IT" sz="1000" b="0" i="0" dirty="0">
                        <a:solidFill>
                          <a:srgbClr val="7A9E92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047" marR="23808" marT="13888" marB="138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☑</a:t>
                      </a:r>
                      <a:endParaRPr lang="it-IT" sz="1400" b="0" i="0" dirty="0">
                        <a:solidFill>
                          <a:srgbClr val="F2FFF9"/>
                        </a:solidFill>
                        <a:effectLst/>
                        <a:latin typeface="Times"/>
                      </a:endParaRPr>
                    </a:p>
                  </a:txBody>
                  <a:tcPr marL="15872" marR="15872" marT="115936" marB="79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☑</a:t>
                      </a:r>
                      <a:endParaRPr lang="it-IT" sz="1400" b="0" i="0" dirty="0">
                        <a:solidFill>
                          <a:srgbClr val="F2FFF9"/>
                        </a:solidFill>
                        <a:effectLst/>
                        <a:latin typeface="Times"/>
                      </a:endParaRPr>
                    </a:p>
                  </a:txBody>
                  <a:tcPr marL="15872" marR="15872" marT="115936" marB="79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2752">
                <a:tc gridSpan="5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00" b="1" cap="all" dirty="0">
                          <a:effectLst/>
                        </a:rPr>
                        <a:t>Finanza &amp; Mercati</a:t>
                      </a:r>
                      <a:endParaRPr lang="it-IT" sz="1000" b="1" i="0" cap="all" dirty="0">
                        <a:solidFill>
                          <a:srgbClr val="39EFB4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047" marR="19047" marT="19840" marB="79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it-IT" sz="1400" b="1" i="0" cap="all" dirty="0">
                        <a:solidFill>
                          <a:srgbClr val="39EFB4"/>
                        </a:solidFill>
                        <a:effectLst/>
                        <a:latin typeface="Times"/>
                      </a:endParaRPr>
                    </a:p>
                  </a:txBody>
                  <a:tcPr marL="19047" marR="19047" marT="19840" marB="7936" anchor="ctr"/>
                </a:tc>
                <a:extLst>
                  <a:ext uri="{0D108BD9-81ED-4DB2-BD59-A6C34878D82A}">
                    <a16:rowId xmlns:a16="http://schemas.microsoft.com/office/drawing/2014/main" val="4246257281"/>
                  </a:ext>
                </a:extLst>
              </a:tr>
              <a:tr h="33485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00" dirty="0">
                          <a:effectLst/>
                        </a:rPr>
                        <a:t>SFDR</a:t>
                      </a:r>
                      <a:endParaRPr lang="it-IT" sz="1000" b="1" i="0" dirty="0">
                        <a:solidFill>
                          <a:srgbClr val="E8F5E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047" marR="23808" marT="13888" marB="138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00" dirty="0">
                          <a:effectLst/>
                        </a:rPr>
                        <a:t>UE – Servizi finanziari</a:t>
                      </a:r>
                      <a:endParaRPr lang="it-IT" sz="1000" b="0" i="0" dirty="0">
                        <a:solidFill>
                          <a:srgbClr val="7A9E92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047" marR="23808" marT="13888" marB="138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00">
                          <a:effectLst/>
                        </a:rPr>
                        <a:t>Regolamento UE che impone ai gestori di fondi la disclosure sui rischi di sostenibilità e sugli impatti negativi degli investimenti.</a:t>
                      </a:r>
                      <a:endParaRPr lang="it-IT" sz="1000" b="0" i="0" dirty="0">
                        <a:solidFill>
                          <a:srgbClr val="7A9E92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047" marR="23808" marT="13888" marB="138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☐</a:t>
                      </a:r>
                      <a:endParaRPr lang="it-IT" sz="1400" b="0" i="0" dirty="0">
                        <a:solidFill>
                          <a:srgbClr val="F2FFF9"/>
                        </a:solidFill>
                        <a:effectLst/>
                        <a:latin typeface="Times"/>
                      </a:endParaRPr>
                    </a:p>
                  </a:txBody>
                  <a:tcPr marL="15872" marR="15872" marT="43936" marB="79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>
                          <a:effectLst/>
                        </a:rPr>
                        <a:t>☑</a:t>
                      </a:r>
                      <a:endParaRPr lang="it-IT" sz="1400" b="0" i="0" dirty="0">
                        <a:solidFill>
                          <a:srgbClr val="F2FFF9"/>
                        </a:solidFill>
                        <a:effectLst/>
                        <a:latin typeface="Times"/>
                      </a:endParaRPr>
                    </a:p>
                  </a:txBody>
                  <a:tcPr marL="15872" marR="15872" marT="115936" marB="79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6320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00" dirty="0">
                          <a:effectLst/>
                        </a:rPr>
                        <a:t>GRESB</a:t>
                      </a:r>
                      <a:endParaRPr lang="it-IT" sz="1000" b="1" i="0" dirty="0">
                        <a:solidFill>
                          <a:srgbClr val="E8F5E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047" marR="23808" marT="13888" marB="138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00" dirty="0">
                          <a:effectLst/>
                        </a:rPr>
                        <a:t>Globale – Real estate e infrastrutture</a:t>
                      </a:r>
                      <a:endParaRPr lang="it-IT" sz="1000" b="0" i="0" dirty="0">
                        <a:solidFill>
                          <a:srgbClr val="7A9E92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047" marR="23808" marT="13888" marB="138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00" dirty="0">
                          <a:effectLst/>
                        </a:rPr>
                        <a:t>Benchmark internazionale per la valutazione della performance ESG nel settore immobiliare e delle infrastrutture.</a:t>
                      </a:r>
                      <a:endParaRPr lang="it-IT" sz="1000" b="0" i="0" dirty="0">
                        <a:solidFill>
                          <a:srgbClr val="7A9E92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047" marR="23808" marT="13888" marB="138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☑</a:t>
                      </a:r>
                      <a:endParaRPr lang="it-IT" sz="1400" b="0" i="0" dirty="0">
                        <a:solidFill>
                          <a:srgbClr val="F2FFF9"/>
                        </a:solidFill>
                        <a:effectLst/>
                        <a:latin typeface="Times"/>
                      </a:endParaRPr>
                    </a:p>
                  </a:txBody>
                  <a:tcPr marL="15872" marR="15872" marT="115936" marB="79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☐</a:t>
                      </a:r>
                      <a:endParaRPr lang="it-IT" sz="1400" b="0" i="0" dirty="0">
                        <a:solidFill>
                          <a:srgbClr val="F2FFF9"/>
                        </a:solidFill>
                        <a:effectLst/>
                        <a:latin typeface="Times"/>
                      </a:endParaRPr>
                    </a:p>
                  </a:txBody>
                  <a:tcPr marL="15872" marR="15872" marT="43936" marB="79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2752">
                <a:tc gridSpan="5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00" b="1" cap="all" dirty="0">
                          <a:effectLst/>
                        </a:rPr>
                        <a:t>Regionali &amp; Settoriali</a:t>
                      </a:r>
                      <a:endParaRPr lang="it-IT" sz="1000" b="1" i="0" cap="all" dirty="0">
                        <a:solidFill>
                          <a:srgbClr val="39EFB4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047" marR="19047" marT="19840" marB="79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it-IT" sz="1400" b="1" i="0" cap="all" dirty="0">
                        <a:solidFill>
                          <a:srgbClr val="39EFB4"/>
                        </a:solidFill>
                        <a:effectLst/>
                        <a:latin typeface="Times"/>
                      </a:endParaRPr>
                    </a:p>
                  </a:txBody>
                  <a:tcPr marL="19047" marR="19047" marT="19840" marB="7936" anchor="ctr"/>
                </a:tc>
                <a:extLst>
                  <a:ext uri="{0D108BD9-81ED-4DB2-BD59-A6C34878D82A}">
                    <a16:rowId xmlns:a16="http://schemas.microsoft.com/office/drawing/2014/main" val="1052418510"/>
                  </a:ext>
                </a:extLst>
              </a:tr>
              <a:tr h="34365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00" dirty="0">
                          <a:effectLst/>
                        </a:rPr>
                        <a:t>SECR</a:t>
                      </a:r>
                      <a:endParaRPr lang="it-IT" sz="1000" b="1" i="0" dirty="0">
                        <a:solidFill>
                          <a:srgbClr val="E8F5E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047" marR="23808" marT="13888" marB="138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00" dirty="0">
                          <a:effectLst/>
                        </a:rPr>
                        <a:t>Regno Unito</a:t>
                      </a:r>
                      <a:endParaRPr lang="it-IT" sz="1000" b="0" i="0" dirty="0">
                        <a:solidFill>
                          <a:srgbClr val="7A9E92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047" marR="23808" marT="13888" marB="138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00" dirty="0">
                          <a:effectLst/>
                        </a:rPr>
                        <a:t>Obbligo UK di rendicontare consumi energetici e emissioni di carbonio nel report annuale; si applica alle società quotate e alle grandi imprese.</a:t>
                      </a:r>
                      <a:endParaRPr lang="it-IT" sz="1000" b="0" i="0" dirty="0">
                        <a:solidFill>
                          <a:srgbClr val="7A9E92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047" marR="23808" marT="13888" marB="138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>
                          <a:effectLst/>
                        </a:rPr>
                        <a:t>☐</a:t>
                      </a:r>
                      <a:endParaRPr lang="it-IT" sz="1400" b="0" i="0" dirty="0">
                        <a:solidFill>
                          <a:srgbClr val="F2FFF9"/>
                        </a:solidFill>
                        <a:effectLst/>
                        <a:latin typeface="Times"/>
                      </a:endParaRPr>
                    </a:p>
                  </a:txBody>
                  <a:tcPr marL="15872" marR="15872" marT="43936" marB="79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☐</a:t>
                      </a:r>
                      <a:endParaRPr lang="it-IT" sz="1400" b="0" i="0" dirty="0">
                        <a:solidFill>
                          <a:srgbClr val="F2FFF9"/>
                        </a:solidFill>
                        <a:effectLst/>
                        <a:latin typeface="Times"/>
                      </a:endParaRPr>
                    </a:p>
                  </a:txBody>
                  <a:tcPr marL="15872" marR="15872" marT="43936" marB="79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022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00" dirty="0">
                          <a:effectLst/>
                        </a:rPr>
                        <a:t>ENERGY STAR</a:t>
                      </a:r>
                      <a:endParaRPr lang="it-IT" sz="1000" b="1" i="0" dirty="0">
                        <a:solidFill>
                          <a:srgbClr val="E8F5E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047" marR="23808" marT="13888" marB="138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00" dirty="0">
                          <a:effectLst/>
                        </a:rPr>
                        <a:t>Nord America</a:t>
                      </a:r>
                      <a:endParaRPr lang="it-IT" sz="1000" b="0" i="0" dirty="0">
                        <a:solidFill>
                          <a:srgbClr val="7A9E92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047" marR="23808" marT="13888" marB="138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000" dirty="0">
                          <a:effectLst/>
                        </a:rPr>
                        <a:t>Programma di certificazione energetica statunitense per edifici e prodotti; gestito dall'EPA tramite Portfolio Manager.</a:t>
                      </a:r>
                      <a:endParaRPr lang="it-IT" sz="1000" b="0" i="0" dirty="0">
                        <a:solidFill>
                          <a:srgbClr val="7A9E92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047" marR="23808" marT="13888" marB="138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☐</a:t>
                      </a:r>
                      <a:endParaRPr lang="it-IT" sz="1400" b="0" i="0" dirty="0">
                        <a:solidFill>
                          <a:srgbClr val="F2FFF9"/>
                        </a:solidFill>
                        <a:effectLst/>
                        <a:latin typeface="Times"/>
                      </a:endParaRPr>
                    </a:p>
                  </a:txBody>
                  <a:tcPr marL="15872" marR="15872" marT="43936" marB="79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☐</a:t>
                      </a:r>
                      <a:endParaRPr lang="it-IT" sz="1400" b="0" i="0" dirty="0">
                        <a:solidFill>
                          <a:srgbClr val="F2FFF9"/>
                        </a:solidFill>
                        <a:effectLst/>
                        <a:latin typeface="Times"/>
                      </a:endParaRPr>
                    </a:p>
                  </a:txBody>
                  <a:tcPr marL="15872" marR="15872" marT="43936" marB="79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5467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dirty="0">
                          <a:effectLst/>
                        </a:rPr>
                        <a:t>NABERS</a:t>
                      </a:r>
                      <a:endParaRPr lang="it-IT" sz="1000" b="1" dirty="0">
                        <a:solidFill>
                          <a:srgbClr val="E8F5EF"/>
                        </a:solidFill>
                        <a:effectLst/>
                      </a:endParaRPr>
                    </a:p>
                    <a:p>
                      <a:pPr algn="l">
                        <a:buNone/>
                      </a:pPr>
                      <a:endParaRPr lang="it-IT" sz="1000" b="1" i="0" dirty="0">
                        <a:solidFill>
                          <a:srgbClr val="E8F5E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047" marR="23808" marT="13888" marB="138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dirty="0">
                          <a:effectLst/>
                        </a:rPr>
                        <a:t>Australia</a:t>
                      </a:r>
                      <a:endParaRPr lang="it-IT" sz="1000" b="0" dirty="0">
                        <a:solidFill>
                          <a:srgbClr val="7A9E92"/>
                        </a:solidFill>
                        <a:effectLst/>
                      </a:endParaRPr>
                    </a:p>
                    <a:p>
                      <a:pPr algn="l">
                        <a:buNone/>
                      </a:pPr>
                      <a:endParaRPr lang="it-IT" sz="1000" b="0" i="0" dirty="0">
                        <a:solidFill>
                          <a:srgbClr val="7A9E92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047" marR="23808" marT="13888" marB="138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dirty="0">
                          <a:effectLst/>
                        </a:rPr>
                        <a:t>Sistema australiano di valutazione della performance energetica degli edifici commerciali; la valutazione è effettuata da un assessor accreditato.</a:t>
                      </a:r>
                      <a:endParaRPr lang="it-IT" sz="1000" b="0" dirty="0">
                        <a:solidFill>
                          <a:srgbClr val="7A9E92"/>
                        </a:solidFill>
                        <a:effectLst/>
                      </a:endParaRPr>
                    </a:p>
                    <a:p>
                      <a:pPr algn="l">
                        <a:buNone/>
                      </a:pPr>
                      <a:endParaRPr lang="it-IT" sz="1000" b="0" i="0" dirty="0">
                        <a:solidFill>
                          <a:srgbClr val="7A9E92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047" marR="23808" marT="13888" marB="138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400" dirty="0">
                          <a:effectLst/>
                        </a:rPr>
                        <a:t>☑</a:t>
                      </a:r>
                      <a:endParaRPr lang="it-IT" sz="1400" b="0" dirty="0">
                        <a:solidFill>
                          <a:srgbClr val="F2FFF9"/>
                        </a:solidFill>
                        <a:effectLst/>
                      </a:endParaRPr>
                    </a:p>
                    <a:p>
                      <a:pPr algn="ctr">
                        <a:buNone/>
                      </a:pPr>
                      <a:endParaRPr lang="it-IT" sz="1400" b="0" i="0" dirty="0">
                        <a:solidFill>
                          <a:srgbClr val="F2FFF9"/>
                        </a:solidFill>
                        <a:effectLst/>
                        <a:latin typeface="Times"/>
                      </a:endParaRPr>
                    </a:p>
                  </a:txBody>
                  <a:tcPr marL="15872" marR="15872" marT="115936" marB="79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400" dirty="0">
                          <a:effectLst/>
                        </a:rPr>
                        <a:t>☑</a:t>
                      </a:r>
                      <a:endParaRPr lang="it-IT" sz="1400" b="0" dirty="0">
                        <a:solidFill>
                          <a:srgbClr val="F2FFF9"/>
                        </a:solidFill>
                        <a:effectLst/>
                      </a:endParaRPr>
                    </a:p>
                    <a:p>
                      <a:pPr algn="ctr">
                        <a:buNone/>
                      </a:pPr>
                      <a:endParaRPr lang="it-IT" sz="1400" b="0" i="0" dirty="0">
                        <a:solidFill>
                          <a:srgbClr val="F2FFF9"/>
                        </a:solidFill>
                        <a:effectLst/>
                        <a:latin typeface="Times"/>
                      </a:endParaRPr>
                    </a:p>
                  </a:txBody>
                  <a:tcPr marL="15872" marR="15872" marT="115936" marB="79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74170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363</Words>
  <Application>Microsoft Macintosh PowerPoint</Application>
  <PresentationFormat>Widescreen</PresentationFormat>
  <Paragraphs>72</Paragraphs>
  <Slides>1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Times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felice petrignano</dc:creator>
  <cp:lastModifiedBy>felice petrignano</cp:lastModifiedBy>
  <cp:revision>1</cp:revision>
  <dcterms:created xsi:type="dcterms:W3CDTF">2026-09-06T06:22:00Z</dcterms:created>
  <dcterms:modified xsi:type="dcterms:W3CDTF">2026-09-06T06:22:22Z</dcterms:modified>
</cp:coreProperties>
</file>